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1675"/>
  <p:notesSz cx="6858000" cy="12191675"/>
  <p:embeddedFontLst>
    <p:embeddedFont>
      <p:font typeface="Noto Sans KR"/>
      <p:regular r:id="rId25"/>
      <p:bold r:id="rId26"/>
    </p:embeddedFont>
    <p:embeddedFont>
      <p:font typeface="Asta Sans Medium"/>
      <p:regular r:id="rId27"/>
      <p:bold r:id="rId28"/>
    </p:embeddedFont>
    <p:embeddedFont>
      <p:font typeface="Asta Sans SemiBold"/>
      <p:regular r:id="rId29"/>
      <p:bold r:id="rId30"/>
    </p:embeddedFont>
    <p:embeddedFont>
      <p:font typeface="Asta Sans ExtraBold"/>
      <p:bold r:id="rId31"/>
    </p:embeddedFont>
    <p:embeddedFont>
      <p:font typeface="Asta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otoSansKR-bold.fntdata"/><Relationship Id="rId25" Type="http://schemas.openxmlformats.org/officeDocument/2006/relationships/font" Target="fonts/NotoSansKR-regular.fntdata"/><Relationship Id="rId28" Type="http://schemas.openxmlformats.org/officeDocument/2006/relationships/font" Target="fonts/AstaSansMedium-bold.fntdata"/><Relationship Id="rId27" Type="http://schemas.openxmlformats.org/officeDocument/2006/relationships/font" Target="fonts/AstaSansMedium-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staSansSemiBold-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staSansExtraBold-bold.fntdata"/><Relationship Id="rId30" Type="http://schemas.openxmlformats.org/officeDocument/2006/relationships/font" Target="fonts/AstaSansSemiBold-bold.fntdata"/><Relationship Id="rId11" Type="http://schemas.openxmlformats.org/officeDocument/2006/relationships/slide" Target="slides/slide7.xml"/><Relationship Id="rId33" Type="http://schemas.openxmlformats.org/officeDocument/2006/relationships/font" Target="fonts/AstaSans-bold.fntdata"/><Relationship Id="rId10" Type="http://schemas.openxmlformats.org/officeDocument/2006/relationships/slide" Target="slides/slide6.xml"/><Relationship Id="rId32" Type="http://schemas.openxmlformats.org/officeDocument/2006/relationships/font" Target="fonts/AstaSans-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h17588b512696e917_39_0: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h17588b512696e917_39_0: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안녕하세요. 2조에서 발표를 맡은 발표자 이우진입니다. 저희 조에서 발표할 프로젝트는 AI 기반 생활체육 매칭 플랫폼 Sporty입니다.</a:t>
            </a:r>
            <a:br>
              <a:rPr lang="en-US"/>
            </a:br>
            <a:r>
              <a:rPr lang="en-US"/>
              <a:t>Sporty는 운동하고 싶은 사람이 </a:t>
            </a:r>
            <a:r>
              <a:rPr lang="en-US"/>
              <a:t>체육</a:t>
            </a:r>
            <a:r>
              <a:rPr lang="en-US"/>
              <a:t>시설과 함께할 사람을 쉽게 찾도록 돕는 AI 기반 생활체육 매칭 플랫폼입니다. 오른쪽</a:t>
            </a:r>
            <a:r>
              <a:rPr lang="en-US"/>
              <a:t>은</a:t>
            </a:r>
            <a:r>
              <a:rPr lang="en-US"/>
              <a:t> 문장 한 줄로 매치를 찾는 </a:t>
            </a:r>
            <a:r>
              <a:rPr lang="en-US"/>
              <a:t>서비스의 핵심 흐름을 표현한 그림입니다.</a:t>
            </a:r>
            <a:endParaRPr/>
          </a:p>
          <a:p>
            <a:pPr indent="0" lvl="0" marL="0" rtl="0" algn="l">
              <a:spcBef>
                <a:spcPts val="0"/>
              </a:spcBef>
              <a:spcAft>
                <a:spcPts val="0"/>
              </a:spcAft>
              <a:buNone/>
            </a:pPr>
            <a:r>
              <a:t/>
            </a:r>
            <a:endParaRPr/>
          </a:p>
        </p:txBody>
      </p:sp>
      <p:sp>
        <p:nvSpPr>
          <p:cNvPr id="14" name="Google Shape;14;h17588b512696e917_39_0: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h17588b512696e917_39_28: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h17588b512696e917_39_28: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발표는 팀 </a:t>
            </a:r>
            <a:r>
              <a:rPr lang="en-US"/>
              <a:t>소개</a:t>
            </a:r>
            <a:r>
              <a:rPr lang="en-US"/>
              <a:t>, </a:t>
            </a:r>
            <a:r>
              <a:rPr lang="en-US"/>
              <a:t>프로젝트 개요, 핵심 기능, </a:t>
            </a:r>
            <a:r>
              <a:rPr lang="en-US"/>
              <a:t>수행 경과, </a:t>
            </a:r>
            <a:r>
              <a:rPr lang="en-US"/>
              <a:t>리뷰 및 시연</a:t>
            </a:r>
            <a:r>
              <a:rPr lang="en-US"/>
              <a:t> 순서로 진행합니다. </a:t>
            </a:r>
            <a:endParaRPr/>
          </a:p>
        </p:txBody>
      </p:sp>
      <p:sp>
        <p:nvSpPr>
          <p:cNvPr id="44" name="Google Shape;44;h17588b512696e917_39_28: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17588b512696e917_39_111: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h17588b512696e917_39_111: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먼저 저희 팀 소개를 하겠습니다. </a:t>
            </a:r>
            <a:r>
              <a:rPr lang="en-US"/>
              <a:t>모든 팀원이 기획과 프론트·백엔드를 함께 담당했습니다. </a:t>
            </a:r>
            <a:r>
              <a:rPr lang="en-US"/>
              <a:t>이우진이 AI 매칭을 맡았고, 민경완·김예준이 운동 매칭, 최다인이 공공데이터 연동, 서우영이 사용자 정보 관리를 맡았습니다. </a:t>
            </a:r>
            <a:endParaRPr/>
          </a:p>
        </p:txBody>
      </p:sp>
      <p:sp>
        <p:nvSpPr>
          <p:cNvPr id="73" name="Google Shape;73;h17588b512696e917_39_111: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17588b512696e917_39_55: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h17588b512696e917_39_55: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다음으로 저희 조에서 이 프로젝트를 기획하게 된 배경에 대해 말씀드리겠습니다.</a:t>
            </a:r>
            <a:endParaRPr/>
          </a:p>
          <a:p>
            <a:pPr indent="0" lvl="0" marL="0" rtl="0" algn="l">
              <a:lnSpc>
                <a:spcPct val="115000"/>
              </a:lnSpc>
              <a:spcBef>
                <a:spcPts val="1200"/>
              </a:spcBef>
              <a:spcAft>
                <a:spcPts val="0"/>
              </a:spcAft>
              <a:buClr>
                <a:schemeClr val="dk1"/>
              </a:buClr>
              <a:buSzPts val="1100"/>
              <a:buFont typeface="Arial"/>
              <a:buNone/>
            </a:pPr>
            <a:r>
              <a:rPr lang="en-US"/>
              <a:t>우리가 실생활에서 생활체육에 참여하기 위해서는 생각보다 많은 과정을 거쳐야 합니다.</a:t>
            </a:r>
            <a:br>
              <a:rPr lang="en-US"/>
            </a:br>
            <a:r>
              <a:rPr lang="en-US"/>
              <a:t>먼저, 주변에서 이용할 수 있는 체육시설을 찾아야 합니다.</a:t>
            </a:r>
            <a:br>
              <a:rPr lang="en-US"/>
            </a:br>
            <a:r>
              <a:rPr lang="en-US"/>
              <a:t>그리고 해당 시설이 예약이 필요한지, 예약은 어떻게 진행하는지, 별도의 이용료가 있는지 등 여러 정보를 직접 확인해야 합니다.</a:t>
            </a:r>
            <a:endParaRPr/>
          </a:p>
          <a:p>
            <a:pPr indent="0" lvl="0" marL="0" rtl="0" algn="l">
              <a:lnSpc>
                <a:spcPct val="115000"/>
              </a:lnSpc>
              <a:spcBef>
                <a:spcPts val="1200"/>
              </a:spcBef>
              <a:spcAft>
                <a:spcPts val="0"/>
              </a:spcAft>
              <a:buClr>
                <a:schemeClr val="dk1"/>
              </a:buClr>
              <a:buSzPts val="1100"/>
              <a:buFont typeface="Arial"/>
              <a:buNone/>
            </a:pPr>
            <a:r>
              <a:rPr lang="en-US"/>
              <a:t>시설을 찾은 이후에는 함께 운동할 사람이나 모임을 찾아야 합니다.</a:t>
            </a:r>
            <a:endParaRPr/>
          </a:p>
          <a:p>
            <a:pPr indent="0" lvl="0" marL="0" rtl="0" algn="l">
              <a:lnSpc>
                <a:spcPct val="115000"/>
              </a:lnSpc>
              <a:spcBef>
                <a:spcPts val="1200"/>
              </a:spcBef>
              <a:spcAft>
                <a:spcPts val="0"/>
              </a:spcAft>
              <a:buClr>
                <a:schemeClr val="dk1"/>
              </a:buClr>
              <a:buSzPts val="1100"/>
              <a:buFont typeface="Arial"/>
              <a:buNone/>
            </a:pPr>
            <a:r>
              <a:rPr lang="en-US"/>
              <a:t>하지만 입문자의 경우, 검색이나 기존 플랫폼을 통해 운동 모임을 찾더라도 해당 모임의 실제 실력 수준이나 분위기를 정확히 파악하기 어렵습니다.</a:t>
            </a:r>
            <a:br>
              <a:rPr lang="en-US"/>
            </a:br>
            <a:r>
              <a:rPr lang="en-US"/>
              <a:t>또한 정기적으로 운영되는 동호회나 모임에 바로 가입하는 것 자체가 부담으로 느껴질 수도 있습니다.</a:t>
            </a:r>
            <a:endParaRPr/>
          </a:p>
          <a:p>
            <a:pPr indent="0" lvl="0" marL="0" rtl="0" algn="l">
              <a:lnSpc>
                <a:spcPct val="115000"/>
              </a:lnSpc>
              <a:spcBef>
                <a:spcPts val="1200"/>
              </a:spcBef>
              <a:spcAft>
                <a:spcPts val="0"/>
              </a:spcAft>
              <a:buClr>
                <a:schemeClr val="dk1"/>
              </a:buClr>
              <a:buSzPts val="1100"/>
              <a:buFont typeface="Arial"/>
              <a:buNone/>
            </a:pPr>
            <a:r>
              <a:rPr lang="en-US"/>
              <a:t>여기에 종목마다 주로 사용하는 플랫폼이나 커뮤니티도 서로 다릅니다.</a:t>
            </a:r>
            <a:br>
              <a:rPr lang="en-US"/>
            </a:br>
            <a:r>
              <a:rPr lang="en-US"/>
              <a:t>때문에 원하는 지역, 종목, 시간, 실력 수준 등의 조건을 모두 만족하는 모임을 찾으려면 여러 플랫폼을 직접 확인해야 하고, 많은 시간과 노력이 필요합니다.</a:t>
            </a:r>
            <a:endParaRPr/>
          </a:p>
          <a:p>
            <a:pPr indent="0" lvl="0" marL="0" rtl="0" algn="l">
              <a:lnSpc>
                <a:spcPct val="115000"/>
              </a:lnSpc>
              <a:spcBef>
                <a:spcPts val="1200"/>
              </a:spcBef>
              <a:spcAft>
                <a:spcPts val="0"/>
              </a:spcAft>
              <a:buClr>
                <a:schemeClr val="dk1"/>
              </a:buClr>
              <a:buSzPts val="1100"/>
              <a:buFont typeface="Arial"/>
              <a:buNone/>
            </a:pPr>
            <a:r>
              <a:rPr lang="en-US"/>
              <a:t>저희는 이러한 불편함을 해결하기 위해,</a:t>
            </a:r>
            <a:br>
              <a:rPr lang="en-US"/>
            </a:br>
            <a:r>
              <a:rPr lang="en-US"/>
              <a:t>체육시설에 대한 정보를 확인하고 자신의 조건에 맞는 운동 모임까지 한곳에서 자유롭게 찾을 수 있는 통합 생활체육 플랫폼 </a:t>
            </a:r>
            <a:r>
              <a:rPr b="1" lang="en-US"/>
              <a:t>Sporty</a:t>
            </a:r>
            <a:r>
              <a:rPr lang="en-US"/>
              <a:t>를 기획하게 되었습니다.</a:t>
            </a:r>
            <a:endParaRPr/>
          </a:p>
          <a:p>
            <a:pPr indent="0" lvl="0" marL="0" rtl="0" algn="l">
              <a:spcBef>
                <a:spcPts val="1200"/>
              </a:spcBef>
              <a:spcAft>
                <a:spcPts val="0"/>
              </a:spcAft>
              <a:buNone/>
            </a:pPr>
            <a:r>
              <a:t/>
            </a:r>
            <a:endParaRPr/>
          </a:p>
        </p:txBody>
      </p:sp>
      <p:sp>
        <p:nvSpPr>
          <p:cNvPr id="107" name="Google Shape;107;h17588b512696e917_39_55: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17588b512696e917_39_79: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h17588b512696e917_39_79: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이러한 기획 배경을 토대로 저희는 세 가지 목표를 세웠습니다.</a:t>
            </a:r>
            <a:endParaRPr/>
          </a:p>
          <a:p>
            <a:pPr indent="0" lvl="0" marL="0" rtl="0" algn="l">
              <a:lnSpc>
                <a:spcPct val="115000"/>
              </a:lnSpc>
              <a:spcBef>
                <a:spcPts val="1200"/>
              </a:spcBef>
              <a:spcAft>
                <a:spcPts val="0"/>
              </a:spcAft>
              <a:buClr>
                <a:schemeClr val="dk1"/>
              </a:buClr>
              <a:buSzPts val="1100"/>
              <a:buFont typeface="Arial"/>
              <a:buNone/>
            </a:pPr>
            <a:r>
              <a:rPr lang="en-US"/>
              <a:t>첫째, 시설 정보 접근성입니다.</a:t>
            </a:r>
            <a:br>
              <a:rPr lang="en-US"/>
            </a:br>
            <a:r>
              <a:rPr lang="en-US"/>
              <a:t>서울시에서 제공하는 공공체육시설 정보를 Open API를 통해 불러와 목록과 상세 화면에서 쉽게 확인할 수 있도록 했습니다. 또한 검색 기능을 통해 사용자가 원하는 체육시설을 빠르게 찾을 수 있도록 기획했습니다.</a:t>
            </a:r>
            <a:endParaRPr/>
          </a:p>
          <a:p>
            <a:pPr indent="0" lvl="0" marL="0" rtl="0" algn="l">
              <a:lnSpc>
                <a:spcPct val="115000"/>
              </a:lnSpc>
              <a:spcBef>
                <a:spcPts val="1200"/>
              </a:spcBef>
              <a:spcAft>
                <a:spcPts val="0"/>
              </a:spcAft>
              <a:buClr>
                <a:schemeClr val="dk1"/>
              </a:buClr>
              <a:buSzPts val="1100"/>
              <a:buFont typeface="Arial"/>
              <a:buNone/>
            </a:pPr>
            <a:r>
              <a:rPr lang="en-US"/>
              <a:t>둘째, 쉬운 운동 매칭입니다.</a:t>
            </a:r>
            <a:br>
              <a:rPr lang="en-US"/>
            </a:br>
            <a:r>
              <a:rPr lang="en-US"/>
              <a:t>종목, 지역, 실력 등의 조건을 기준으로 사용자가 직접 운동 매치를 개설하거나 검색하고, 원하는 매치에 참여할 수 있도록 했습니다.</a:t>
            </a:r>
            <a:endParaRPr/>
          </a:p>
          <a:p>
            <a:pPr indent="0" lvl="0" marL="0" rtl="0" algn="l">
              <a:lnSpc>
                <a:spcPct val="115000"/>
              </a:lnSpc>
              <a:spcBef>
                <a:spcPts val="1200"/>
              </a:spcBef>
              <a:spcAft>
                <a:spcPts val="0"/>
              </a:spcAft>
              <a:buClr>
                <a:schemeClr val="dk1"/>
              </a:buClr>
              <a:buSzPts val="1100"/>
              <a:buFont typeface="Arial"/>
              <a:buNone/>
            </a:pPr>
            <a:r>
              <a:rPr lang="en-US"/>
              <a:t>셋째, AI 자연어 매칭입니다.</a:t>
            </a:r>
            <a:br>
              <a:rPr lang="en-US"/>
            </a:br>
            <a:r>
              <a:rPr lang="en-US"/>
              <a:t>조건이 많아질수록 검색 UI가 복잡해질 수 있기 때문에, 사용자가 여러 필터를 직접 설정하지 않아도 간단한 문장으로 원하는 매치를 검색하거나 매치 초안을 만들 수 있도록 기획했습니다.</a:t>
            </a:r>
            <a:endParaRPr/>
          </a:p>
          <a:p>
            <a:pPr indent="0" lvl="0" marL="0" rtl="0" algn="l">
              <a:lnSpc>
                <a:spcPct val="115000"/>
              </a:lnSpc>
              <a:spcBef>
                <a:spcPts val="1200"/>
              </a:spcBef>
              <a:spcAft>
                <a:spcPts val="0"/>
              </a:spcAft>
              <a:buClr>
                <a:schemeClr val="dk1"/>
              </a:buClr>
              <a:buSzPts val="1100"/>
              <a:buFont typeface="Arial"/>
              <a:buNone/>
            </a:pPr>
            <a:r>
              <a:rPr lang="en-US"/>
              <a:t>이를 통해 운동을 새로 시작하는 입문자부터 함께 운동할 사람이 필요한 동호인, 가까운 체육시설을 찾는 시민까지 다양한 사용자가 이용할 수 있는 플랫폼을 만들고자 했습니다.</a:t>
            </a:r>
            <a:endParaRPr/>
          </a:p>
          <a:p>
            <a:pPr indent="0" lvl="0" marL="0" rtl="0" algn="l">
              <a:lnSpc>
                <a:spcPct val="115000"/>
              </a:lnSpc>
              <a:spcBef>
                <a:spcPts val="1200"/>
              </a:spcBef>
              <a:spcAft>
                <a:spcPts val="0"/>
              </a:spcAft>
              <a:buClr>
                <a:schemeClr val="dk1"/>
              </a:buClr>
              <a:buSzPts val="1100"/>
              <a:buFont typeface="Arial"/>
              <a:buNone/>
            </a:pPr>
            <a:r>
              <a:rPr lang="en-US"/>
              <a:t>한마디로, 시설부터 사람까지 한 곳에서 연결하는 생활체육 플랫폼을 만드는 것이 저희의 목표입ㄴ</a:t>
            </a:r>
            <a:endParaRPr/>
          </a:p>
          <a:p>
            <a:pPr indent="0" lvl="0" marL="0" rtl="0" algn="l">
              <a:spcBef>
                <a:spcPts val="1200"/>
              </a:spcBef>
              <a:spcAft>
                <a:spcPts val="0"/>
              </a:spcAft>
              <a:buNone/>
            </a:pPr>
            <a:r>
              <a:t/>
            </a:r>
            <a:endParaRPr/>
          </a:p>
        </p:txBody>
      </p:sp>
      <p:sp>
        <p:nvSpPr>
          <p:cNvPr id="133" name="Google Shape;133;h17588b512696e917_39_79: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17588b512696e917_39_158: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h17588b512696e917_39_158: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모든 기능은 이슈로 시작해 브랜치에서 작업하고, PR 리뷰를 거쳐 develop에 합쳤습니다. </a:t>
            </a:r>
            <a:r>
              <a:rPr lang="en-US"/>
              <a:t>모든 기능과 버그를 GitHub Issue 로 관리하고, develop 브랜치에서 기능 브랜치를 생성해 작업했습니다. PR은 팀원 2명 이상이 코드를 확인한 뒤 승인하는 방식을 사용했기 때문에, (실제로 개발 중 응답 형식이 다르거나 공통 코드가 중복되는 등의 문제를) 실제 충돌 이외의 구조적인 문제까지 병합 전에 발견할 수 있었습니다. 프로젝트 기간 중 GitHub 기준으로 56개의 이슈, 55개의 PR이 생성됐고 그중 53개가 머지되었습니다.</a:t>
            </a:r>
            <a:endParaRPr/>
          </a:p>
        </p:txBody>
      </p:sp>
      <p:sp>
        <p:nvSpPr>
          <p:cNvPr id="167" name="Google Shape;167;h17588b512696e917_39_158: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7588b512696e917_39_204: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h17588b512696e917_39_204: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Sporty</a:t>
            </a:r>
            <a:r>
              <a:rPr lang="en-US"/>
              <a:t>의 기능 </a:t>
            </a:r>
            <a:r>
              <a:rPr lang="en-US"/>
              <a:t>요구사항</a:t>
            </a:r>
            <a:r>
              <a:rPr lang="en-US"/>
              <a:t>은 </a:t>
            </a:r>
            <a:r>
              <a:rPr lang="en-US"/>
              <a:t>회원, </a:t>
            </a:r>
            <a:r>
              <a:rPr lang="en-US"/>
              <a:t>프로필, </a:t>
            </a:r>
            <a:r>
              <a:rPr lang="en-US"/>
              <a:t>운동 매칭, 체육시설, AI 매칭 네 영역으로 나누</a:t>
            </a:r>
            <a:r>
              <a:rPr lang="en-US"/>
              <a:t>었습니다.</a:t>
            </a:r>
            <a:endParaRPr/>
          </a:p>
          <a:p>
            <a:pPr indent="0" lvl="0" marL="0" rtl="0" algn="l">
              <a:spcBef>
                <a:spcPts val="0"/>
              </a:spcBef>
              <a:spcAft>
                <a:spcPts val="0"/>
              </a:spcAft>
              <a:buNone/>
            </a:pPr>
            <a:r>
              <a:rPr lang="en-US"/>
              <a:t>저희는 각 기능마다 고유한 ID를 부여하여, 해당 기능이 프로젝트 생명 주기에서 끝까지 구현되고 테스트되는 것을 확인했습니다.</a:t>
            </a:r>
            <a:endParaRPr/>
          </a:p>
          <a:p>
            <a:pPr indent="0" lvl="0" marL="0" rtl="0" algn="l">
              <a:spcBef>
                <a:spcPts val="0"/>
              </a:spcBef>
              <a:spcAft>
                <a:spcPts val="0"/>
              </a:spcAft>
              <a:buNone/>
            </a:pPr>
            <a:r>
              <a:t/>
            </a:r>
            <a:endParaRPr/>
          </a:p>
        </p:txBody>
      </p:sp>
      <p:sp>
        <p:nvSpPr>
          <p:cNvPr id="215" name="Google Shape;215;h17588b512696e917_39_204: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17588b512696e917_39_235: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h17588b512696e917_39_235: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프론트는 React, 백엔드는 Spring Boot</a:t>
            </a:r>
            <a:r>
              <a:rPr lang="en-US"/>
              <a:t>로 구성했습니다.</a:t>
            </a:r>
            <a:r>
              <a:rPr lang="en-US"/>
              <a:t> 인증은 Spring Security와 JWT</a:t>
            </a:r>
            <a:r>
              <a:rPr lang="en-US"/>
              <a:t>를 사용했고</a:t>
            </a:r>
            <a:r>
              <a:rPr lang="en-US"/>
              <a:t> 리프레시 토큰은 Redis에 저장</a:t>
            </a:r>
            <a:r>
              <a:rPr lang="en-US"/>
              <a:t>했습니다. 데이터는 MariaDB에 저장하고</a:t>
            </a:r>
            <a:r>
              <a:rPr lang="en-US"/>
              <a:t> </a:t>
            </a:r>
            <a:r>
              <a:rPr lang="en-US"/>
              <a:t>체육시설은 서울시 공공데이터를 스케줄러를 통해 주기적으로 동기화합니다. </a:t>
            </a:r>
            <a:r>
              <a:rPr lang="en-US"/>
              <a:t>AI 기능은 Spring AI의 ChatClient와 Tool Calling</a:t>
            </a:r>
            <a:r>
              <a:rPr lang="en-US"/>
              <a:t>을 사용해</a:t>
            </a:r>
            <a:r>
              <a:rPr lang="en-US"/>
              <a:t> OpenAI API </a:t>
            </a:r>
            <a:r>
              <a:rPr lang="en-US"/>
              <a:t>와 연결했습니다. 따라서, 이 프로젝트에서 AI는 이미 만들어진 애플리케이션 로직 중 필요한 부분을 선택하여 사용합니다.</a:t>
            </a:r>
            <a:endParaRPr/>
          </a:p>
        </p:txBody>
      </p:sp>
      <p:sp>
        <p:nvSpPr>
          <p:cNvPr id="248" name="Google Shape;248;h17588b512696e917_39_235: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4b51303dc7ddfb45_0_164: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h4b51303dc7ddfb45_0_164:notes"/>
          <p:cNvSpPr txBox="1"/>
          <p:nvPr>
            <p:ph idx="1" type="body"/>
          </p:nvPr>
        </p:nvSpPr>
        <p:spPr>
          <a:xfrm>
            <a:off x="685800" y="4400433"/>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Sporty </a:t>
            </a:r>
            <a:r>
              <a:rPr lang="en-US"/>
              <a:t>사용자는</a:t>
            </a:r>
            <a:r>
              <a:rPr lang="en-US"/>
              <a:t> 사진과 같은 흐름으로 서비스를 이용할 수 있는데요,</a:t>
            </a:r>
            <a:r>
              <a:rPr lang="en-US"/>
              <a:t> 체육 시설을 검색하여 매치 생성를 하거나 다른 사람이 생성한 매치를 탐색하고 참여하는 과정을 하나의 서비스 안에서 수행할 수 있습니다. </a:t>
            </a:r>
            <a:br>
              <a:rPr lang="en-US"/>
            </a:br>
            <a:r>
              <a:rPr lang="en-US"/>
              <a:t>이 과정에서 AI의 도움을 받아 매치 생성과 탐색 과정을 단축하고 사용자 맞춤형 매치를 추천받을 수도 있습니다.</a:t>
            </a:r>
            <a:endParaRPr/>
          </a:p>
        </p:txBody>
      </p:sp>
      <p:sp>
        <p:nvSpPr>
          <p:cNvPr id="297" name="Google Shape;297;h4b51303dc7ddfb45_0_164: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17588b512696e917_39_283: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h17588b512696e917_39_283: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Sporty</a:t>
            </a:r>
            <a:r>
              <a:rPr lang="en-US"/>
              <a:t>에서는 세 가지 방법으로 사용자와 운동을 연결합니다.</a:t>
            </a:r>
            <a:r>
              <a:rPr lang="en-US"/>
              <a:t> </a:t>
            </a:r>
            <a:r>
              <a:rPr lang="en-US"/>
              <a:t>첫 번째는</a:t>
            </a:r>
            <a:r>
              <a:rPr lang="en-US"/>
              <a:t> 일반 </a:t>
            </a:r>
            <a:r>
              <a:rPr lang="en-US"/>
              <a:t>운동 </a:t>
            </a:r>
            <a:r>
              <a:rPr lang="en-US"/>
              <a:t>매칭</a:t>
            </a:r>
            <a:r>
              <a:rPr lang="en-US"/>
              <a:t>입니다.</a:t>
            </a:r>
            <a:r>
              <a:rPr lang="en-US"/>
              <a:t> </a:t>
            </a:r>
            <a:r>
              <a:rPr lang="en-US"/>
              <a:t>사용자가 직접 조건을 선택해 매칭을 찾고, 생성/수정/삭제하거나 참여하고 탈퇴할 수 있습니다. 두 번째는 핵심 기능인 </a:t>
            </a:r>
            <a:r>
              <a:rPr lang="en-US"/>
              <a:t>AI 자연어 매칭</a:t>
            </a:r>
            <a:r>
              <a:rPr lang="en-US"/>
              <a:t>입니다. 문장 한 줄로 매치를 검색하거나 생성 초안을 만들고, 사용자 프로필에 맞는 매치를 추천받을 수 있습니다. 세 번째는 체육시설 정보 조회입니다. 서울시 공공체육시설을 검색하고 상세 정보를 확인한 뒤, 해당 시설에서 바로 매치를 만들 수 있습니다.</a:t>
            </a:r>
            <a:endParaRPr/>
          </a:p>
        </p:txBody>
      </p:sp>
      <p:sp>
        <p:nvSpPr>
          <p:cNvPr id="307" name="Google Shape;307;h17588b512696e917_39_283: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h17588b512696e917_33_0: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h17588b512696e917_33_0: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사용자가 메인화면</a:t>
            </a:r>
            <a:r>
              <a:rPr lang="en-US"/>
              <a:t>에서 </a:t>
            </a:r>
            <a:r>
              <a:rPr lang="en-US"/>
              <a:t>자연스럽게 </a:t>
            </a:r>
            <a:r>
              <a:rPr lang="en-US"/>
              <a:t>문장을 입력하면 AI가 </a:t>
            </a:r>
            <a:r>
              <a:rPr lang="en-US"/>
              <a:t>입력된 문장에서 매치</a:t>
            </a:r>
            <a:r>
              <a:rPr lang="en-US"/>
              <a:t> 조건을 추출해 매치를 찾</a:t>
            </a:r>
            <a:r>
              <a:rPr lang="en-US"/>
              <a:t>습니다.</a:t>
            </a:r>
            <a:endParaRPr/>
          </a:p>
          <a:p>
            <a:pPr indent="0" lvl="0" marL="0" rtl="0" algn="l">
              <a:spcBef>
                <a:spcPts val="0"/>
              </a:spcBef>
              <a:spcAft>
                <a:spcPts val="0"/>
              </a:spcAft>
              <a:buNone/>
            </a:pPr>
            <a:r>
              <a:rPr lang="en-US"/>
              <a:t>AI는 완벽한 도구가 아니며, Hallucination 등의 문제가 있기 때문에,</a:t>
            </a:r>
            <a:endParaRPr/>
          </a:p>
          <a:p>
            <a:pPr indent="0" lvl="0" marL="0" rtl="0" algn="l">
              <a:spcBef>
                <a:spcPts val="0"/>
              </a:spcBef>
              <a:spcAft>
                <a:spcPts val="0"/>
              </a:spcAft>
              <a:buNone/>
            </a:pPr>
            <a:r>
              <a:rPr lang="en-US"/>
              <a:t>Sporty에서는 사용자 입력에서 추출한 6가지 조건을 표기하여 사용자가 확인할 수 있도록 돕습니다.</a:t>
            </a:r>
            <a:endParaRPr/>
          </a:p>
          <a:p>
            <a:pPr indent="0" lvl="0" marL="0" rtl="0" algn="l">
              <a:spcBef>
                <a:spcPts val="0"/>
              </a:spcBef>
              <a:spcAft>
                <a:spcPts val="0"/>
              </a:spcAft>
              <a:buNone/>
            </a:pPr>
            <a:r>
              <a:rPr lang="en-US"/>
              <a:t>AI가 추출한 조건이 마음에 들지 않으면, 사용자가 직접 수정하여 매치를 찾을 수 있습니다.</a:t>
            </a:r>
            <a:endParaRPr/>
          </a:p>
        </p:txBody>
      </p:sp>
      <p:sp>
        <p:nvSpPr>
          <p:cNvPr id="336" name="Google Shape;336;h17588b512696e917_33_0: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17588b512696e917_39_310: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h17588b512696e917_39_310: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AI의 역할은 자연어를 검색 조건이나 추천 순서로 바꾸는 데 한정했습니다. 실제 데이터 조회와 검증은 서버가 해서, AI 응답이 매번 조금씩 달라도 결과가 안정적으로 나오도록 설계했습니다.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버전2. AI기능에서 가장 신경 쓴 것은 “AI는 문장을 해석하고 조회와 검증은 서버가 한다"입니다. 사용자가 “이번 주말 송파 초보 풋살"이라고 입력하면 AI Tool Calling으로 종목, 지역, 날짜 같은 조건만 추출합니다.</a:t>
            </a:r>
            <a:endParaRPr/>
          </a:p>
          <a:p>
            <a:pPr indent="0" lvl="0" marL="0" rtl="0" algn="l">
              <a:spcBef>
                <a:spcPts val="0"/>
              </a:spcBef>
              <a:spcAft>
                <a:spcPts val="0"/>
              </a:spcAft>
              <a:buNone/>
            </a:pPr>
            <a:r>
              <a:rPr lang="en-US"/>
              <a:t>그다음 서버가 조건을 검증하고 보정한 뒤 DB에서 매치를 조회합니다. 세가지 규칙을 정하였는데, 첫번째 추측하지 않기, 문장에 없는 조건은 비워두고, 날짜는 서버가 준 날짜표 안에서만 고릅니다.</a:t>
            </a:r>
            <a:endParaRPr/>
          </a:p>
          <a:p>
            <a:pPr indent="0" lvl="0" marL="0" rtl="0" algn="l">
              <a:spcBef>
                <a:spcPts val="0"/>
              </a:spcBef>
              <a:spcAft>
                <a:spcPts val="0"/>
              </a:spcAft>
              <a:buNone/>
            </a:pPr>
            <a:r>
              <a:rPr lang="en-US"/>
              <a:t>두번째는 최종 판단은 서버가 합니다. 성별이 없으면 혼성, 종료 시간은 시작 후 2시간으로 보정하고, 지원하지 않는 종목은 안내합니다.</a:t>
            </a:r>
            <a:endParaRPr/>
          </a:p>
          <a:p>
            <a:pPr indent="0" lvl="0" marL="0" rtl="0" algn="l">
              <a:spcBef>
                <a:spcPts val="0"/>
              </a:spcBef>
              <a:spcAft>
                <a:spcPts val="0"/>
              </a:spcAft>
              <a:buNone/>
            </a:pPr>
            <a:r>
              <a:rPr lang="en-US"/>
              <a:t>마지막으로 API 응답이 매번 조금 달라도 결과는 안정적으로 나오도록 설계했습니다. </a:t>
            </a:r>
            <a:endParaRPr/>
          </a:p>
        </p:txBody>
      </p:sp>
      <p:sp>
        <p:nvSpPr>
          <p:cNvPr id="359" name="Google Shape;359;h17588b512696e917_39_310: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17588b512696e917_33_21: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h17588b512696e917_33_21: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a:t>
            </a:r>
            <a:r>
              <a:rPr lang="en-US"/>
              <a:t>를 이용한 매치 생성에서도 AI가 바로 DB에 데이터를 저장하지는 않습니다. 사용자의 문장을 분석해서 매치 생성 폼의 초안만 자동으로 채워주고, 최종 등록 전에 사용자가 직접 내용을 확인하고 시설도 선택하도록 했습니다. 맞춤 추천도 마찬가지입니다. 서버가 먼저 사용자의 선호 종목, 자치구, 성별 등의 조건으로 후보를 추린 뒤, AI는 그 후보 중에서 추천 순서를 결정합니다.</a:t>
            </a:r>
            <a:endParaRPr/>
          </a:p>
          <a:p>
            <a:pPr indent="0" lvl="0" marL="0" rtl="0" algn="l">
              <a:spcBef>
                <a:spcPts val="0"/>
              </a:spcBef>
              <a:spcAft>
                <a:spcPts val="0"/>
              </a:spcAft>
              <a:buNone/>
            </a:pPr>
            <a:r>
              <a:rPr lang="en-US"/>
              <a:t>즉, AI는 사용자의 입력 부담을 줄이고 선택을 도와주는 역할을 하도록 설계했습니다.</a:t>
            </a:r>
            <a:endParaRPr/>
          </a:p>
        </p:txBody>
      </p:sp>
      <p:sp>
        <p:nvSpPr>
          <p:cNvPr id="402" name="Google Shape;402;h17588b512696e917_33_21: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h17588b512696e917_33_36: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h17588b512696e917_33_36: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반드시 AI 기능을 사용해야 하는 것은 아닙니다. 일반 운동 매칭에서는 종목과 모집 상태 등으로 매치를 직접 검색할 수 있고, 상세 화면에서 참가와 탈퇴가 가능합니다. 또한 매치 생성자는 수정과 삭제가 가능합니다. 체육시설은 서울시 공공서비스예약 데이터를 매일 (새벽 3시에) 동기화하고, 자치구/종목/시설이름 등을 기준으로 검색할 수 있도록 했습니다. 시설 상세 화면에서는 해당 시설 정보를 그대로 활용해 매치 생성 화면으로 이동할 수 있습니다.</a:t>
            </a:r>
            <a:endParaRPr/>
          </a:p>
        </p:txBody>
      </p:sp>
      <p:sp>
        <p:nvSpPr>
          <p:cNvPr id="419" name="Google Shape;419;h17588b512696e917_33_36: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h17588b512696e917_39_458: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h17588b512696e917_39_458: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저희는 적극적으로 테스트를 활용하여 구현된 기능의 완성도를 검증했습니다.</a:t>
            </a:r>
            <a:endParaRPr/>
          </a:p>
          <a:p>
            <a:pPr indent="0" lvl="0" marL="0" rtl="0" algn="l">
              <a:spcBef>
                <a:spcPts val="0"/>
              </a:spcBef>
              <a:spcAft>
                <a:spcPts val="0"/>
              </a:spcAft>
              <a:buNone/>
            </a:pPr>
            <a:br>
              <a:rPr lang="en-US"/>
            </a:br>
            <a:r>
              <a:rPr lang="en-US"/>
              <a:t>기능을 구현하기 전 미리 테스트 케이스를 작성하였고,</a:t>
            </a:r>
            <a:endParaRPr/>
          </a:p>
          <a:p>
            <a:pPr indent="0" lvl="0" marL="0" rtl="0" algn="l">
              <a:spcBef>
                <a:spcPts val="0"/>
              </a:spcBef>
              <a:spcAft>
                <a:spcPts val="0"/>
              </a:spcAft>
              <a:buNone/>
            </a:pPr>
            <a:r>
              <a:rPr lang="en-US"/>
              <a:t>각 기능의 구현이 완료 될 때마다, AI 에이전트를 활용하여 유닛 테스트를 준비하였습니다.</a:t>
            </a:r>
            <a:br>
              <a:rPr lang="en-US"/>
            </a:br>
            <a:endParaRPr/>
          </a:p>
          <a:p>
            <a:pPr indent="0" lvl="0" marL="0" rtl="0" algn="l">
              <a:spcBef>
                <a:spcPts val="0"/>
              </a:spcBef>
              <a:spcAft>
                <a:spcPts val="0"/>
              </a:spcAft>
              <a:buNone/>
            </a:pPr>
            <a:r>
              <a:rPr lang="en-US"/>
              <a:t>백엔드에서 134개, 프론트엔드에서 231개의 유닛 테스트를 작성했고,</a:t>
            </a:r>
            <a:endParaRPr/>
          </a:p>
          <a:p>
            <a:pPr indent="0" lvl="0" marL="0" rtl="0" algn="l">
              <a:spcBef>
                <a:spcPts val="0"/>
              </a:spcBef>
              <a:spcAft>
                <a:spcPts val="0"/>
              </a:spcAft>
              <a:buNone/>
            </a:pPr>
            <a:r>
              <a:rPr lang="en-US"/>
              <a:t>유닛 테스트를 통해 많은 버그가 PR을 통해 개발 브랜치로 흘러가는 것을 막았습니다.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AI 자연어 처리 기능은 결정적이지 않기 때문에, 동일한 테스트를 진행하여도 결과가 다르게 나올 수 있습니다.</a:t>
            </a:r>
            <a:endParaRPr/>
          </a:p>
          <a:p>
            <a:pPr indent="0" lvl="0" marL="0" rtl="0" algn="l">
              <a:spcBef>
                <a:spcPts val="0"/>
              </a:spcBef>
              <a:spcAft>
                <a:spcPts val="0"/>
              </a:spcAft>
              <a:buNone/>
            </a:pPr>
            <a:r>
              <a:rPr lang="en-US"/>
              <a:t>때문에 AI 자연어 처리 기능에 대한 테스트를 작성할 때, 서버 로직 테스트와 AI 품질 확인 테스트를 분리하여 작성했습니다.</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ID가 부여된 각 요구사항마다, 입력 조건, 기대 HTTP 상태 코드, DB 상태 변화를 명시하는 테스트 케이스를 정의했습니다. &lt;&lt; 이거 뺄까요</a:t>
            </a:r>
            <a:endParaRPr/>
          </a:p>
          <a:p>
            <a:pPr indent="0" lvl="0" marL="0" rtl="0" algn="l">
              <a:spcBef>
                <a:spcPts val="0"/>
              </a:spcBef>
              <a:spcAft>
                <a:spcPts val="0"/>
              </a:spcAft>
              <a:buClr>
                <a:schemeClr val="dk1"/>
              </a:buClr>
              <a:buFont typeface="Arial"/>
              <a:buNone/>
            </a:pPr>
            <a:r>
              <a:rPr lang="en-US"/>
              <a:t>테스트 케이스에는 &lt;요구사항 ID&gt;-&lt;테스트 번호&gt;를 ID로 부여하여, 테스트 케이스를 추적하면서도 &lt;&lt; 그리고 요기 두 줄을 맨 처음에 TC 언급하면서 같이 설명하면 흐름이 자연스러울 것 같아요 &lt;- 좋습니다!</a:t>
            </a:r>
            <a:endParaRPr/>
          </a:p>
          <a:p>
            <a:pPr indent="0" lvl="0" marL="0" rtl="0" algn="l">
              <a:spcBef>
                <a:spcPts val="0"/>
              </a:spcBef>
              <a:spcAft>
                <a:spcPts val="0"/>
              </a:spcAft>
              <a:buNone/>
            </a:pPr>
            <a:r>
              <a:rPr lang="en-US"/>
              <a:t>해당 테스트가 검증하는 요구사항을 쉽게 알 수 있도록 하였습니다.</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저희가 테스트 케이스로 찾은 대표적인 문제와 해결을 다음 슬라이드에서 소개하겠습니다.</a:t>
            </a:r>
            <a:endParaRPr/>
          </a:p>
        </p:txBody>
      </p:sp>
      <p:sp>
        <p:nvSpPr>
          <p:cNvPr id="436" name="Google Shape;436;h17588b512696e917_39_458: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17588b512696e917_39_481: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h17588b512696e917_39_481: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버전1. </a:t>
            </a:r>
            <a:endParaRPr/>
          </a:p>
          <a:p>
            <a:pPr indent="0" lvl="0" marL="0" rtl="0" algn="l">
              <a:spcBef>
                <a:spcPts val="0"/>
              </a:spcBef>
              <a:spcAft>
                <a:spcPts val="0"/>
              </a:spcAft>
              <a:buNone/>
            </a:pPr>
            <a:r>
              <a:rPr lang="en-US"/>
              <a:t>브라우저 테스트와 팀원 제보로 찾은 문제들입니다. 예를 들어 스쿼시처럼 지원하지 않는 종목을 검색하면 인증 만료로 잘못 보였는데, 원인을 추적해 지원 종목을 안내하도록 고쳤습니다.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버전2. </a:t>
            </a:r>
            <a:endParaRPr/>
          </a:p>
          <a:p>
            <a:pPr indent="0" lvl="0" marL="0" rtl="0" algn="l">
              <a:spcBef>
                <a:spcPts val="0"/>
              </a:spcBef>
              <a:spcAft>
                <a:spcPts val="0"/>
              </a:spcAft>
              <a:buNone/>
            </a:pPr>
            <a:r>
              <a:rPr lang="en-US"/>
              <a:t>개발과 테스트 중 발견한 대표 문제입니다. 첫번째는 지원하지 않는 종목인 스퀴시로 검색하면 “인증 만료”라는 메시지가 떴습니다. 처리되지 않은 예외가 에러 페이지로 넘어가면서 인증 오류인 401로 바뀐 것이 원인이었고, 예외 핸들러를 등록하여 400과 지원 종목 안내를 반환하도록 고쳤습니다. 두번째, “조건 직접 수정" 버튼이 연결되지 않은 상태였는데, 편집 폼을 추가하여 재검색되도록 하였습니다. 마지막으로, 회원 탈퇴 시각이 저장되지 않아 함께 저장하도록 수정했습니다.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1" name="Google Shape;461;h17588b512696e917_39_481: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17588b512696e917_39_515: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h17588b512696e917_39_515: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버전 1</a:t>
            </a:r>
            <a:endParaRPr/>
          </a:p>
          <a:p>
            <a:pPr indent="0" lvl="0" marL="0" rtl="0" algn="l">
              <a:spcBef>
                <a:spcPts val="0"/>
              </a:spcBef>
              <a:spcAft>
                <a:spcPts val="0"/>
              </a:spcAft>
              <a:buNone/>
            </a:pPr>
            <a:r>
              <a:rPr lang="en-US"/>
              <a:t>성과를 정리하면, 회원, 운동 매칭, 체육시설, AI 기능을 모두 </a:t>
            </a:r>
            <a:r>
              <a:rPr lang="en-US"/>
              <a:t>구현해 하나의 흐름으로 연결했습니다. </a:t>
            </a:r>
            <a:r>
              <a:rPr lang="en-US"/>
              <a:t>사용자는 수준과 지역에 맞는 모임에 참여할 수 있고, 흩어진 공공체육시설 정보를 매칭과 연결하였습니다. </a:t>
            </a:r>
            <a:r>
              <a:rPr lang="en-US"/>
              <a:t>아쉬운 점은 API </a:t>
            </a:r>
            <a:r>
              <a:rPr lang="en-US"/>
              <a:t>응답 </a:t>
            </a:r>
            <a:r>
              <a:rPr lang="en-US"/>
              <a:t>형식을 </a:t>
            </a:r>
            <a:r>
              <a:rPr lang="en-US"/>
              <a:t>개발 전에 합의하지 못해</a:t>
            </a:r>
            <a:r>
              <a:rPr lang="en-US"/>
              <a:t> </a:t>
            </a:r>
            <a:r>
              <a:rPr lang="en-US"/>
              <a:t>뒤</a:t>
            </a:r>
            <a:r>
              <a:rPr lang="en-US"/>
              <a:t>늦게 맞춘 것과 PR 자동 빌드가 없었던 점</a:t>
            </a:r>
            <a:r>
              <a:rPr lang="en-US"/>
              <a:t>입니다.</a:t>
            </a:r>
            <a:r>
              <a:rPr lang="en-US"/>
              <a:t> 다음 프로젝트에서는 먼저 API 계약을 정하고 CI</a:t>
            </a:r>
            <a:r>
              <a:rPr lang="en-US"/>
              <a:t>와 공통 오류 처리를 초기에 갖추어 진행하겠습니다.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버전 2</a:t>
            </a:r>
            <a:endParaRPr/>
          </a:p>
          <a:p>
            <a:pPr indent="0" lvl="0" marL="0" rtl="0" algn="l">
              <a:spcBef>
                <a:spcPts val="0"/>
              </a:spcBef>
              <a:spcAft>
                <a:spcPts val="0"/>
              </a:spcAft>
              <a:buNone/>
            </a:pPr>
            <a:r>
              <a:rPr lang="en-US"/>
              <a:t>저희의 성과를 정리하겠습니다.</a:t>
            </a:r>
            <a:endParaRPr/>
          </a:p>
          <a:p>
            <a:pPr indent="0" lvl="0" marL="0" rtl="0" algn="l">
              <a:spcBef>
                <a:spcPts val="0"/>
              </a:spcBef>
              <a:spcAft>
                <a:spcPts val="0"/>
              </a:spcAft>
              <a:buNone/>
            </a:pPr>
            <a:r>
              <a:rPr lang="en-US"/>
              <a:t>저희는, 회원, 운동 매칭, 체육시설, AI 자연어 처리 기능을 모두 구현했습니다.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생활 체육의 진입 장벽이었던,</a:t>
            </a:r>
            <a:endParaRPr/>
          </a:p>
          <a:p>
            <a:pPr indent="0" lvl="0" marL="0" rtl="0" algn="l">
              <a:spcBef>
                <a:spcPts val="0"/>
              </a:spcBef>
              <a:spcAft>
                <a:spcPts val="0"/>
              </a:spcAft>
              <a:buNone/>
            </a:pPr>
            <a:r>
              <a:rPr lang="en-US"/>
              <a:t>종목, 수준, 지역 등 다양한 조건을 만족하는 모임을 찾아야 한다는 문제를</a:t>
            </a:r>
            <a:endParaRPr/>
          </a:p>
          <a:p>
            <a:pPr indent="0" lvl="0" marL="0" rtl="0" algn="l">
              <a:spcBef>
                <a:spcPts val="0"/>
              </a:spcBef>
              <a:spcAft>
                <a:spcPts val="0"/>
              </a:spcAft>
              <a:buNone/>
            </a:pPr>
            <a:r>
              <a:rPr lang="en-US"/>
              <a:t>운동 매치 기능으로 해결했습니다.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그리고, 서울시가 Open API로 제공하는 공공 체육시설 정보를</a:t>
            </a:r>
            <a:endParaRPr/>
          </a:p>
          <a:p>
            <a:pPr indent="0" lvl="0" marL="0" rtl="0" algn="l">
              <a:spcBef>
                <a:spcPts val="0"/>
              </a:spcBef>
              <a:spcAft>
                <a:spcPts val="0"/>
              </a:spcAft>
              <a:buNone/>
            </a:pPr>
            <a:r>
              <a:rPr lang="en-US"/>
              <a:t>사용자가 목록으로 조회하고 검색할 수 있게 하여,</a:t>
            </a:r>
            <a:endParaRPr/>
          </a:p>
          <a:p>
            <a:pPr indent="0" lvl="0" marL="0" rtl="0" algn="l">
              <a:spcBef>
                <a:spcPts val="0"/>
              </a:spcBef>
              <a:spcAft>
                <a:spcPts val="0"/>
              </a:spcAft>
              <a:buNone/>
            </a:pPr>
            <a:r>
              <a:rPr lang="en-US"/>
              <a:t>생활 체육의 또 다른 문제였던 장소 문제를 해결하였습니다.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그러나, 저희가 처음으로 진행하는 미니 프로젝트였던 만큼, 여러 개선점도 있었습니다.</a:t>
            </a:r>
            <a:endParaRPr/>
          </a:p>
          <a:p>
            <a:pPr indent="0" lvl="0" marL="0" rtl="0" algn="l">
              <a:spcBef>
                <a:spcPts val="0"/>
              </a:spcBef>
              <a:spcAft>
                <a:spcPts val="0"/>
              </a:spcAft>
              <a:buNone/>
            </a:pPr>
            <a:r>
              <a:rPr lang="en-US"/>
              <a:t>API 응답 형식이 개발 전에 완전히 합의되지 않아, 개발 도중 추가 합의를 필요로 하였고, 개발 지연으로 이어졌습니다.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또한, PR 자동 빌드 및 테스트를 도입하지 않아, 서로의 PR을 리뷰할 때, 더욱 많은 시간이 소모되었습니다.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AI 추천과, 운동 매칭 검색 기능이 함께 구현되는 페이지를 작업할 때, 서로의 작업 범위가 명확히 정해지지 않아</a:t>
            </a:r>
            <a:endParaRPr/>
          </a:p>
          <a:p>
            <a:pPr indent="0" lvl="0" marL="0" rtl="0" algn="l">
              <a:spcBef>
                <a:spcPts val="0"/>
              </a:spcBef>
              <a:spcAft>
                <a:spcPts val="0"/>
              </a:spcAft>
              <a:buNone/>
            </a:pPr>
            <a:r>
              <a:rPr lang="en-US"/>
              <a:t>테스트 단계에 도달해서야 “검색 조건 적용” 버튼이 누락되었다는 것을 확인했습니다.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그리고, 처리되지 않은 예외를 받는 기본 핸들러를 사전에 구현하지 않아, 오류의 원인을 “인증 오류”라고 잘못</a:t>
            </a:r>
            <a:endParaRPr/>
          </a:p>
          <a:p>
            <a:pPr indent="0" lvl="0" marL="0" rtl="0" algn="l">
              <a:spcBef>
                <a:spcPts val="0"/>
              </a:spcBef>
              <a:spcAft>
                <a:spcPts val="0"/>
              </a:spcAft>
              <a:buNone/>
            </a:pPr>
            <a:r>
              <a:rPr lang="en-US"/>
              <a:t>판단하여, 수정에 추가적인 시간이 소모되었습니다.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97" name="Google Shape;497;h17588b512696e917_39_515: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4b51303dc7ddfb45_0_101: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4b51303dc7ddfb45_0_101:notes"/>
          <p:cNvSpPr txBox="1"/>
          <p:nvPr>
            <p:ph idx="1" type="body"/>
          </p:nvPr>
        </p:nvSpPr>
        <p:spPr>
          <a:xfrm>
            <a:off x="685800" y="4400433"/>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프로젝트 시연은 일반적인 사용자 이용 흐름을 기준으로 진행됩니다.</a:t>
            </a:r>
            <a:endParaRPr/>
          </a:p>
          <a:p>
            <a:pPr indent="0" lvl="0" marL="0" rtl="0" algn="l">
              <a:spcBef>
                <a:spcPts val="0"/>
              </a:spcBef>
              <a:spcAft>
                <a:spcPts val="0"/>
              </a:spcAft>
              <a:buNone/>
            </a:pPr>
            <a:r>
              <a:rPr lang="en-US"/>
              <a:t>사용자는 검색을 통해 사용하고자 하는 체육 시설을 찾습니다.</a:t>
            </a:r>
            <a:endParaRPr/>
          </a:p>
          <a:p>
            <a:pPr indent="0" lvl="0" marL="0" rtl="0" algn="l">
              <a:spcBef>
                <a:spcPts val="0"/>
              </a:spcBef>
              <a:spcAft>
                <a:spcPts val="0"/>
              </a:spcAft>
              <a:buNone/>
            </a:pPr>
            <a:r>
              <a:rPr lang="en-US"/>
              <a:t>그리고, 해당 시설을 선택하고, 장소와 일정 등을 입력하여 운동 매치를 생성합니다.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그 이후, 다른 사용자의 관점에서 운동 매치를 검색하고 참여하는 모습을 보여줍니다.</a:t>
            </a:r>
            <a:endParaRPr/>
          </a:p>
          <a:p>
            <a:pPr indent="0" lvl="0" marL="0" rtl="0" algn="l">
              <a:spcBef>
                <a:spcPts val="0"/>
              </a:spcBef>
              <a:spcAft>
                <a:spcPts val="0"/>
              </a:spcAft>
              <a:buNone/>
            </a:pPr>
            <a:r>
              <a:rPr lang="en-US"/>
              <a:t>생성된 매치는 매치 목록에서 확인하며 상세보기와 매치 참가가 가능합니다.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마지막으로는 직접 조건을 선택하는 대신,</a:t>
            </a:r>
            <a:endParaRPr/>
          </a:p>
          <a:p>
            <a:pPr indent="0" lvl="0" marL="0" rtl="0" algn="l">
              <a:spcBef>
                <a:spcPts val="0"/>
              </a:spcBef>
              <a:spcAft>
                <a:spcPts val="0"/>
              </a:spcAft>
              <a:buNone/>
            </a:pPr>
            <a:r>
              <a:rPr lang="en-US"/>
              <a:t>AI의 도움을 받아 매치를 생성하고 검색하는 것으로 마무리됩니다.</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마지막으로 시연영상을 보여드리며 발표를 마치겠습니다.</a:t>
            </a:r>
            <a:endParaRPr/>
          </a:p>
        </p:txBody>
      </p:sp>
      <p:sp>
        <p:nvSpPr>
          <p:cNvPr id="525" name="Google Shape;525;h4b51303dc7ddfb45_0_101: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4b51303dc7ddfb45_0_121: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h4b51303dc7ddfb45_0_121:notes"/>
          <p:cNvSpPr txBox="1"/>
          <p:nvPr>
            <p:ph idx="1" type="body"/>
          </p:nvPr>
        </p:nvSpPr>
        <p:spPr>
          <a:xfrm>
            <a:off x="685800" y="4400433"/>
            <a:ext cx="5486400" cy="36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시연 영상 시청</a:t>
            </a:r>
            <a:endParaRPr/>
          </a:p>
        </p:txBody>
      </p:sp>
      <p:sp>
        <p:nvSpPr>
          <p:cNvPr id="568" name="Google Shape;568;h4b51303dc7ddfb45_0_121: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h17588b512696e917_39_561: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h17588b512696e917_39_561: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발표를 마치겠습니다. 질문 받겠습니다.</a:t>
            </a:r>
            <a:endParaRPr/>
          </a:p>
        </p:txBody>
      </p:sp>
      <p:sp>
        <p:nvSpPr>
          <p:cNvPr id="578" name="Google Shape;578;h17588b512696e917_39_561: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5.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10.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7.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32.png"/><Relationship Id="rId5"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drive.google.com/file/d/1YK07i9L9urtvnSgL-v73p7TgTBtBtkll/view" TargetMode="Externa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731501" y="1234440"/>
            <a:ext cx="2651689" cy="365760"/>
          </a:xfrm>
          <a:prstGeom prst="roundRect">
            <a:avLst>
              <a:gd fmla="val 50000" name="adj"/>
            </a:avLst>
          </a:prstGeom>
          <a:solidFill>
            <a:srgbClr val="1E3A8A"/>
          </a:solidFill>
          <a:ln cap="flat" cmpd="sng" w="12700">
            <a:solidFill>
              <a:srgbClr val="1E3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nvSpPr>
        <p:spPr>
          <a:xfrm>
            <a:off x="731501" y="1234440"/>
            <a:ext cx="2651689"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FDBFE"/>
              </a:buClr>
              <a:buSzPts val="1200"/>
              <a:buFont typeface="Malgun Gothic"/>
              <a:buNone/>
            </a:pPr>
            <a:r>
              <a:rPr b="1" i="0" lang="en-US" sz="1300" u="none" cap="none" strike="noStrike">
                <a:solidFill>
                  <a:srgbClr val="BFDBFE"/>
                </a:solidFill>
                <a:latin typeface="Asta Sans"/>
                <a:ea typeface="Asta Sans"/>
                <a:cs typeface="Asta Sans"/>
                <a:sym typeface="Asta Sans"/>
              </a:rPr>
              <a:t>MINI PROJECT 1 · 최종 발표</a:t>
            </a:r>
            <a:endParaRPr b="1" i="0" sz="1300" u="none" cap="none" strike="noStrike">
              <a:solidFill>
                <a:schemeClr val="dk1"/>
              </a:solidFill>
              <a:latin typeface="Asta Sans"/>
              <a:ea typeface="Asta Sans"/>
              <a:cs typeface="Asta Sans"/>
              <a:sym typeface="Asta Sans"/>
            </a:endParaRPr>
          </a:p>
        </p:txBody>
      </p:sp>
      <p:sp>
        <p:nvSpPr>
          <p:cNvPr id="18" name="Google Shape;18;p3"/>
          <p:cNvSpPr txBox="1"/>
          <p:nvPr/>
        </p:nvSpPr>
        <p:spPr>
          <a:xfrm>
            <a:off x="731501" y="1783080"/>
            <a:ext cx="5486254"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600"/>
              <a:buFont typeface="Malgun Gothic"/>
              <a:buNone/>
            </a:pPr>
            <a:r>
              <a:rPr b="1" i="0" lang="en-US" sz="6600" u="none" cap="none" strike="noStrike">
                <a:solidFill>
                  <a:srgbClr val="FFFFFF"/>
                </a:solidFill>
                <a:latin typeface="Malgun Gothic"/>
                <a:ea typeface="Malgun Gothic"/>
                <a:cs typeface="Malgun Gothic"/>
                <a:sym typeface="Malgun Gothic"/>
              </a:rPr>
              <a:t>Sporty</a:t>
            </a:r>
            <a:endParaRPr b="0" i="0" sz="6600" u="none" cap="none" strike="noStrike">
              <a:solidFill>
                <a:schemeClr val="dk1"/>
              </a:solidFill>
              <a:latin typeface="Malgun Gothic"/>
              <a:ea typeface="Malgun Gothic"/>
              <a:cs typeface="Malgun Gothic"/>
              <a:sym typeface="Malgun Gothic"/>
            </a:endParaRPr>
          </a:p>
        </p:txBody>
      </p:sp>
      <p:sp>
        <p:nvSpPr>
          <p:cNvPr id="19" name="Google Shape;19;p3"/>
          <p:cNvSpPr txBox="1"/>
          <p:nvPr/>
        </p:nvSpPr>
        <p:spPr>
          <a:xfrm>
            <a:off x="731500" y="2880360"/>
            <a:ext cx="5669129"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DBFE"/>
              </a:buClr>
              <a:buSzPts val="2600"/>
              <a:buFont typeface="Malgun Gothic"/>
              <a:buNone/>
            </a:pPr>
            <a:r>
              <a:rPr i="0" lang="en-US" sz="2600" u="none" cap="none" strike="noStrike">
                <a:solidFill>
                  <a:srgbClr val="BFDBFE"/>
                </a:solidFill>
                <a:latin typeface="Asta Sans SemiBold"/>
                <a:ea typeface="Asta Sans SemiBold"/>
                <a:cs typeface="Asta Sans SemiBold"/>
                <a:sym typeface="Asta Sans SemiBold"/>
              </a:rPr>
              <a:t>AI 기반 생활체육 매칭 플랫폼</a:t>
            </a:r>
            <a:endParaRPr i="0" sz="2600" u="none" cap="none" strike="noStrike">
              <a:solidFill>
                <a:schemeClr val="dk1"/>
              </a:solidFill>
              <a:latin typeface="Asta Sans SemiBold"/>
              <a:ea typeface="Asta Sans SemiBold"/>
              <a:cs typeface="Asta Sans SemiBold"/>
              <a:sym typeface="Asta Sans SemiBold"/>
            </a:endParaRPr>
          </a:p>
        </p:txBody>
      </p:sp>
      <p:sp>
        <p:nvSpPr>
          <p:cNvPr id="20" name="Google Shape;20;p3"/>
          <p:cNvSpPr txBox="1"/>
          <p:nvPr/>
        </p:nvSpPr>
        <p:spPr>
          <a:xfrm>
            <a:off x="731500" y="3520440"/>
            <a:ext cx="5669129"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600"/>
              <a:buFont typeface="Malgun Gothic"/>
              <a:buNone/>
            </a:pPr>
            <a:r>
              <a:rPr i="0" lang="en-US" sz="1700" u="none" cap="none" strike="noStrike">
                <a:solidFill>
                  <a:srgbClr val="CBD5E1"/>
                </a:solidFill>
                <a:latin typeface="Noto Sans KR"/>
                <a:ea typeface="Noto Sans KR"/>
                <a:cs typeface="Noto Sans KR"/>
                <a:sym typeface="Noto Sans KR"/>
              </a:rPr>
              <a:t>말하듯 검색하면, 함께 운동할 매치를 찾아드립니다</a:t>
            </a:r>
            <a:endParaRPr i="0" sz="1700" u="none" cap="none" strike="noStrike">
              <a:solidFill>
                <a:schemeClr val="dk1"/>
              </a:solidFill>
              <a:latin typeface="Noto Sans KR"/>
              <a:ea typeface="Noto Sans KR"/>
              <a:cs typeface="Noto Sans KR"/>
              <a:sym typeface="Noto Sans KR"/>
            </a:endParaRPr>
          </a:p>
        </p:txBody>
      </p:sp>
      <p:sp>
        <p:nvSpPr>
          <p:cNvPr id="21" name="Google Shape;21;p3"/>
          <p:cNvSpPr txBox="1"/>
          <p:nvPr/>
        </p:nvSpPr>
        <p:spPr>
          <a:xfrm>
            <a:off x="731501" y="4846320"/>
            <a:ext cx="5486254"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Malgun Gothic"/>
              <a:buNone/>
            </a:pPr>
            <a:r>
              <a:rPr b="1" i="0" lang="en-US" sz="1500" u="none" cap="none" strike="noStrike">
                <a:solidFill>
                  <a:srgbClr val="FFFFFF"/>
                </a:solidFill>
                <a:latin typeface="Noto Sans KR"/>
                <a:ea typeface="Noto Sans KR"/>
                <a:cs typeface="Noto Sans KR"/>
                <a:sym typeface="Noto Sans KR"/>
              </a:rPr>
              <a:t>팀</a:t>
            </a:r>
            <a:r>
              <a:rPr b="1" lang="en-US" sz="1500">
                <a:solidFill>
                  <a:srgbClr val="FFFFFF"/>
                </a:solidFill>
                <a:latin typeface="Noto Sans KR"/>
                <a:ea typeface="Noto Sans KR"/>
                <a:cs typeface="Noto Sans KR"/>
                <a:sym typeface="Noto Sans KR"/>
              </a:rPr>
              <a:t> Sporty</a:t>
            </a:r>
            <a:endParaRPr sz="1500">
              <a:solidFill>
                <a:schemeClr val="dk1"/>
              </a:solidFill>
              <a:latin typeface="Noto Sans KR"/>
              <a:ea typeface="Noto Sans KR"/>
              <a:cs typeface="Noto Sans KR"/>
              <a:sym typeface="Noto Sans KR"/>
            </a:endParaRPr>
          </a:p>
          <a:p>
            <a:pPr indent="0" lvl="0" marL="0" rtl="0" algn="l">
              <a:spcBef>
                <a:spcPts val="400"/>
              </a:spcBef>
              <a:spcAft>
                <a:spcPts val="0"/>
              </a:spcAft>
              <a:buClr>
                <a:srgbClr val="CBD5E1"/>
              </a:buClr>
              <a:buSzPts val="1400"/>
              <a:buFont typeface="Malgun Gothic"/>
              <a:buNone/>
            </a:pPr>
            <a:r>
              <a:rPr lang="en-US" sz="1500">
                <a:solidFill>
                  <a:srgbClr val="CBD5E1"/>
                </a:solidFill>
                <a:latin typeface="Noto Sans KR"/>
                <a:ea typeface="Noto Sans KR"/>
                <a:cs typeface="Noto Sans KR"/>
                <a:sym typeface="Noto Sans KR"/>
              </a:rPr>
              <a:t>김예준 · 민경완 · 서우영 · 이우진 · 최다인</a:t>
            </a:r>
            <a:endParaRPr sz="1500">
              <a:solidFill>
                <a:schemeClr val="dk1"/>
              </a:solidFill>
              <a:latin typeface="Noto Sans KR"/>
              <a:ea typeface="Noto Sans KR"/>
              <a:cs typeface="Noto Sans KR"/>
              <a:sym typeface="Noto Sans KR"/>
            </a:endParaRPr>
          </a:p>
          <a:p>
            <a:pPr indent="0" lvl="0" marL="0" rtl="0" algn="l">
              <a:spcBef>
                <a:spcPts val="400"/>
              </a:spcBef>
              <a:spcAft>
                <a:spcPts val="0"/>
              </a:spcAft>
              <a:buClr>
                <a:srgbClr val="94A3B8"/>
              </a:buClr>
              <a:buSzPts val="1400"/>
              <a:buFont typeface="Malgun Gothic"/>
              <a:buNone/>
            </a:pPr>
            <a:r>
              <a:rPr lang="en-US" sz="1500">
                <a:solidFill>
                  <a:srgbClr val="94A3B8"/>
                </a:solidFill>
                <a:latin typeface="Noto Sans KR"/>
                <a:ea typeface="Noto Sans KR"/>
                <a:cs typeface="Noto Sans KR"/>
                <a:sym typeface="Noto Sans KR"/>
              </a:rPr>
              <a:t>2026. 09 .30</a:t>
            </a:r>
            <a:endParaRPr b="1" sz="1500">
              <a:solidFill>
                <a:srgbClr val="FFFFFF"/>
              </a:solidFill>
              <a:latin typeface="Noto Sans KR"/>
              <a:ea typeface="Noto Sans KR"/>
              <a:cs typeface="Noto Sans KR"/>
              <a:sym typeface="Noto Sans KR"/>
            </a:endParaRPr>
          </a:p>
        </p:txBody>
      </p:sp>
      <p:sp>
        <p:nvSpPr>
          <p:cNvPr id="22" name="Google Shape;22;p3"/>
          <p:cNvSpPr/>
          <p:nvPr/>
        </p:nvSpPr>
        <p:spPr>
          <a:xfrm>
            <a:off x="6674942" y="960120"/>
            <a:ext cx="4846191" cy="4937760"/>
          </a:xfrm>
          <a:prstGeom prst="roundRect">
            <a:avLst>
              <a:gd fmla="val 2642"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23" name="Google Shape;23;p3"/>
          <p:cNvSpPr txBox="1"/>
          <p:nvPr/>
        </p:nvSpPr>
        <p:spPr>
          <a:xfrm>
            <a:off x="7040692" y="1234440"/>
            <a:ext cx="3657503"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b="1" i="0" lang="en-US" sz="1800" u="none" cap="none" strike="noStrike">
                <a:solidFill>
                  <a:srgbClr val="1E293B"/>
                </a:solidFill>
                <a:latin typeface="Asta Sans"/>
                <a:ea typeface="Asta Sans"/>
                <a:cs typeface="Asta Sans"/>
                <a:sym typeface="Asta Sans"/>
              </a:rPr>
              <a:t>AI 매치 검색</a:t>
            </a:r>
            <a:endParaRPr b="1" i="0" sz="1800" u="none" cap="none" strike="noStrike">
              <a:solidFill>
                <a:schemeClr val="dk1"/>
              </a:solidFill>
              <a:latin typeface="Asta Sans"/>
              <a:ea typeface="Asta Sans"/>
              <a:cs typeface="Asta Sans"/>
              <a:sym typeface="Asta Sans"/>
            </a:endParaRPr>
          </a:p>
        </p:txBody>
      </p:sp>
      <p:sp>
        <p:nvSpPr>
          <p:cNvPr id="24" name="Google Shape;24;p3"/>
          <p:cNvSpPr/>
          <p:nvPr/>
        </p:nvSpPr>
        <p:spPr>
          <a:xfrm>
            <a:off x="7040692" y="1691640"/>
            <a:ext cx="4114690" cy="685800"/>
          </a:xfrm>
          <a:prstGeom prst="roundRect">
            <a:avLst>
              <a:gd fmla="val 18667" name="adj"/>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25" name="Google Shape;25;p3"/>
          <p:cNvSpPr txBox="1"/>
          <p:nvPr/>
        </p:nvSpPr>
        <p:spPr>
          <a:xfrm>
            <a:off x="7223567" y="1691640"/>
            <a:ext cx="37489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i="0" lang="en-US" sz="1600" u="none" cap="none" strike="noStrike">
                <a:solidFill>
                  <a:srgbClr val="1E293B"/>
                </a:solidFill>
                <a:latin typeface="Asta Sans SemiBold"/>
                <a:ea typeface="Asta Sans SemiBold"/>
                <a:cs typeface="Asta Sans SemiBold"/>
                <a:sym typeface="Asta Sans SemiBold"/>
              </a:rPr>
              <a:t>이번 주말 송파구에서 초보 풋살 찾아줘</a:t>
            </a:r>
            <a:endParaRPr i="0" sz="1600" u="none" cap="none" strike="noStrike">
              <a:solidFill>
                <a:schemeClr val="dk1"/>
              </a:solidFill>
              <a:latin typeface="Asta Sans SemiBold"/>
              <a:ea typeface="Asta Sans SemiBold"/>
              <a:cs typeface="Asta Sans SemiBold"/>
              <a:sym typeface="Asta Sans SemiBold"/>
            </a:endParaRPr>
          </a:p>
        </p:txBody>
      </p:sp>
      <p:sp>
        <p:nvSpPr>
          <p:cNvPr id="26" name="Google Shape;26;p3"/>
          <p:cNvSpPr/>
          <p:nvPr/>
        </p:nvSpPr>
        <p:spPr>
          <a:xfrm>
            <a:off x="9418069" y="2560320"/>
            <a:ext cx="1737314" cy="41148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27" name="Google Shape;27;p3"/>
          <p:cNvSpPr txBox="1"/>
          <p:nvPr/>
        </p:nvSpPr>
        <p:spPr>
          <a:xfrm>
            <a:off x="9418069" y="2560320"/>
            <a:ext cx="1737314"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algun Gothic"/>
              <a:buNone/>
            </a:pPr>
            <a:r>
              <a:rPr i="0" lang="en-US" u="none" cap="none" strike="noStrike">
                <a:solidFill>
                  <a:srgbClr val="FFFFFF"/>
                </a:solidFill>
                <a:latin typeface="Asta Sans SemiBold"/>
                <a:ea typeface="Asta Sans SemiBold"/>
                <a:cs typeface="Asta Sans SemiBold"/>
                <a:sym typeface="Asta Sans SemiBold"/>
              </a:rPr>
              <a:t>AI 매치 검색</a:t>
            </a:r>
            <a:endParaRPr i="0" u="none" cap="none" strike="noStrike">
              <a:solidFill>
                <a:schemeClr val="dk1"/>
              </a:solidFill>
              <a:latin typeface="Asta Sans SemiBold"/>
              <a:ea typeface="Asta Sans SemiBold"/>
              <a:cs typeface="Asta Sans SemiBold"/>
              <a:sym typeface="Asta Sans SemiBold"/>
            </a:endParaRPr>
          </a:p>
        </p:txBody>
      </p:sp>
      <p:sp>
        <p:nvSpPr>
          <p:cNvPr id="28" name="Google Shape;28;p3"/>
          <p:cNvSpPr txBox="1"/>
          <p:nvPr/>
        </p:nvSpPr>
        <p:spPr>
          <a:xfrm>
            <a:off x="7040692" y="3200400"/>
            <a:ext cx="411469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Asta Sans SemiBold"/>
                <a:ea typeface="Asta Sans SemiBold"/>
                <a:cs typeface="Asta Sans SemiBold"/>
                <a:sym typeface="Asta Sans SemiBold"/>
              </a:rPr>
              <a:t>AI가 분석한 나의 맞춤 조건</a:t>
            </a:r>
            <a:endParaRPr i="0" sz="1500" u="none" cap="none" strike="noStrike">
              <a:solidFill>
                <a:schemeClr val="dk1"/>
              </a:solidFill>
              <a:latin typeface="Asta Sans SemiBold"/>
              <a:ea typeface="Asta Sans SemiBold"/>
              <a:cs typeface="Asta Sans SemiBold"/>
              <a:sym typeface="Asta Sans SemiBold"/>
            </a:endParaRPr>
          </a:p>
        </p:txBody>
      </p:sp>
      <p:sp>
        <p:nvSpPr>
          <p:cNvPr id="29" name="Google Shape;29;p3"/>
          <p:cNvSpPr/>
          <p:nvPr/>
        </p:nvSpPr>
        <p:spPr>
          <a:xfrm>
            <a:off x="7040692" y="3566160"/>
            <a:ext cx="2011626" cy="457200"/>
          </a:xfrm>
          <a:prstGeom prst="roundRect">
            <a:avLst>
              <a:gd fmla="val 28000"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0" name="Google Shape;30;p3"/>
          <p:cNvSpPr txBox="1"/>
          <p:nvPr/>
        </p:nvSpPr>
        <p:spPr>
          <a:xfrm>
            <a:off x="7223567" y="3566160"/>
            <a:ext cx="1737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종목  </a:t>
            </a:r>
            <a:r>
              <a:rPr i="0" lang="en-US" sz="1300" u="none" cap="none" strike="noStrike">
                <a:solidFill>
                  <a:srgbClr val="2563EB"/>
                </a:solidFill>
                <a:latin typeface="Noto Sans KR"/>
                <a:ea typeface="Noto Sans KR"/>
                <a:cs typeface="Noto Sans KR"/>
                <a:sym typeface="Noto Sans KR"/>
              </a:rPr>
              <a:t>풋살</a:t>
            </a:r>
            <a:endParaRPr i="0" sz="1300" u="none" cap="none" strike="noStrike">
              <a:solidFill>
                <a:schemeClr val="dk1"/>
              </a:solidFill>
              <a:latin typeface="Noto Sans KR"/>
              <a:ea typeface="Noto Sans KR"/>
              <a:cs typeface="Noto Sans KR"/>
              <a:sym typeface="Noto Sans KR"/>
            </a:endParaRPr>
          </a:p>
        </p:txBody>
      </p:sp>
      <p:sp>
        <p:nvSpPr>
          <p:cNvPr id="31" name="Google Shape;31;p3"/>
          <p:cNvSpPr/>
          <p:nvPr/>
        </p:nvSpPr>
        <p:spPr>
          <a:xfrm>
            <a:off x="9143756" y="3566160"/>
            <a:ext cx="2011626" cy="457200"/>
          </a:xfrm>
          <a:prstGeom prst="roundRect">
            <a:avLst>
              <a:gd fmla="val 28000"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2" name="Google Shape;32;p3"/>
          <p:cNvSpPr txBox="1"/>
          <p:nvPr/>
        </p:nvSpPr>
        <p:spPr>
          <a:xfrm>
            <a:off x="9326631" y="3566160"/>
            <a:ext cx="173731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자치구  </a:t>
            </a:r>
            <a:r>
              <a:rPr i="0" lang="en-US" sz="1300" u="none" cap="none" strike="noStrike">
                <a:solidFill>
                  <a:srgbClr val="2563EB"/>
                </a:solidFill>
                <a:latin typeface="Noto Sans KR"/>
                <a:ea typeface="Noto Sans KR"/>
                <a:cs typeface="Noto Sans KR"/>
                <a:sym typeface="Noto Sans KR"/>
              </a:rPr>
              <a:t>송파구</a:t>
            </a:r>
            <a:endParaRPr i="0" sz="1300" u="none" cap="none" strike="noStrike">
              <a:solidFill>
                <a:schemeClr val="dk1"/>
              </a:solidFill>
              <a:latin typeface="Noto Sans KR"/>
              <a:ea typeface="Noto Sans KR"/>
              <a:cs typeface="Noto Sans KR"/>
              <a:sym typeface="Noto Sans KR"/>
            </a:endParaRPr>
          </a:p>
        </p:txBody>
      </p:sp>
      <p:sp>
        <p:nvSpPr>
          <p:cNvPr id="33" name="Google Shape;33;p3"/>
          <p:cNvSpPr/>
          <p:nvPr/>
        </p:nvSpPr>
        <p:spPr>
          <a:xfrm>
            <a:off x="7040692" y="4133088"/>
            <a:ext cx="2011626" cy="457200"/>
          </a:xfrm>
          <a:prstGeom prst="roundRect">
            <a:avLst>
              <a:gd fmla="val 28000"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4" name="Google Shape;34;p3"/>
          <p:cNvSpPr txBox="1"/>
          <p:nvPr/>
        </p:nvSpPr>
        <p:spPr>
          <a:xfrm>
            <a:off x="7223567" y="4133088"/>
            <a:ext cx="173731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날짜  </a:t>
            </a:r>
            <a:r>
              <a:rPr i="0" lang="en-US" sz="1300" u="none" cap="none" strike="noStrike">
                <a:solidFill>
                  <a:srgbClr val="2563EB"/>
                </a:solidFill>
                <a:latin typeface="Noto Sans KR"/>
                <a:ea typeface="Noto Sans KR"/>
                <a:cs typeface="Noto Sans KR"/>
                <a:sym typeface="Noto Sans KR"/>
              </a:rPr>
              <a:t>이번 주말</a:t>
            </a:r>
            <a:endParaRPr i="0" sz="1300" u="none" cap="none" strike="noStrike">
              <a:solidFill>
                <a:schemeClr val="dk1"/>
              </a:solidFill>
              <a:latin typeface="Noto Sans KR"/>
              <a:ea typeface="Noto Sans KR"/>
              <a:cs typeface="Noto Sans KR"/>
              <a:sym typeface="Noto Sans KR"/>
            </a:endParaRPr>
          </a:p>
        </p:txBody>
      </p:sp>
      <p:sp>
        <p:nvSpPr>
          <p:cNvPr id="35" name="Google Shape;35;p3"/>
          <p:cNvSpPr/>
          <p:nvPr/>
        </p:nvSpPr>
        <p:spPr>
          <a:xfrm>
            <a:off x="9143756" y="4133088"/>
            <a:ext cx="2011626" cy="457200"/>
          </a:xfrm>
          <a:prstGeom prst="roundRect">
            <a:avLst>
              <a:gd fmla="val 28000"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6" name="Google Shape;36;p3"/>
          <p:cNvSpPr txBox="1"/>
          <p:nvPr/>
        </p:nvSpPr>
        <p:spPr>
          <a:xfrm>
            <a:off x="9326631" y="4133088"/>
            <a:ext cx="173731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실력  </a:t>
            </a:r>
            <a:r>
              <a:rPr i="0" lang="en-US" sz="1300" u="none" cap="none" strike="noStrike">
                <a:solidFill>
                  <a:srgbClr val="2563EB"/>
                </a:solidFill>
                <a:latin typeface="Noto Sans KR"/>
                <a:ea typeface="Noto Sans KR"/>
                <a:cs typeface="Noto Sans KR"/>
                <a:sym typeface="Noto Sans KR"/>
              </a:rPr>
              <a:t>초급</a:t>
            </a:r>
            <a:endParaRPr i="0" u="none" cap="none" strike="noStrike">
              <a:solidFill>
                <a:schemeClr val="dk1"/>
              </a:solidFill>
              <a:latin typeface="Noto Sans KR"/>
              <a:ea typeface="Noto Sans KR"/>
              <a:cs typeface="Noto Sans KR"/>
              <a:sym typeface="Noto Sans KR"/>
            </a:endParaRPr>
          </a:p>
        </p:txBody>
      </p:sp>
      <p:sp>
        <p:nvSpPr>
          <p:cNvPr id="37" name="Google Shape;37;p3"/>
          <p:cNvSpPr/>
          <p:nvPr/>
        </p:nvSpPr>
        <p:spPr>
          <a:xfrm>
            <a:off x="7040692" y="4846320"/>
            <a:ext cx="4114690" cy="731520"/>
          </a:xfrm>
          <a:prstGeom prst="roundRect">
            <a:avLst>
              <a:gd fmla="val 175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38" name="Google Shape;38;p3"/>
          <p:cNvSpPr txBox="1"/>
          <p:nvPr/>
        </p:nvSpPr>
        <p:spPr>
          <a:xfrm>
            <a:off x="7223567" y="4846320"/>
            <a:ext cx="37489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i="0" lang="en-US" sz="1500" u="none" cap="none" strike="noStrike">
                <a:solidFill>
                  <a:srgbClr val="1E293B"/>
                </a:solidFill>
                <a:latin typeface="Asta Sans SemiBold"/>
                <a:ea typeface="Asta Sans SemiBold"/>
                <a:cs typeface="Asta Sans SemiBold"/>
                <a:sym typeface="Asta Sans SemiBold"/>
              </a:rPr>
              <a:t>주말 오전 초보 풋살 한 판</a:t>
            </a:r>
            <a:endParaRPr i="0" sz="1500" u="none" cap="none" strike="noStrike">
              <a:solidFill>
                <a:schemeClr val="dk1"/>
              </a:solidFill>
              <a:latin typeface="Asta Sans SemiBold"/>
              <a:ea typeface="Asta Sans SemiBold"/>
              <a:cs typeface="Asta Sans SemiBold"/>
              <a:sym typeface="Asta Sans SemiBold"/>
            </a:endParaRPr>
          </a:p>
          <a:p>
            <a:pPr indent="0" lvl="0" marL="0" marR="0" rtl="0" algn="l">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송파구 · 초급 · 혼성</a:t>
            </a:r>
            <a:endParaRPr i="0" sz="1500" u="none" cap="none" strike="noStrike">
              <a:solidFill>
                <a:schemeClr val="dk1"/>
              </a:solidFill>
              <a:latin typeface="Noto Sans KR"/>
              <a:ea typeface="Noto Sans KR"/>
              <a:cs typeface="Noto Sans KR"/>
              <a:sym typeface="Noto Sans KR"/>
            </a:endParaRPr>
          </a:p>
        </p:txBody>
      </p:sp>
      <p:sp>
        <p:nvSpPr>
          <p:cNvPr id="39" name="Google Shape;39;p3"/>
          <p:cNvSpPr/>
          <p:nvPr/>
        </p:nvSpPr>
        <p:spPr>
          <a:xfrm rot="1500115">
            <a:off x="9624618" y="400717"/>
            <a:ext cx="2011600" cy="2011600"/>
          </a:xfrm>
          <a:prstGeom prst="arc">
            <a:avLst>
              <a:gd fmla="val 16200000" name="adj1"/>
              <a:gd fmla="val 0" name="adj2"/>
            </a:avLst>
          </a:prstGeom>
          <a:solidFill>
            <a:srgbClr val="F7F9FF">
              <a:alpha val="0"/>
            </a:srgbClr>
          </a:solidFill>
          <a:ln cap="flat" cmpd="sng" w="38100">
            <a:solidFill>
              <a:srgbClr val="075BE8">
                <a:alpha val="702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rot="-7800221">
            <a:off x="6460727" y="5160707"/>
            <a:ext cx="1188637" cy="1188637"/>
          </a:xfrm>
          <a:prstGeom prst="arc">
            <a:avLst>
              <a:gd fmla="val 16200000" name="adj1"/>
              <a:gd fmla="val 0" name="adj2"/>
            </a:avLst>
          </a:prstGeom>
          <a:solidFill>
            <a:srgbClr val="F7F9FF">
              <a:alpha val="0"/>
            </a:srgbClr>
          </a:solidFill>
          <a:ln cap="flat" cmpd="sng" w="38100">
            <a:solidFill>
              <a:srgbClr val="22C55E">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 name="Shape 45"/>
        <p:cNvGrpSpPr/>
        <p:nvPr/>
      </p:nvGrpSpPr>
      <p:grpSpPr>
        <a:xfrm>
          <a:off x="0" y="0"/>
          <a:ext cx="0" cy="0"/>
          <a:chOff x="0" y="0"/>
          <a:chExt cx="0" cy="0"/>
        </a:xfrm>
      </p:grpSpPr>
      <p:sp>
        <p:nvSpPr>
          <p:cNvPr id="46" name="Google Shape;46;p4"/>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i="0" lang="en-US" sz="1500" u="none" cap="none" strike="noStrike">
                <a:solidFill>
                  <a:srgbClr val="2563EB"/>
                </a:solidFill>
                <a:latin typeface="Asta Sans Medium"/>
                <a:ea typeface="Asta Sans Medium"/>
                <a:cs typeface="Asta Sans Medium"/>
                <a:sym typeface="Asta Sans Medium"/>
              </a:rPr>
              <a:t>CONTENTS</a:t>
            </a:r>
            <a:endParaRPr i="0" sz="1500" u="none" cap="none" strike="noStrike">
              <a:solidFill>
                <a:schemeClr val="dk1"/>
              </a:solidFill>
              <a:latin typeface="Asta Sans Medium"/>
              <a:ea typeface="Asta Sans Medium"/>
              <a:cs typeface="Asta Sans Medium"/>
              <a:sym typeface="Asta Sans Medium"/>
            </a:endParaRPr>
          </a:p>
        </p:txBody>
      </p:sp>
      <p:sp>
        <p:nvSpPr>
          <p:cNvPr id="47" name="Google Shape;47;p4"/>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3000" u="none" cap="none" strike="noStrike">
                <a:solidFill>
                  <a:srgbClr val="1E293B"/>
                </a:solidFill>
                <a:latin typeface="Asta Sans"/>
                <a:ea typeface="Asta Sans"/>
                <a:cs typeface="Asta Sans"/>
                <a:sym typeface="Asta Sans"/>
              </a:rPr>
              <a:t>목차</a:t>
            </a:r>
            <a:endParaRPr b="1" i="0" sz="3000" u="none" cap="none" strike="noStrike">
              <a:solidFill>
                <a:schemeClr val="dk1"/>
              </a:solidFill>
              <a:latin typeface="Asta Sans"/>
              <a:ea typeface="Asta Sans"/>
              <a:cs typeface="Asta Sans"/>
              <a:sym typeface="Asta Sans"/>
            </a:endParaRPr>
          </a:p>
        </p:txBody>
      </p:sp>
      <p:sp>
        <p:nvSpPr>
          <p:cNvPr id="48" name="Google Shape;48;p4"/>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2</a:t>
            </a:r>
            <a:endParaRPr b="0" i="0" sz="1000" u="none" cap="none" strike="noStrike">
              <a:solidFill>
                <a:schemeClr val="dk1"/>
              </a:solidFill>
              <a:latin typeface="Malgun Gothic"/>
              <a:ea typeface="Malgun Gothic"/>
              <a:cs typeface="Malgun Gothic"/>
              <a:sym typeface="Malgun Gothic"/>
            </a:endParaRPr>
          </a:p>
        </p:txBody>
      </p:sp>
      <p:sp>
        <p:nvSpPr>
          <p:cNvPr id="49" name="Google Shape;49;p4"/>
          <p:cNvSpPr/>
          <p:nvPr/>
        </p:nvSpPr>
        <p:spPr>
          <a:xfrm>
            <a:off x="548625" y="2011680"/>
            <a:ext cx="2057345" cy="3291840"/>
          </a:xfrm>
          <a:prstGeom prst="roundRect">
            <a:avLst>
              <a:gd fmla="val 622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txBox="1"/>
          <p:nvPr/>
        </p:nvSpPr>
        <p:spPr>
          <a:xfrm>
            <a:off x="822938" y="2331720"/>
            <a:ext cx="1463001"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Malgun Gothic"/>
              <a:buNone/>
            </a:pPr>
            <a:r>
              <a:rPr b="1" i="0" lang="en-US" sz="3600" u="none" cap="none" strike="noStrike">
                <a:solidFill>
                  <a:srgbClr val="2563EB"/>
                </a:solidFill>
                <a:latin typeface="Asta Sans"/>
                <a:ea typeface="Asta Sans"/>
                <a:cs typeface="Asta Sans"/>
                <a:sym typeface="Asta Sans"/>
              </a:rPr>
              <a:t>01</a:t>
            </a:r>
            <a:endParaRPr b="1" i="0" sz="3600" u="none" cap="none" strike="noStrike">
              <a:solidFill>
                <a:schemeClr val="dk1"/>
              </a:solidFill>
              <a:latin typeface="Asta Sans"/>
              <a:ea typeface="Asta Sans"/>
              <a:cs typeface="Asta Sans"/>
              <a:sym typeface="Asta Sans"/>
            </a:endParaRPr>
          </a:p>
        </p:txBody>
      </p:sp>
      <p:sp>
        <p:nvSpPr>
          <p:cNvPr id="51" name="Google Shape;51;p4"/>
          <p:cNvSpPr txBox="1"/>
          <p:nvPr/>
        </p:nvSpPr>
        <p:spPr>
          <a:xfrm>
            <a:off x="822938" y="3246120"/>
            <a:ext cx="1645876" cy="731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E293B"/>
              </a:buClr>
              <a:buSzPts val="1700"/>
              <a:buFont typeface="Malgun Gothic"/>
              <a:buNone/>
            </a:pPr>
            <a:r>
              <a:rPr lang="en-US" sz="1800">
                <a:solidFill>
                  <a:srgbClr val="1E293B"/>
                </a:solidFill>
                <a:latin typeface="Asta Sans SemiBold"/>
                <a:ea typeface="Asta Sans SemiBold"/>
                <a:cs typeface="Asta Sans SemiBold"/>
                <a:sym typeface="Asta Sans SemiBold"/>
              </a:rPr>
              <a:t>팀 구성 및 역할</a:t>
            </a:r>
            <a:endParaRPr i="0" sz="1800" u="none" cap="none" strike="noStrike">
              <a:solidFill>
                <a:schemeClr val="dk1"/>
              </a:solidFill>
              <a:latin typeface="Asta Sans SemiBold"/>
              <a:ea typeface="Asta Sans SemiBold"/>
              <a:cs typeface="Asta Sans SemiBold"/>
              <a:sym typeface="Asta Sans SemiBold"/>
            </a:endParaRPr>
          </a:p>
        </p:txBody>
      </p:sp>
      <p:sp>
        <p:nvSpPr>
          <p:cNvPr id="52" name="Google Shape;52;p4"/>
          <p:cNvSpPr txBox="1"/>
          <p:nvPr/>
        </p:nvSpPr>
        <p:spPr>
          <a:xfrm>
            <a:off x="822938" y="4023360"/>
            <a:ext cx="1600157"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lang="en-US">
                <a:solidFill>
                  <a:srgbClr val="64748B"/>
                </a:solidFill>
                <a:latin typeface="Noto Sans KR"/>
                <a:ea typeface="Noto Sans KR"/>
                <a:cs typeface="Noto Sans KR"/>
                <a:sym typeface="Noto Sans KR"/>
              </a:rPr>
              <a:t>역할 분담</a:t>
            </a:r>
            <a:endParaRPr i="0" u="none" cap="none" strike="noStrike">
              <a:solidFill>
                <a:schemeClr val="dk1"/>
              </a:solidFill>
              <a:latin typeface="Noto Sans KR"/>
              <a:ea typeface="Noto Sans KR"/>
              <a:cs typeface="Noto Sans KR"/>
              <a:sym typeface="Noto Sans KR"/>
            </a:endParaRPr>
          </a:p>
        </p:txBody>
      </p:sp>
      <p:sp>
        <p:nvSpPr>
          <p:cNvPr id="53" name="Google Shape;53;p4"/>
          <p:cNvSpPr/>
          <p:nvPr/>
        </p:nvSpPr>
        <p:spPr>
          <a:xfrm>
            <a:off x="2788846" y="2011680"/>
            <a:ext cx="2057345" cy="3291840"/>
          </a:xfrm>
          <a:prstGeom prst="roundRect">
            <a:avLst>
              <a:gd fmla="val 622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txBox="1"/>
          <p:nvPr/>
        </p:nvSpPr>
        <p:spPr>
          <a:xfrm>
            <a:off x="3063158" y="2331720"/>
            <a:ext cx="1463001"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Malgun Gothic"/>
              <a:buNone/>
            </a:pPr>
            <a:r>
              <a:rPr b="1" i="0" lang="en-US" sz="3600" u="none" cap="none" strike="noStrike">
                <a:solidFill>
                  <a:srgbClr val="2563EB"/>
                </a:solidFill>
                <a:latin typeface="Asta Sans"/>
                <a:ea typeface="Asta Sans"/>
                <a:cs typeface="Asta Sans"/>
                <a:sym typeface="Asta Sans"/>
              </a:rPr>
              <a:t>02</a:t>
            </a:r>
            <a:endParaRPr b="1" i="0" sz="3600" u="none" cap="none" strike="noStrike">
              <a:solidFill>
                <a:schemeClr val="dk1"/>
              </a:solidFill>
              <a:latin typeface="Asta Sans"/>
              <a:ea typeface="Asta Sans"/>
              <a:cs typeface="Asta Sans"/>
              <a:sym typeface="Asta Sans"/>
            </a:endParaRPr>
          </a:p>
        </p:txBody>
      </p:sp>
      <p:sp>
        <p:nvSpPr>
          <p:cNvPr id="55" name="Google Shape;55;p4"/>
          <p:cNvSpPr txBox="1"/>
          <p:nvPr/>
        </p:nvSpPr>
        <p:spPr>
          <a:xfrm>
            <a:off x="3063158" y="3246120"/>
            <a:ext cx="1645876"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lang="en-US" sz="1800">
                <a:solidFill>
                  <a:srgbClr val="1E293B"/>
                </a:solidFill>
                <a:latin typeface="Asta Sans SemiBold"/>
                <a:ea typeface="Asta Sans SemiBold"/>
                <a:cs typeface="Asta Sans SemiBold"/>
                <a:sym typeface="Asta Sans SemiBold"/>
              </a:rPr>
              <a:t>프로젝트 개요</a:t>
            </a:r>
            <a:endParaRPr sz="1800">
              <a:solidFill>
                <a:schemeClr val="dk1"/>
              </a:solidFill>
              <a:latin typeface="Asta Sans SemiBold"/>
              <a:ea typeface="Asta Sans SemiBold"/>
              <a:cs typeface="Asta Sans SemiBold"/>
              <a:sym typeface="Asta Sans SemiBold"/>
            </a:endParaRPr>
          </a:p>
          <a:p>
            <a:pPr indent="0" lvl="0" marL="0" marR="0" rtl="0" algn="l">
              <a:spcBef>
                <a:spcPts val="0"/>
              </a:spcBef>
              <a:spcAft>
                <a:spcPts val="0"/>
              </a:spcAft>
              <a:buClr>
                <a:srgbClr val="1E293B"/>
              </a:buClr>
              <a:buSzPts val="1700"/>
              <a:buFont typeface="Malgun Gothic"/>
              <a:buNone/>
            </a:pPr>
            <a:r>
              <a:t/>
            </a:r>
            <a:endParaRPr sz="1800">
              <a:solidFill>
                <a:srgbClr val="1E293B"/>
              </a:solidFill>
              <a:latin typeface="Asta Sans SemiBold"/>
              <a:ea typeface="Asta Sans SemiBold"/>
              <a:cs typeface="Asta Sans SemiBold"/>
              <a:sym typeface="Asta Sans SemiBold"/>
            </a:endParaRPr>
          </a:p>
          <a:p>
            <a:pPr indent="0" lvl="0" marL="0" marR="0" rtl="0" algn="l">
              <a:spcBef>
                <a:spcPts val="0"/>
              </a:spcBef>
              <a:spcAft>
                <a:spcPts val="0"/>
              </a:spcAft>
              <a:buClr>
                <a:srgbClr val="1E293B"/>
              </a:buClr>
              <a:buSzPts val="1700"/>
              <a:buFont typeface="Malgun Gothic"/>
              <a:buNone/>
            </a:pPr>
            <a:br>
              <a:rPr i="0" lang="en-US" sz="1800" u="none" cap="none" strike="noStrike">
                <a:solidFill>
                  <a:srgbClr val="1E293B"/>
                </a:solidFill>
                <a:latin typeface="Asta Sans SemiBold"/>
                <a:ea typeface="Asta Sans SemiBold"/>
                <a:cs typeface="Asta Sans SemiBold"/>
                <a:sym typeface="Asta Sans SemiBold"/>
              </a:rPr>
            </a:br>
            <a:endParaRPr i="0" sz="1800" u="none" cap="none" strike="noStrike">
              <a:solidFill>
                <a:schemeClr val="dk1"/>
              </a:solidFill>
              <a:latin typeface="Asta Sans SemiBold"/>
              <a:ea typeface="Asta Sans SemiBold"/>
              <a:cs typeface="Asta Sans SemiBold"/>
              <a:sym typeface="Asta Sans SemiBold"/>
            </a:endParaRPr>
          </a:p>
        </p:txBody>
      </p:sp>
      <p:sp>
        <p:nvSpPr>
          <p:cNvPr id="56" name="Google Shape;56;p4"/>
          <p:cNvSpPr txBox="1"/>
          <p:nvPr/>
        </p:nvSpPr>
        <p:spPr>
          <a:xfrm>
            <a:off x="3063158" y="4023360"/>
            <a:ext cx="1600200" cy="10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64748B"/>
              </a:buClr>
              <a:buSzPts val="1200"/>
              <a:buFont typeface="Malgun Gothic"/>
              <a:buNone/>
            </a:pPr>
            <a:r>
              <a:rPr lang="en-US">
                <a:solidFill>
                  <a:srgbClr val="64748B"/>
                </a:solidFill>
                <a:latin typeface="Noto Sans KR"/>
                <a:ea typeface="Noto Sans KR"/>
                <a:cs typeface="Noto Sans KR"/>
                <a:sym typeface="Noto Sans KR"/>
              </a:rPr>
              <a:t>기획 배경 및 서비스  소개</a:t>
            </a:r>
            <a:endParaRPr i="0" u="none" cap="none" strike="noStrike">
              <a:solidFill>
                <a:schemeClr val="dk1"/>
              </a:solidFill>
              <a:latin typeface="Noto Sans KR"/>
              <a:ea typeface="Noto Sans KR"/>
              <a:cs typeface="Noto Sans KR"/>
              <a:sym typeface="Noto Sans KR"/>
            </a:endParaRPr>
          </a:p>
        </p:txBody>
      </p:sp>
      <p:sp>
        <p:nvSpPr>
          <p:cNvPr id="57" name="Google Shape;57;p4"/>
          <p:cNvSpPr/>
          <p:nvPr/>
        </p:nvSpPr>
        <p:spPr>
          <a:xfrm>
            <a:off x="5029066" y="2011680"/>
            <a:ext cx="2057345" cy="3291840"/>
          </a:xfrm>
          <a:prstGeom prst="roundRect">
            <a:avLst>
              <a:gd fmla="val 622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txBox="1"/>
          <p:nvPr/>
        </p:nvSpPr>
        <p:spPr>
          <a:xfrm>
            <a:off x="5303379" y="2331720"/>
            <a:ext cx="1463001"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Malgun Gothic"/>
              <a:buNone/>
            </a:pPr>
            <a:r>
              <a:rPr b="1" i="0" lang="en-US" sz="3600" u="none" cap="none" strike="noStrike">
                <a:solidFill>
                  <a:srgbClr val="2563EB"/>
                </a:solidFill>
                <a:latin typeface="Asta Sans"/>
                <a:ea typeface="Asta Sans"/>
                <a:cs typeface="Asta Sans"/>
                <a:sym typeface="Asta Sans"/>
              </a:rPr>
              <a:t>03</a:t>
            </a:r>
            <a:endParaRPr b="1" i="0" sz="3600" u="none" cap="none" strike="noStrike">
              <a:solidFill>
                <a:schemeClr val="dk1"/>
              </a:solidFill>
              <a:latin typeface="Asta Sans"/>
              <a:ea typeface="Asta Sans"/>
              <a:cs typeface="Asta Sans"/>
              <a:sym typeface="Asta Sans"/>
            </a:endParaRPr>
          </a:p>
        </p:txBody>
      </p:sp>
      <p:sp>
        <p:nvSpPr>
          <p:cNvPr id="59" name="Google Shape;59;p4"/>
          <p:cNvSpPr txBox="1"/>
          <p:nvPr/>
        </p:nvSpPr>
        <p:spPr>
          <a:xfrm>
            <a:off x="5303379" y="3246120"/>
            <a:ext cx="1645876"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lang="en-US" sz="1800">
                <a:solidFill>
                  <a:srgbClr val="1E293B"/>
                </a:solidFill>
                <a:latin typeface="Asta Sans SemiBold"/>
                <a:ea typeface="Asta Sans SemiBold"/>
                <a:cs typeface="Asta Sans SemiBold"/>
                <a:sym typeface="Asta Sans SemiBold"/>
              </a:rPr>
              <a:t>핵심기능</a:t>
            </a:r>
            <a:endParaRPr i="0" sz="1800" u="none" cap="none" strike="noStrike">
              <a:solidFill>
                <a:schemeClr val="dk1"/>
              </a:solidFill>
              <a:latin typeface="Asta Sans SemiBold"/>
              <a:ea typeface="Asta Sans SemiBold"/>
              <a:cs typeface="Asta Sans SemiBold"/>
              <a:sym typeface="Asta Sans SemiBold"/>
            </a:endParaRPr>
          </a:p>
        </p:txBody>
      </p:sp>
      <p:sp>
        <p:nvSpPr>
          <p:cNvPr id="60" name="Google Shape;60;p4"/>
          <p:cNvSpPr txBox="1"/>
          <p:nvPr/>
        </p:nvSpPr>
        <p:spPr>
          <a:xfrm>
            <a:off x="5303379" y="4023360"/>
            <a:ext cx="1600157"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기능 설계</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시스템 아키텍처</a:t>
            </a:r>
            <a:endParaRPr i="0" u="none" cap="none" strike="noStrike">
              <a:solidFill>
                <a:schemeClr val="dk1"/>
              </a:solidFill>
              <a:latin typeface="Noto Sans KR"/>
              <a:ea typeface="Noto Sans KR"/>
              <a:cs typeface="Noto Sans KR"/>
              <a:sym typeface="Noto Sans KR"/>
            </a:endParaRPr>
          </a:p>
        </p:txBody>
      </p:sp>
      <p:sp>
        <p:nvSpPr>
          <p:cNvPr id="61" name="Google Shape;61;p4"/>
          <p:cNvSpPr/>
          <p:nvPr/>
        </p:nvSpPr>
        <p:spPr>
          <a:xfrm>
            <a:off x="7269286" y="2011680"/>
            <a:ext cx="2057345" cy="3291840"/>
          </a:xfrm>
          <a:prstGeom prst="roundRect">
            <a:avLst>
              <a:gd fmla="val 622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txBox="1"/>
          <p:nvPr/>
        </p:nvSpPr>
        <p:spPr>
          <a:xfrm>
            <a:off x="7543599" y="3246120"/>
            <a:ext cx="1645876"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i="0" lang="en-US" sz="1800" u="none" cap="none" strike="noStrike">
                <a:solidFill>
                  <a:srgbClr val="1E293B"/>
                </a:solidFill>
                <a:latin typeface="Asta Sans SemiBold"/>
                <a:ea typeface="Asta Sans SemiBold"/>
                <a:cs typeface="Asta Sans SemiBold"/>
                <a:sym typeface="Asta Sans SemiBold"/>
              </a:rPr>
              <a:t>수행 경과</a:t>
            </a:r>
            <a:endParaRPr i="0" sz="1800" u="none" cap="none" strike="noStrike">
              <a:solidFill>
                <a:schemeClr val="dk1"/>
              </a:solidFill>
              <a:latin typeface="Asta Sans SemiBold"/>
              <a:ea typeface="Asta Sans SemiBold"/>
              <a:cs typeface="Asta Sans SemiBold"/>
              <a:sym typeface="Asta Sans SemiBold"/>
            </a:endParaRPr>
          </a:p>
        </p:txBody>
      </p:sp>
      <p:sp>
        <p:nvSpPr>
          <p:cNvPr id="63" name="Google Shape;63;p4"/>
          <p:cNvSpPr txBox="1"/>
          <p:nvPr/>
        </p:nvSpPr>
        <p:spPr>
          <a:xfrm>
            <a:off x="7543599" y="4023360"/>
            <a:ext cx="1600157"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핵심 기능</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이용 흐름</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테스트 · 개선</a:t>
            </a:r>
            <a:endParaRPr i="0" u="none" cap="none" strike="noStrike">
              <a:solidFill>
                <a:schemeClr val="dk1"/>
              </a:solidFill>
              <a:latin typeface="Noto Sans KR"/>
              <a:ea typeface="Noto Sans KR"/>
              <a:cs typeface="Noto Sans KR"/>
              <a:sym typeface="Noto Sans KR"/>
            </a:endParaRPr>
          </a:p>
        </p:txBody>
      </p:sp>
      <p:sp>
        <p:nvSpPr>
          <p:cNvPr id="64" name="Google Shape;64;p4"/>
          <p:cNvSpPr/>
          <p:nvPr/>
        </p:nvSpPr>
        <p:spPr>
          <a:xfrm>
            <a:off x="9509507" y="2011680"/>
            <a:ext cx="2057345" cy="3291840"/>
          </a:xfrm>
          <a:prstGeom prst="roundRect">
            <a:avLst>
              <a:gd fmla="val 622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txBox="1"/>
          <p:nvPr/>
        </p:nvSpPr>
        <p:spPr>
          <a:xfrm>
            <a:off x="9783819" y="2331720"/>
            <a:ext cx="1463001"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Malgun Gothic"/>
              <a:buNone/>
            </a:pPr>
            <a:r>
              <a:rPr b="1" i="0" lang="en-US" sz="3600" u="none" cap="none" strike="noStrike">
                <a:solidFill>
                  <a:srgbClr val="2563EB"/>
                </a:solidFill>
                <a:latin typeface="Asta Sans"/>
                <a:ea typeface="Asta Sans"/>
                <a:cs typeface="Asta Sans"/>
                <a:sym typeface="Asta Sans"/>
              </a:rPr>
              <a:t>05</a:t>
            </a:r>
            <a:endParaRPr b="1" i="0" sz="3600" u="none" cap="none" strike="noStrike">
              <a:solidFill>
                <a:schemeClr val="dk1"/>
              </a:solidFill>
              <a:latin typeface="Asta Sans"/>
              <a:ea typeface="Asta Sans"/>
              <a:cs typeface="Asta Sans"/>
              <a:sym typeface="Asta Sans"/>
            </a:endParaRPr>
          </a:p>
        </p:txBody>
      </p:sp>
      <p:sp>
        <p:nvSpPr>
          <p:cNvPr id="66" name="Google Shape;66;p4"/>
          <p:cNvSpPr txBox="1"/>
          <p:nvPr/>
        </p:nvSpPr>
        <p:spPr>
          <a:xfrm>
            <a:off x="9783819" y="3246120"/>
            <a:ext cx="1645876"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lang="en-US" sz="1800">
                <a:solidFill>
                  <a:srgbClr val="1E293B"/>
                </a:solidFill>
                <a:latin typeface="Asta Sans SemiBold"/>
                <a:ea typeface="Asta Sans SemiBold"/>
                <a:cs typeface="Asta Sans SemiBold"/>
                <a:sym typeface="Asta Sans SemiBold"/>
              </a:rPr>
              <a:t>시연 영상</a:t>
            </a:r>
            <a:endParaRPr sz="1800">
              <a:solidFill>
                <a:srgbClr val="1E293B"/>
              </a:solidFill>
              <a:latin typeface="Asta Sans SemiBold"/>
              <a:ea typeface="Asta Sans SemiBold"/>
              <a:cs typeface="Asta Sans SemiBold"/>
              <a:sym typeface="Asta Sans SemiBold"/>
            </a:endParaRPr>
          </a:p>
        </p:txBody>
      </p:sp>
      <p:sp>
        <p:nvSpPr>
          <p:cNvPr id="67" name="Google Shape;67;p4"/>
          <p:cNvSpPr txBox="1"/>
          <p:nvPr/>
        </p:nvSpPr>
        <p:spPr>
          <a:xfrm>
            <a:off x="9783819" y="4023360"/>
            <a:ext cx="1600157"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u="none" cap="none" strike="noStrike">
                <a:solidFill>
                  <a:srgbClr val="64748B"/>
                </a:solidFill>
                <a:latin typeface="Noto Sans KR"/>
                <a:ea typeface="Noto Sans KR"/>
                <a:cs typeface="Noto Sans KR"/>
                <a:sym typeface="Noto Sans KR"/>
              </a:rPr>
              <a:t>성과 · 개선점</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lang="en-US">
                <a:solidFill>
                  <a:srgbClr val="64748B"/>
                </a:solidFill>
                <a:latin typeface="Noto Sans KR"/>
                <a:ea typeface="Noto Sans KR"/>
                <a:cs typeface="Noto Sans KR"/>
                <a:sym typeface="Noto Sans KR"/>
              </a:rPr>
              <a:t>및 시연</a:t>
            </a:r>
            <a:endParaRPr i="0" u="none" cap="none" strike="noStrike">
              <a:solidFill>
                <a:schemeClr val="dk1"/>
              </a:solidFill>
              <a:latin typeface="Noto Sans KR"/>
              <a:ea typeface="Noto Sans KR"/>
              <a:cs typeface="Noto Sans KR"/>
              <a:sym typeface="Noto Sans KR"/>
            </a:endParaRPr>
          </a:p>
        </p:txBody>
      </p:sp>
      <p:sp>
        <p:nvSpPr>
          <p:cNvPr id="68" name="Google Shape;68;p4"/>
          <p:cNvSpPr txBox="1"/>
          <p:nvPr/>
        </p:nvSpPr>
        <p:spPr>
          <a:xfrm>
            <a:off x="7566404" y="2331783"/>
            <a:ext cx="14631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3600"/>
              <a:buFont typeface="Malgun Gothic"/>
              <a:buNone/>
            </a:pPr>
            <a:r>
              <a:rPr b="1" i="0" lang="en-US" sz="3600" u="none" cap="none" strike="noStrike">
                <a:solidFill>
                  <a:srgbClr val="2563EB"/>
                </a:solidFill>
                <a:latin typeface="Asta Sans"/>
                <a:ea typeface="Asta Sans"/>
                <a:cs typeface="Asta Sans"/>
                <a:sym typeface="Asta Sans"/>
              </a:rPr>
              <a:t>0</a:t>
            </a:r>
            <a:r>
              <a:rPr b="1" lang="en-US" sz="3600">
                <a:solidFill>
                  <a:srgbClr val="2563EB"/>
                </a:solidFill>
                <a:latin typeface="Asta Sans"/>
                <a:ea typeface="Asta Sans"/>
                <a:cs typeface="Asta Sans"/>
                <a:sym typeface="Asta Sans"/>
              </a:rPr>
              <a:t>4</a:t>
            </a:r>
            <a:endParaRPr b="1" i="0" sz="3600" u="none" cap="none" strike="noStrike">
              <a:solidFill>
                <a:schemeClr val="dk1"/>
              </a:solidFill>
              <a:latin typeface="Asta Sans"/>
              <a:ea typeface="Asta Sans"/>
              <a:cs typeface="Asta Sans"/>
              <a:sym typeface="Asta Sans"/>
            </a:endParaRPr>
          </a:p>
        </p:txBody>
      </p:sp>
      <p:cxnSp>
        <p:nvCxnSpPr>
          <p:cNvPr id="69" name="Google Shape;69;p4"/>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4" name="Shape 74"/>
        <p:cNvGrpSpPr/>
        <p:nvPr/>
      </p:nvGrpSpPr>
      <p:grpSpPr>
        <a:xfrm>
          <a:off x="0" y="0"/>
          <a:ext cx="0" cy="0"/>
          <a:chOff x="0" y="0"/>
          <a:chExt cx="0" cy="0"/>
        </a:xfrm>
      </p:grpSpPr>
      <p:sp>
        <p:nvSpPr>
          <p:cNvPr id="75" name="Google Shape;75;p5"/>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팀원 소개 및 역할</a:t>
            </a:r>
            <a:endParaRPr b="1" sz="2800">
              <a:solidFill>
                <a:srgbClr val="1E293B"/>
              </a:solidFill>
              <a:latin typeface="Asta Sans"/>
              <a:ea typeface="Asta Sans"/>
              <a:cs typeface="Asta Sans"/>
              <a:sym typeface="Asta Sans"/>
            </a:endParaRPr>
          </a:p>
        </p:txBody>
      </p:sp>
      <p:sp>
        <p:nvSpPr>
          <p:cNvPr id="76" name="Google Shape;76;p5"/>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3</a:t>
            </a:r>
            <a:endParaRPr b="0" i="0" sz="1000" u="none" cap="none" strike="noStrike">
              <a:solidFill>
                <a:schemeClr val="dk1"/>
              </a:solidFill>
              <a:latin typeface="Malgun Gothic"/>
              <a:ea typeface="Malgun Gothic"/>
              <a:cs typeface="Malgun Gothic"/>
              <a:sym typeface="Malgun Gothic"/>
            </a:endParaRPr>
          </a:p>
        </p:txBody>
      </p:sp>
      <p:sp>
        <p:nvSpPr>
          <p:cNvPr id="77" name="Google Shape;77;p5"/>
          <p:cNvSpPr/>
          <p:nvPr/>
        </p:nvSpPr>
        <p:spPr>
          <a:xfrm>
            <a:off x="625662" y="2258775"/>
            <a:ext cx="2037300" cy="2997900"/>
          </a:xfrm>
          <a:prstGeom prst="roundRect">
            <a:avLst>
              <a:gd fmla="val 6222" name="adj"/>
            </a:avLst>
          </a:prstGeom>
          <a:solidFill>
            <a:srgbClr val="FFFFFF"/>
          </a:solidFill>
          <a:ln cap="flat" cmpd="sng" w="13050">
            <a:solidFill>
              <a:srgbClr val="E2E8F0"/>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78" name="Google Shape;78;p5"/>
          <p:cNvSpPr txBox="1"/>
          <p:nvPr/>
        </p:nvSpPr>
        <p:spPr>
          <a:xfrm>
            <a:off x="716199" y="2816353"/>
            <a:ext cx="18558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53"/>
              <a:buFont typeface="Malgun Gothic"/>
              <a:buNone/>
            </a:pPr>
            <a:r>
              <a:rPr b="1" lang="en-US" sz="2200">
                <a:solidFill>
                  <a:srgbClr val="1E293B"/>
                </a:solidFill>
                <a:latin typeface="Asta Sans"/>
                <a:ea typeface="Asta Sans"/>
                <a:cs typeface="Asta Sans"/>
                <a:sym typeface="Asta Sans"/>
              </a:rPr>
              <a:t>김예준</a:t>
            </a:r>
            <a:endParaRPr b="1" i="0" sz="2200" u="none" cap="none" strike="noStrike">
              <a:solidFill>
                <a:schemeClr val="dk1"/>
              </a:solidFill>
              <a:latin typeface="Asta Sans"/>
              <a:ea typeface="Asta Sans"/>
              <a:cs typeface="Asta Sans"/>
              <a:sym typeface="Asta Sans"/>
            </a:endParaRPr>
          </a:p>
        </p:txBody>
      </p:sp>
      <p:sp>
        <p:nvSpPr>
          <p:cNvPr id="79" name="Google Shape;79;p5"/>
          <p:cNvSpPr/>
          <p:nvPr/>
        </p:nvSpPr>
        <p:spPr>
          <a:xfrm>
            <a:off x="897273" y="3708044"/>
            <a:ext cx="1494000" cy="375600"/>
          </a:xfrm>
          <a:prstGeom prst="roundRect">
            <a:avLst>
              <a:gd fmla="val 50000" name="adj"/>
            </a:avLst>
          </a:prstGeom>
          <a:solidFill>
            <a:srgbClr val="EEF2FF"/>
          </a:solidFill>
          <a:ln cap="flat" cmpd="sng" w="13050">
            <a:solidFill>
              <a:srgbClr val="EEF2FF"/>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80" name="Google Shape;80;p5"/>
          <p:cNvSpPr txBox="1"/>
          <p:nvPr/>
        </p:nvSpPr>
        <p:spPr>
          <a:xfrm>
            <a:off x="897273" y="3708044"/>
            <a:ext cx="1494000" cy="375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563EB"/>
              </a:buClr>
              <a:buSzPts val="1129"/>
              <a:buFont typeface="Malgun Gothic"/>
              <a:buNone/>
            </a:pPr>
            <a:r>
              <a:rPr lang="en-US">
                <a:solidFill>
                  <a:srgbClr val="2563EB"/>
                </a:solidFill>
                <a:latin typeface="Asta Sans SemiBold"/>
                <a:ea typeface="Asta Sans SemiBold"/>
                <a:cs typeface="Asta Sans SemiBold"/>
                <a:sym typeface="Asta Sans SemiBold"/>
              </a:rPr>
              <a:t>풀스택 · 기획</a:t>
            </a:r>
            <a:endParaRPr i="0" u="none" cap="none" strike="noStrike">
              <a:solidFill>
                <a:schemeClr val="dk1"/>
              </a:solidFill>
              <a:latin typeface="Asta Sans SemiBold"/>
              <a:ea typeface="Asta Sans SemiBold"/>
              <a:cs typeface="Asta Sans SemiBold"/>
              <a:sym typeface="Asta Sans SemiBold"/>
            </a:endParaRPr>
          </a:p>
        </p:txBody>
      </p:sp>
      <p:sp>
        <p:nvSpPr>
          <p:cNvPr id="81" name="Google Shape;81;p5"/>
          <p:cNvSpPr txBox="1"/>
          <p:nvPr/>
        </p:nvSpPr>
        <p:spPr>
          <a:xfrm>
            <a:off x="806736" y="4271217"/>
            <a:ext cx="1674900" cy="750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운동 매칭 기능 구현</a:t>
            </a:r>
            <a:endParaRPr>
              <a:solidFill>
                <a:schemeClr val="dk1"/>
              </a:solidFill>
              <a:latin typeface="Noto Sans KR"/>
              <a:ea typeface="Noto Sans KR"/>
              <a:cs typeface="Noto Sans KR"/>
              <a:sym typeface="Noto Sans KR"/>
            </a:endParaRPr>
          </a:p>
          <a:p>
            <a:pPr indent="0" lvl="0" marL="0" marR="0" rtl="0" algn="ctr">
              <a:spcBef>
                <a:spcPts val="0"/>
              </a:spcBef>
              <a:spcAft>
                <a:spcPts val="0"/>
              </a:spcAft>
              <a:buClr>
                <a:srgbClr val="64748B"/>
              </a:buClr>
              <a:buSzPts val="1334"/>
              <a:buFont typeface="Malgun Gothic"/>
              <a:buNone/>
            </a:pPr>
            <a:r>
              <a:t/>
            </a:r>
            <a:endParaRPr b="1" sz="1334">
              <a:solidFill>
                <a:srgbClr val="64748B"/>
              </a:solidFill>
              <a:latin typeface="Noto Sans KR"/>
              <a:ea typeface="Noto Sans KR"/>
              <a:cs typeface="Noto Sans KR"/>
              <a:sym typeface="Noto Sans KR"/>
            </a:endParaRPr>
          </a:p>
        </p:txBody>
      </p:sp>
      <p:sp>
        <p:nvSpPr>
          <p:cNvPr id="82" name="Google Shape;82;p5"/>
          <p:cNvSpPr/>
          <p:nvPr/>
        </p:nvSpPr>
        <p:spPr>
          <a:xfrm>
            <a:off x="2843809" y="2258775"/>
            <a:ext cx="2037300" cy="2997900"/>
          </a:xfrm>
          <a:prstGeom prst="roundRect">
            <a:avLst>
              <a:gd fmla="val 6222" name="adj"/>
            </a:avLst>
          </a:prstGeom>
          <a:solidFill>
            <a:srgbClr val="FFFFFF"/>
          </a:solidFill>
          <a:ln cap="flat" cmpd="sng" w="13050">
            <a:solidFill>
              <a:srgbClr val="E2E8F0"/>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83" name="Google Shape;83;p5"/>
          <p:cNvSpPr txBox="1"/>
          <p:nvPr/>
        </p:nvSpPr>
        <p:spPr>
          <a:xfrm>
            <a:off x="2934346" y="2816353"/>
            <a:ext cx="18558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53"/>
              <a:buFont typeface="Malgun Gothic"/>
              <a:buNone/>
            </a:pPr>
            <a:r>
              <a:rPr b="1" lang="en-US" sz="2200">
                <a:solidFill>
                  <a:srgbClr val="1E293B"/>
                </a:solidFill>
                <a:latin typeface="Asta Sans"/>
                <a:ea typeface="Asta Sans"/>
                <a:cs typeface="Asta Sans"/>
                <a:sym typeface="Asta Sans"/>
              </a:rPr>
              <a:t>민경완</a:t>
            </a:r>
            <a:endParaRPr b="1" i="0" sz="2200" u="none" cap="none" strike="noStrike">
              <a:solidFill>
                <a:schemeClr val="dk1"/>
              </a:solidFill>
              <a:latin typeface="Asta Sans"/>
              <a:ea typeface="Asta Sans"/>
              <a:cs typeface="Asta Sans"/>
              <a:sym typeface="Asta Sans"/>
            </a:endParaRPr>
          </a:p>
        </p:txBody>
      </p:sp>
      <p:sp>
        <p:nvSpPr>
          <p:cNvPr id="84" name="Google Shape;84;p5"/>
          <p:cNvSpPr/>
          <p:nvPr/>
        </p:nvSpPr>
        <p:spPr>
          <a:xfrm>
            <a:off x="3115419" y="3708044"/>
            <a:ext cx="1494000" cy="375600"/>
          </a:xfrm>
          <a:prstGeom prst="roundRect">
            <a:avLst>
              <a:gd fmla="val 50000" name="adj"/>
            </a:avLst>
          </a:prstGeom>
          <a:solidFill>
            <a:srgbClr val="EFF6FF"/>
          </a:solidFill>
          <a:ln cap="flat" cmpd="sng" w="13050">
            <a:solidFill>
              <a:srgbClr val="EFF6FF"/>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85" name="Google Shape;85;p5"/>
          <p:cNvSpPr txBox="1"/>
          <p:nvPr/>
        </p:nvSpPr>
        <p:spPr>
          <a:xfrm>
            <a:off x="3115419" y="3708044"/>
            <a:ext cx="1494000" cy="37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29"/>
              <a:buFont typeface="Malgun Gothic"/>
              <a:buNone/>
            </a:pPr>
            <a:r>
              <a:rPr i="0" lang="en-US" u="none" cap="none" strike="noStrike">
                <a:solidFill>
                  <a:srgbClr val="2563EB"/>
                </a:solidFill>
                <a:latin typeface="Asta Sans SemiBold"/>
                <a:ea typeface="Asta Sans SemiBold"/>
                <a:cs typeface="Asta Sans SemiBold"/>
                <a:sym typeface="Asta Sans SemiBold"/>
              </a:rPr>
              <a:t>풀스택 · 기획</a:t>
            </a:r>
            <a:endParaRPr i="0" u="none" cap="none" strike="noStrike">
              <a:solidFill>
                <a:schemeClr val="dk1"/>
              </a:solidFill>
              <a:latin typeface="Asta Sans SemiBold"/>
              <a:ea typeface="Asta Sans SemiBold"/>
              <a:cs typeface="Asta Sans SemiBold"/>
              <a:sym typeface="Asta Sans SemiBold"/>
            </a:endParaRPr>
          </a:p>
        </p:txBody>
      </p:sp>
      <p:sp>
        <p:nvSpPr>
          <p:cNvPr id="86" name="Google Shape;86;p5"/>
          <p:cNvSpPr txBox="1"/>
          <p:nvPr/>
        </p:nvSpPr>
        <p:spPr>
          <a:xfrm>
            <a:off x="3024882" y="4271217"/>
            <a:ext cx="1674900" cy="75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334"/>
              <a:buFont typeface="Malgun Gothic"/>
              <a:buNone/>
            </a:pPr>
            <a:r>
              <a:rPr i="0" lang="en-US" u="none" cap="none" strike="noStrike">
                <a:solidFill>
                  <a:srgbClr val="64748B"/>
                </a:solidFill>
                <a:latin typeface="Noto Sans KR"/>
                <a:ea typeface="Noto Sans KR"/>
                <a:cs typeface="Noto Sans KR"/>
                <a:sym typeface="Noto Sans KR"/>
              </a:rPr>
              <a:t>운동 매칭 기능 구현</a:t>
            </a:r>
            <a:endParaRPr i="0" u="none" cap="none" strike="noStrike">
              <a:solidFill>
                <a:schemeClr val="dk1"/>
              </a:solidFill>
              <a:latin typeface="Noto Sans KR"/>
              <a:ea typeface="Noto Sans KR"/>
              <a:cs typeface="Noto Sans KR"/>
              <a:sym typeface="Noto Sans KR"/>
            </a:endParaRPr>
          </a:p>
        </p:txBody>
      </p:sp>
      <p:sp>
        <p:nvSpPr>
          <p:cNvPr id="87" name="Google Shape;87;p5"/>
          <p:cNvSpPr/>
          <p:nvPr/>
        </p:nvSpPr>
        <p:spPr>
          <a:xfrm>
            <a:off x="5061955" y="2258775"/>
            <a:ext cx="2037300" cy="2997900"/>
          </a:xfrm>
          <a:prstGeom prst="roundRect">
            <a:avLst>
              <a:gd fmla="val 6222" name="adj"/>
            </a:avLst>
          </a:prstGeom>
          <a:solidFill>
            <a:srgbClr val="FFFFFF"/>
          </a:solidFill>
          <a:ln cap="flat" cmpd="sng" w="13050">
            <a:solidFill>
              <a:srgbClr val="E2E8F0"/>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88" name="Google Shape;88;p5"/>
          <p:cNvSpPr txBox="1"/>
          <p:nvPr/>
        </p:nvSpPr>
        <p:spPr>
          <a:xfrm>
            <a:off x="5152492" y="2816353"/>
            <a:ext cx="18558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53"/>
              <a:buFont typeface="Malgun Gothic"/>
              <a:buNone/>
            </a:pPr>
            <a:r>
              <a:rPr b="1" lang="en-US" sz="2200">
                <a:solidFill>
                  <a:srgbClr val="1E293B"/>
                </a:solidFill>
                <a:latin typeface="Asta Sans"/>
                <a:ea typeface="Asta Sans"/>
                <a:cs typeface="Asta Sans"/>
                <a:sym typeface="Asta Sans"/>
              </a:rPr>
              <a:t>서우영</a:t>
            </a:r>
            <a:endParaRPr b="1" i="0" sz="2200" u="none" cap="none" strike="noStrike">
              <a:solidFill>
                <a:schemeClr val="dk1"/>
              </a:solidFill>
              <a:latin typeface="Asta Sans"/>
              <a:ea typeface="Asta Sans"/>
              <a:cs typeface="Asta Sans"/>
              <a:sym typeface="Asta Sans"/>
            </a:endParaRPr>
          </a:p>
        </p:txBody>
      </p:sp>
      <p:sp>
        <p:nvSpPr>
          <p:cNvPr id="89" name="Google Shape;89;p5"/>
          <p:cNvSpPr/>
          <p:nvPr/>
        </p:nvSpPr>
        <p:spPr>
          <a:xfrm>
            <a:off x="5333565" y="3708044"/>
            <a:ext cx="1494000" cy="375600"/>
          </a:xfrm>
          <a:prstGeom prst="roundRect">
            <a:avLst>
              <a:gd fmla="val 50000" name="adj"/>
            </a:avLst>
          </a:prstGeom>
          <a:solidFill>
            <a:srgbClr val="EFF6FF"/>
          </a:solidFill>
          <a:ln cap="flat" cmpd="sng" w="13050">
            <a:solidFill>
              <a:srgbClr val="EFF6FF"/>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90" name="Google Shape;90;p5"/>
          <p:cNvSpPr txBox="1"/>
          <p:nvPr/>
        </p:nvSpPr>
        <p:spPr>
          <a:xfrm>
            <a:off x="5333565" y="3708044"/>
            <a:ext cx="1494000" cy="37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29"/>
              <a:buFont typeface="Malgun Gothic"/>
              <a:buNone/>
            </a:pPr>
            <a:r>
              <a:rPr i="0" lang="en-US" u="none" cap="none" strike="noStrike">
                <a:solidFill>
                  <a:srgbClr val="2563EB"/>
                </a:solidFill>
                <a:latin typeface="Asta Sans SemiBold"/>
                <a:ea typeface="Asta Sans SemiBold"/>
                <a:cs typeface="Asta Sans SemiBold"/>
                <a:sym typeface="Asta Sans SemiBold"/>
              </a:rPr>
              <a:t>풀스택 · 기획</a:t>
            </a:r>
            <a:endParaRPr i="0" u="none" cap="none" strike="noStrike">
              <a:solidFill>
                <a:schemeClr val="dk1"/>
              </a:solidFill>
              <a:latin typeface="Asta Sans SemiBold"/>
              <a:ea typeface="Asta Sans SemiBold"/>
              <a:cs typeface="Asta Sans SemiBold"/>
              <a:sym typeface="Asta Sans SemiBold"/>
            </a:endParaRPr>
          </a:p>
        </p:txBody>
      </p:sp>
      <p:sp>
        <p:nvSpPr>
          <p:cNvPr id="91" name="Google Shape;91;p5"/>
          <p:cNvSpPr txBox="1"/>
          <p:nvPr/>
        </p:nvSpPr>
        <p:spPr>
          <a:xfrm>
            <a:off x="5243029" y="4271217"/>
            <a:ext cx="1674900" cy="750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사용자 정보 관리</a:t>
            </a:r>
            <a:endParaRPr>
              <a:solidFill>
                <a:schemeClr val="dk1"/>
              </a:solidFill>
              <a:latin typeface="Noto Sans KR"/>
              <a:ea typeface="Noto Sans KR"/>
              <a:cs typeface="Noto Sans KR"/>
              <a:sym typeface="Noto Sans KR"/>
            </a:endParaRPr>
          </a:p>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기능 구현</a:t>
            </a:r>
            <a:endParaRPr>
              <a:solidFill>
                <a:schemeClr val="dk1"/>
              </a:solidFill>
              <a:latin typeface="Noto Sans KR"/>
              <a:ea typeface="Noto Sans KR"/>
              <a:cs typeface="Noto Sans KR"/>
              <a:sym typeface="Noto Sans KR"/>
            </a:endParaRPr>
          </a:p>
          <a:p>
            <a:pPr indent="0" lvl="0" marL="0" marR="0" rtl="0" algn="ctr">
              <a:spcBef>
                <a:spcPts val="0"/>
              </a:spcBef>
              <a:spcAft>
                <a:spcPts val="0"/>
              </a:spcAft>
              <a:buClr>
                <a:srgbClr val="64748B"/>
              </a:buClr>
              <a:buSzPts val="1334"/>
              <a:buFont typeface="Malgun Gothic"/>
              <a:buNone/>
            </a:pPr>
            <a:r>
              <a:t/>
            </a:r>
            <a:endParaRPr sz="1334">
              <a:solidFill>
                <a:srgbClr val="64748B"/>
              </a:solidFill>
              <a:latin typeface="Noto Sans KR"/>
              <a:ea typeface="Noto Sans KR"/>
              <a:cs typeface="Noto Sans KR"/>
              <a:sym typeface="Noto Sans KR"/>
            </a:endParaRPr>
          </a:p>
        </p:txBody>
      </p:sp>
      <p:sp>
        <p:nvSpPr>
          <p:cNvPr id="92" name="Google Shape;92;p5"/>
          <p:cNvSpPr/>
          <p:nvPr/>
        </p:nvSpPr>
        <p:spPr>
          <a:xfrm>
            <a:off x="7280101" y="2258775"/>
            <a:ext cx="2037300" cy="2997900"/>
          </a:xfrm>
          <a:prstGeom prst="roundRect">
            <a:avLst>
              <a:gd fmla="val 6222" name="adj"/>
            </a:avLst>
          </a:prstGeom>
          <a:solidFill>
            <a:srgbClr val="FFFFFF"/>
          </a:solidFill>
          <a:ln cap="flat" cmpd="sng" w="13050">
            <a:solidFill>
              <a:srgbClr val="E2E8F0"/>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93" name="Google Shape;93;p5"/>
          <p:cNvSpPr txBox="1"/>
          <p:nvPr/>
        </p:nvSpPr>
        <p:spPr>
          <a:xfrm>
            <a:off x="7370639" y="2816353"/>
            <a:ext cx="18558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53"/>
              <a:buFont typeface="Malgun Gothic"/>
              <a:buNone/>
            </a:pPr>
            <a:r>
              <a:rPr b="1" lang="en-US" sz="2200">
                <a:solidFill>
                  <a:srgbClr val="1E293B"/>
                </a:solidFill>
                <a:latin typeface="Asta Sans"/>
                <a:ea typeface="Asta Sans"/>
                <a:cs typeface="Asta Sans"/>
                <a:sym typeface="Asta Sans"/>
              </a:rPr>
              <a:t>이우진</a:t>
            </a:r>
            <a:endParaRPr b="1" i="0" sz="2200" u="none" cap="none" strike="noStrike">
              <a:solidFill>
                <a:schemeClr val="dk1"/>
              </a:solidFill>
              <a:latin typeface="Asta Sans"/>
              <a:ea typeface="Asta Sans"/>
              <a:cs typeface="Asta Sans"/>
              <a:sym typeface="Asta Sans"/>
            </a:endParaRPr>
          </a:p>
        </p:txBody>
      </p:sp>
      <p:sp>
        <p:nvSpPr>
          <p:cNvPr id="94" name="Google Shape;94;p5"/>
          <p:cNvSpPr/>
          <p:nvPr/>
        </p:nvSpPr>
        <p:spPr>
          <a:xfrm>
            <a:off x="7551712" y="3708044"/>
            <a:ext cx="1494000" cy="375600"/>
          </a:xfrm>
          <a:prstGeom prst="roundRect">
            <a:avLst>
              <a:gd fmla="val 50000" name="adj"/>
            </a:avLst>
          </a:prstGeom>
          <a:solidFill>
            <a:srgbClr val="EFF6FF"/>
          </a:solidFill>
          <a:ln cap="flat" cmpd="sng" w="13050">
            <a:solidFill>
              <a:srgbClr val="EFF6FF"/>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95" name="Google Shape;95;p5"/>
          <p:cNvSpPr txBox="1"/>
          <p:nvPr/>
        </p:nvSpPr>
        <p:spPr>
          <a:xfrm>
            <a:off x="7551712" y="3708044"/>
            <a:ext cx="1494000" cy="37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29"/>
              <a:buFont typeface="Malgun Gothic"/>
              <a:buNone/>
            </a:pPr>
            <a:r>
              <a:rPr i="0" lang="en-US" u="none" cap="none" strike="noStrike">
                <a:solidFill>
                  <a:srgbClr val="2563EB"/>
                </a:solidFill>
                <a:latin typeface="Asta Sans SemiBold"/>
                <a:ea typeface="Asta Sans SemiBold"/>
                <a:cs typeface="Asta Sans SemiBold"/>
                <a:sym typeface="Asta Sans SemiBold"/>
              </a:rPr>
              <a:t>풀스택 · 기획</a:t>
            </a:r>
            <a:endParaRPr i="0" u="none" cap="none" strike="noStrike">
              <a:solidFill>
                <a:schemeClr val="dk1"/>
              </a:solidFill>
              <a:latin typeface="Asta Sans SemiBold"/>
              <a:ea typeface="Asta Sans SemiBold"/>
              <a:cs typeface="Asta Sans SemiBold"/>
              <a:sym typeface="Asta Sans SemiBold"/>
            </a:endParaRPr>
          </a:p>
        </p:txBody>
      </p:sp>
      <p:sp>
        <p:nvSpPr>
          <p:cNvPr id="96" name="Google Shape;96;p5"/>
          <p:cNvSpPr txBox="1"/>
          <p:nvPr/>
        </p:nvSpPr>
        <p:spPr>
          <a:xfrm>
            <a:off x="7461175" y="4271217"/>
            <a:ext cx="1674900" cy="750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AI 매칭 보조</a:t>
            </a:r>
            <a:endParaRPr>
              <a:solidFill>
                <a:schemeClr val="dk1"/>
              </a:solidFill>
              <a:latin typeface="Noto Sans KR"/>
              <a:ea typeface="Noto Sans KR"/>
              <a:cs typeface="Noto Sans KR"/>
              <a:sym typeface="Noto Sans KR"/>
            </a:endParaRPr>
          </a:p>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기능 구현</a:t>
            </a:r>
            <a:endParaRPr>
              <a:solidFill>
                <a:schemeClr val="dk1"/>
              </a:solidFill>
              <a:latin typeface="Noto Sans KR"/>
              <a:ea typeface="Noto Sans KR"/>
              <a:cs typeface="Noto Sans KR"/>
              <a:sym typeface="Noto Sans KR"/>
            </a:endParaRPr>
          </a:p>
          <a:p>
            <a:pPr indent="0" lvl="0" marL="0" marR="0" rtl="0" algn="ctr">
              <a:spcBef>
                <a:spcPts val="0"/>
              </a:spcBef>
              <a:spcAft>
                <a:spcPts val="0"/>
              </a:spcAft>
              <a:buClr>
                <a:srgbClr val="64748B"/>
              </a:buClr>
              <a:buSzPts val="1334"/>
              <a:buFont typeface="Malgun Gothic"/>
              <a:buNone/>
            </a:pPr>
            <a:r>
              <a:t/>
            </a:r>
            <a:endParaRPr b="1" sz="1334">
              <a:solidFill>
                <a:srgbClr val="64748B"/>
              </a:solidFill>
              <a:latin typeface="Noto Sans KR"/>
              <a:ea typeface="Noto Sans KR"/>
              <a:cs typeface="Noto Sans KR"/>
              <a:sym typeface="Noto Sans KR"/>
            </a:endParaRPr>
          </a:p>
        </p:txBody>
      </p:sp>
      <p:sp>
        <p:nvSpPr>
          <p:cNvPr id="97" name="Google Shape;97;p5"/>
          <p:cNvSpPr/>
          <p:nvPr/>
        </p:nvSpPr>
        <p:spPr>
          <a:xfrm>
            <a:off x="9498247" y="2258775"/>
            <a:ext cx="2037300" cy="2997900"/>
          </a:xfrm>
          <a:prstGeom prst="roundRect">
            <a:avLst>
              <a:gd fmla="val 6222" name="adj"/>
            </a:avLst>
          </a:prstGeom>
          <a:solidFill>
            <a:srgbClr val="FFFFFF"/>
          </a:solidFill>
          <a:ln cap="flat" cmpd="sng" w="13050">
            <a:solidFill>
              <a:srgbClr val="E2E8F0"/>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98" name="Google Shape;98;p5"/>
          <p:cNvSpPr txBox="1"/>
          <p:nvPr/>
        </p:nvSpPr>
        <p:spPr>
          <a:xfrm>
            <a:off x="9588785" y="2816353"/>
            <a:ext cx="1855800" cy="42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2053"/>
              <a:buFont typeface="Malgun Gothic"/>
              <a:buNone/>
            </a:pPr>
            <a:r>
              <a:rPr b="1" lang="en-US" sz="2200">
                <a:solidFill>
                  <a:srgbClr val="1E293B"/>
                </a:solidFill>
                <a:latin typeface="Asta Sans"/>
                <a:ea typeface="Asta Sans"/>
                <a:cs typeface="Asta Sans"/>
                <a:sym typeface="Asta Sans"/>
              </a:rPr>
              <a:t>최다</a:t>
            </a:r>
            <a:r>
              <a:rPr b="1" lang="en-US" sz="2200">
                <a:solidFill>
                  <a:srgbClr val="1E293B"/>
                </a:solidFill>
                <a:latin typeface="Asta Sans"/>
                <a:ea typeface="Asta Sans"/>
                <a:cs typeface="Asta Sans"/>
                <a:sym typeface="Asta Sans"/>
              </a:rPr>
              <a:t>인</a:t>
            </a:r>
            <a:endParaRPr b="1" i="0" sz="2200" u="none" cap="none" strike="noStrike">
              <a:solidFill>
                <a:schemeClr val="dk1"/>
              </a:solidFill>
              <a:latin typeface="Asta Sans"/>
              <a:ea typeface="Asta Sans"/>
              <a:cs typeface="Asta Sans"/>
              <a:sym typeface="Asta Sans"/>
            </a:endParaRPr>
          </a:p>
        </p:txBody>
      </p:sp>
      <p:sp>
        <p:nvSpPr>
          <p:cNvPr id="99" name="Google Shape;99;p5"/>
          <p:cNvSpPr/>
          <p:nvPr/>
        </p:nvSpPr>
        <p:spPr>
          <a:xfrm>
            <a:off x="9769858" y="3708044"/>
            <a:ext cx="1494000" cy="375600"/>
          </a:xfrm>
          <a:prstGeom prst="roundRect">
            <a:avLst>
              <a:gd fmla="val 50000" name="adj"/>
            </a:avLst>
          </a:prstGeom>
          <a:solidFill>
            <a:srgbClr val="EFF6FF"/>
          </a:solidFill>
          <a:ln cap="flat" cmpd="sng" w="13050">
            <a:solidFill>
              <a:srgbClr val="EFF6FF"/>
            </a:solidFill>
            <a:prstDash val="solid"/>
            <a:round/>
            <a:headEnd len="sm" w="sm" type="none"/>
            <a:tailEnd len="sm" w="sm" type="none"/>
          </a:ln>
        </p:spPr>
        <p:txBody>
          <a:bodyPr anchorCtr="0" anchor="ctr" bIns="93850" lIns="93850" spcFirstLastPara="1" rIns="93850" wrap="square" tIns="93850">
            <a:noAutofit/>
          </a:bodyPr>
          <a:lstStyle/>
          <a:p>
            <a:pPr indent="0" lvl="0" marL="0" rtl="0" algn="l">
              <a:spcBef>
                <a:spcPts val="0"/>
              </a:spcBef>
              <a:spcAft>
                <a:spcPts val="0"/>
              </a:spcAft>
              <a:buNone/>
            </a:pPr>
            <a:r>
              <a:t/>
            </a:r>
            <a:endParaRPr/>
          </a:p>
        </p:txBody>
      </p:sp>
      <p:sp>
        <p:nvSpPr>
          <p:cNvPr id="100" name="Google Shape;100;p5"/>
          <p:cNvSpPr txBox="1"/>
          <p:nvPr/>
        </p:nvSpPr>
        <p:spPr>
          <a:xfrm>
            <a:off x="9769858" y="3708044"/>
            <a:ext cx="1494000" cy="37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29"/>
              <a:buFont typeface="Malgun Gothic"/>
              <a:buNone/>
            </a:pPr>
            <a:r>
              <a:rPr i="0" lang="en-US" u="none" cap="none" strike="noStrike">
                <a:solidFill>
                  <a:srgbClr val="2563EB"/>
                </a:solidFill>
                <a:latin typeface="Asta Sans SemiBold"/>
                <a:ea typeface="Asta Sans SemiBold"/>
                <a:cs typeface="Asta Sans SemiBold"/>
                <a:sym typeface="Asta Sans SemiBold"/>
              </a:rPr>
              <a:t>풀스택 · 기획</a:t>
            </a:r>
            <a:endParaRPr i="0" u="none" cap="none" strike="noStrike">
              <a:solidFill>
                <a:schemeClr val="dk1"/>
              </a:solidFill>
              <a:latin typeface="Asta Sans SemiBold"/>
              <a:ea typeface="Asta Sans SemiBold"/>
              <a:cs typeface="Asta Sans SemiBold"/>
              <a:sym typeface="Asta Sans SemiBold"/>
            </a:endParaRPr>
          </a:p>
        </p:txBody>
      </p:sp>
      <p:sp>
        <p:nvSpPr>
          <p:cNvPr id="101" name="Google Shape;101;p5"/>
          <p:cNvSpPr txBox="1"/>
          <p:nvPr/>
        </p:nvSpPr>
        <p:spPr>
          <a:xfrm>
            <a:off x="9679322" y="4271217"/>
            <a:ext cx="1674900" cy="750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64748B"/>
              </a:buClr>
              <a:buSzPts val="1334"/>
              <a:buFont typeface="Malgun Gothic"/>
              <a:buNone/>
            </a:pPr>
            <a:r>
              <a:rPr lang="en-US">
                <a:solidFill>
                  <a:srgbClr val="64748B"/>
                </a:solidFill>
                <a:latin typeface="Noto Sans KR"/>
                <a:ea typeface="Noto Sans KR"/>
                <a:cs typeface="Noto Sans KR"/>
                <a:sym typeface="Noto Sans KR"/>
              </a:rPr>
              <a:t>공공데이터 연동</a:t>
            </a:r>
            <a:endParaRPr>
              <a:solidFill>
                <a:schemeClr val="dk1"/>
              </a:solidFill>
              <a:latin typeface="Noto Sans KR"/>
              <a:ea typeface="Noto Sans KR"/>
              <a:cs typeface="Noto Sans KR"/>
              <a:sym typeface="Noto Sans KR"/>
            </a:endParaRPr>
          </a:p>
          <a:p>
            <a:pPr indent="0" lvl="0" marL="0" marR="0" rtl="0" algn="ctr">
              <a:spcBef>
                <a:spcPts val="0"/>
              </a:spcBef>
              <a:spcAft>
                <a:spcPts val="0"/>
              </a:spcAft>
              <a:buClr>
                <a:srgbClr val="64748B"/>
              </a:buClr>
              <a:buSzPts val="1334"/>
              <a:buFont typeface="Malgun Gothic"/>
              <a:buNone/>
            </a:pPr>
            <a:r>
              <a:t/>
            </a:r>
            <a:endParaRPr b="1" sz="1334">
              <a:solidFill>
                <a:srgbClr val="64748B"/>
              </a:solidFill>
              <a:latin typeface="Noto Sans KR"/>
              <a:ea typeface="Noto Sans KR"/>
              <a:cs typeface="Noto Sans KR"/>
              <a:sym typeface="Noto Sans KR"/>
            </a:endParaRPr>
          </a:p>
        </p:txBody>
      </p:sp>
      <p:sp>
        <p:nvSpPr>
          <p:cNvPr id="102" name="Google Shape;102;p5"/>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01. </a:t>
            </a:r>
            <a:r>
              <a:rPr lang="en-US" sz="1500">
                <a:solidFill>
                  <a:srgbClr val="2563EB"/>
                </a:solidFill>
                <a:latin typeface="Asta Sans Medium"/>
                <a:ea typeface="Asta Sans Medium"/>
                <a:cs typeface="Asta Sans Medium"/>
                <a:sym typeface="Asta Sans Medium"/>
              </a:rPr>
              <a:t>팀 구성 및 역할</a:t>
            </a:r>
            <a:endParaRPr i="0" sz="1500" u="none" cap="none" strike="noStrike">
              <a:solidFill>
                <a:schemeClr val="dk1"/>
              </a:solidFill>
              <a:latin typeface="Asta Sans Medium"/>
              <a:ea typeface="Asta Sans Medium"/>
              <a:cs typeface="Asta Sans Medium"/>
              <a:sym typeface="Asta Sans Medium"/>
            </a:endParaRPr>
          </a:p>
        </p:txBody>
      </p:sp>
      <p:cxnSp>
        <p:nvCxnSpPr>
          <p:cNvPr id="103" name="Google Shape;103;p5"/>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8" name="Shape 108"/>
        <p:cNvGrpSpPr/>
        <p:nvPr/>
      </p:nvGrpSpPr>
      <p:grpSpPr>
        <a:xfrm>
          <a:off x="0" y="0"/>
          <a:ext cx="0" cy="0"/>
          <a:chOff x="0" y="0"/>
          <a:chExt cx="0" cy="0"/>
        </a:xfrm>
      </p:grpSpPr>
      <p:sp>
        <p:nvSpPr>
          <p:cNvPr id="109" name="Google Shape;109;p6"/>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기획 배경</a:t>
            </a:r>
            <a:endParaRPr b="1" sz="2800">
              <a:solidFill>
                <a:srgbClr val="1E293B"/>
              </a:solidFill>
              <a:latin typeface="Asta Sans"/>
              <a:ea typeface="Asta Sans"/>
              <a:cs typeface="Asta Sans"/>
              <a:sym typeface="Asta Sans"/>
            </a:endParaRPr>
          </a:p>
        </p:txBody>
      </p:sp>
      <p:sp>
        <p:nvSpPr>
          <p:cNvPr id="110" name="Google Shape;110;p6"/>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4</a:t>
            </a:r>
            <a:endParaRPr b="0" i="0" sz="1000" u="none" cap="none" strike="noStrike">
              <a:solidFill>
                <a:schemeClr val="dk1"/>
              </a:solidFill>
              <a:latin typeface="Malgun Gothic"/>
              <a:ea typeface="Malgun Gothic"/>
              <a:cs typeface="Malgun Gothic"/>
              <a:sym typeface="Malgun Gothic"/>
            </a:endParaRPr>
          </a:p>
        </p:txBody>
      </p:sp>
      <p:sp>
        <p:nvSpPr>
          <p:cNvPr id="111" name="Google Shape;111;p6"/>
          <p:cNvSpPr/>
          <p:nvPr/>
        </p:nvSpPr>
        <p:spPr>
          <a:xfrm>
            <a:off x="548625" y="1430102"/>
            <a:ext cx="3520200" cy="3017400"/>
          </a:xfrm>
          <a:prstGeom prst="roundRect">
            <a:avLst>
              <a:gd fmla="val 424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868657" y="1750142"/>
            <a:ext cx="731400" cy="7314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6"/>
          <p:cNvPicPr preferRelativeResize="0"/>
          <p:nvPr/>
        </p:nvPicPr>
        <p:blipFill rotWithShape="1">
          <a:blip r:embed="rId3">
            <a:alphaModFix/>
          </a:blip>
          <a:srcRect b="0" l="0" r="0" t="0"/>
          <a:stretch/>
        </p:blipFill>
        <p:spPr>
          <a:xfrm>
            <a:off x="1051532" y="1933022"/>
            <a:ext cx="365750" cy="365750"/>
          </a:xfrm>
          <a:prstGeom prst="rect">
            <a:avLst/>
          </a:prstGeom>
          <a:noFill/>
          <a:ln>
            <a:noFill/>
          </a:ln>
        </p:spPr>
      </p:pic>
      <p:sp>
        <p:nvSpPr>
          <p:cNvPr id="114" name="Google Shape;114;p6"/>
          <p:cNvSpPr txBox="1"/>
          <p:nvPr/>
        </p:nvSpPr>
        <p:spPr>
          <a:xfrm>
            <a:off x="868657" y="2664542"/>
            <a:ext cx="2925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Malgun Gothic"/>
              <a:buNone/>
            </a:pPr>
            <a:r>
              <a:rPr i="0" lang="en-US" sz="2200" u="none" cap="none" strike="noStrike">
                <a:solidFill>
                  <a:srgbClr val="1E293B"/>
                </a:solidFill>
                <a:latin typeface="Asta Sans SemiBold"/>
                <a:ea typeface="Asta Sans SemiBold"/>
                <a:cs typeface="Asta Sans SemiBold"/>
                <a:sym typeface="Asta Sans SemiBold"/>
              </a:rPr>
              <a:t>어디서?</a:t>
            </a:r>
            <a:endParaRPr i="0" sz="2200" u="none" cap="none" strike="noStrike">
              <a:solidFill>
                <a:schemeClr val="dk1"/>
              </a:solidFill>
              <a:latin typeface="Asta Sans SemiBold"/>
              <a:ea typeface="Asta Sans SemiBold"/>
              <a:cs typeface="Asta Sans SemiBold"/>
              <a:sym typeface="Asta Sans SemiBold"/>
            </a:endParaRPr>
          </a:p>
        </p:txBody>
      </p:sp>
      <p:sp>
        <p:nvSpPr>
          <p:cNvPr id="115" name="Google Shape;115;p6"/>
          <p:cNvSpPr txBox="1"/>
          <p:nvPr/>
        </p:nvSpPr>
        <p:spPr>
          <a:xfrm>
            <a:off x="891300" y="3281692"/>
            <a:ext cx="2835000" cy="96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체육시설 · 프로그램 정보가</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여러 예약 사이트에 흩어져 있어</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한눈에 비교하기 어렵습니다.</a:t>
            </a:r>
            <a:endParaRPr i="0" sz="1500" u="none" cap="none" strike="noStrike">
              <a:solidFill>
                <a:schemeClr val="dk1"/>
              </a:solidFill>
              <a:latin typeface="Noto Sans KR"/>
              <a:ea typeface="Noto Sans KR"/>
              <a:cs typeface="Noto Sans KR"/>
              <a:sym typeface="Noto Sans KR"/>
            </a:endParaRPr>
          </a:p>
        </p:txBody>
      </p:sp>
      <p:sp>
        <p:nvSpPr>
          <p:cNvPr id="116" name="Google Shape;116;p6"/>
          <p:cNvSpPr/>
          <p:nvPr/>
        </p:nvSpPr>
        <p:spPr>
          <a:xfrm>
            <a:off x="4297565" y="1430102"/>
            <a:ext cx="3520200" cy="3017400"/>
          </a:xfrm>
          <a:prstGeom prst="roundRect">
            <a:avLst>
              <a:gd fmla="val 424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4617597" y="1750142"/>
            <a:ext cx="731400" cy="7314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6"/>
          <p:cNvPicPr preferRelativeResize="0"/>
          <p:nvPr/>
        </p:nvPicPr>
        <p:blipFill rotWithShape="1">
          <a:blip r:embed="rId4">
            <a:alphaModFix/>
          </a:blip>
          <a:srcRect b="0" l="0" r="0" t="0"/>
          <a:stretch/>
        </p:blipFill>
        <p:spPr>
          <a:xfrm>
            <a:off x="4800472" y="1933022"/>
            <a:ext cx="365750" cy="365750"/>
          </a:xfrm>
          <a:prstGeom prst="rect">
            <a:avLst/>
          </a:prstGeom>
          <a:noFill/>
          <a:ln>
            <a:noFill/>
          </a:ln>
        </p:spPr>
      </p:pic>
      <p:sp>
        <p:nvSpPr>
          <p:cNvPr id="119" name="Google Shape;119;p6"/>
          <p:cNvSpPr txBox="1"/>
          <p:nvPr/>
        </p:nvSpPr>
        <p:spPr>
          <a:xfrm>
            <a:off x="4617597" y="2664542"/>
            <a:ext cx="2925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Malgun Gothic"/>
              <a:buNone/>
            </a:pPr>
            <a:r>
              <a:rPr i="0" lang="en-US" sz="2200" u="none" cap="none" strike="noStrike">
                <a:solidFill>
                  <a:srgbClr val="1E293B"/>
                </a:solidFill>
                <a:latin typeface="Asta Sans SemiBold"/>
                <a:ea typeface="Asta Sans SemiBold"/>
                <a:cs typeface="Asta Sans SemiBold"/>
                <a:sym typeface="Asta Sans SemiBold"/>
              </a:rPr>
              <a:t>누구와?</a:t>
            </a:r>
            <a:endParaRPr i="0" sz="2200" u="none" cap="none" strike="noStrike">
              <a:solidFill>
                <a:schemeClr val="dk1"/>
              </a:solidFill>
              <a:latin typeface="Asta Sans SemiBold"/>
              <a:ea typeface="Asta Sans SemiBold"/>
              <a:cs typeface="Asta Sans SemiBold"/>
              <a:sym typeface="Asta Sans SemiBold"/>
            </a:endParaRPr>
          </a:p>
        </p:txBody>
      </p:sp>
      <p:sp>
        <p:nvSpPr>
          <p:cNvPr id="120" name="Google Shape;120;p6"/>
          <p:cNvSpPr txBox="1"/>
          <p:nvPr/>
        </p:nvSpPr>
        <p:spPr>
          <a:xfrm>
            <a:off x="4549038" y="3281679"/>
            <a:ext cx="3017400" cy="96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같은 종목 · 지역 · 실력의 사람을</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찾으려면 </a:t>
            </a:r>
            <a:r>
              <a:rPr lang="en-US" sz="1500">
                <a:solidFill>
                  <a:srgbClr val="64748B"/>
                </a:solidFill>
                <a:latin typeface="Noto Sans KR"/>
                <a:ea typeface="Noto Sans KR"/>
                <a:cs typeface="Noto Sans KR"/>
                <a:sym typeface="Noto Sans KR"/>
              </a:rPr>
              <a:t>각 운동마다</a:t>
            </a:r>
            <a:r>
              <a:rPr i="0" lang="en-US" sz="1500" u="none" cap="none" strike="noStrike">
                <a:solidFill>
                  <a:srgbClr val="64748B"/>
                </a:solidFill>
                <a:latin typeface="Noto Sans KR"/>
                <a:ea typeface="Noto Sans KR"/>
                <a:cs typeface="Noto Sans KR"/>
                <a:sym typeface="Noto Sans KR"/>
              </a:rPr>
              <a:t> 커뮤니티를</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따로 찾아봐야 합니다</a:t>
            </a:r>
            <a:r>
              <a:rPr lang="en-US" sz="1500">
                <a:solidFill>
                  <a:srgbClr val="64748B"/>
                </a:solidFill>
                <a:latin typeface="Noto Sans KR"/>
                <a:ea typeface="Noto Sans KR"/>
                <a:cs typeface="Noto Sans KR"/>
                <a:sym typeface="Noto Sans KR"/>
              </a:rPr>
              <a:t>.</a:t>
            </a:r>
            <a:endParaRPr i="0" sz="1500" u="none" cap="none" strike="noStrike">
              <a:solidFill>
                <a:schemeClr val="dk1"/>
              </a:solidFill>
              <a:latin typeface="Noto Sans KR"/>
              <a:ea typeface="Noto Sans KR"/>
              <a:cs typeface="Noto Sans KR"/>
              <a:sym typeface="Noto Sans KR"/>
            </a:endParaRPr>
          </a:p>
        </p:txBody>
      </p:sp>
      <p:sp>
        <p:nvSpPr>
          <p:cNvPr id="121" name="Google Shape;121;p6"/>
          <p:cNvSpPr/>
          <p:nvPr/>
        </p:nvSpPr>
        <p:spPr>
          <a:xfrm>
            <a:off x="8046506" y="1430102"/>
            <a:ext cx="3520200" cy="3017400"/>
          </a:xfrm>
          <a:prstGeom prst="roundRect">
            <a:avLst>
              <a:gd fmla="val 424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8366537" y="1750142"/>
            <a:ext cx="731400" cy="7314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6"/>
          <p:cNvPicPr preferRelativeResize="0"/>
          <p:nvPr/>
        </p:nvPicPr>
        <p:blipFill rotWithShape="1">
          <a:blip r:embed="rId5">
            <a:alphaModFix/>
          </a:blip>
          <a:srcRect b="0" l="0" r="0" t="0"/>
          <a:stretch/>
        </p:blipFill>
        <p:spPr>
          <a:xfrm>
            <a:off x="8549412" y="1933022"/>
            <a:ext cx="365750" cy="365750"/>
          </a:xfrm>
          <a:prstGeom prst="rect">
            <a:avLst/>
          </a:prstGeom>
          <a:noFill/>
          <a:ln>
            <a:noFill/>
          </a:ln>
        </p:spPr>
      </p:pic>
      <p:sp>
        <p:nvSpPr>
          <p:cNvPr id="124" name="Google Shape;124;p6"/>
          <p:cNvSpPr txBox="1"/>
          <p:nvPr/>
        </p:nvSpPr>
        <p:spPr>
          <a:xfrm>
            <a:off x="8366537" y="2664542"/>
            <a:ext cx="2925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Malgun Gothic"/>
              <a:buNone/>
            </a:pPr>
            <a:r>
              <a:rPr i="0" lang="en-US" sz="2200" u="none" cap="none" strike="noStrike">
                <a:solidFill>
                  <a:srgbClr val="1E293B"/>
                </a:solidFill>
                <a:latin typeface="Asta Sans SemiBold"/>
                <a:ea typeface="Asta Sans SemiBold"/>
                <a:cs typeface="Asta Sans SemiBold"/>
                <a:sym typeface="Asta Sans SemiBold"/>
              </a:rPr>
              <a:t>어떻게?</a:t>
            </a:r>
            <a:endParaRPr i="0" sz="2200" u="none" cap="none" strike="noStrike">
              <a:solidFill>
                <a:schemeClr val="dk1"/>
              </a:solidFill>
              <a:latin typeface="Asta Sans SemiBold"/>
              <a:ea typeface="Asta Sans SemiBold"/>
              <a:cs typeface="Asta Sans SemiBold"/>
              <a:sym typeface="Asta Sans SemiBold"/>
            </a:endParaRPr>
          </a:p>
        </p:txBody>
      </p:sp>
      <p:sp>
        <p:nvSpPr>
          <p:cNvPr id="125" name="Google Shape;125;p6"/>
          <p:cNvSpPr txBox="1"/>
          <p:nvPr/>
        </p:nvSpPr>
        <p:spPr>
          <a:xfrm>
            <a:off x="8320824" y="3281694"/>
            <a:ext cx="30174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종목 · 지역 · 날짜 · 실력을</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하나씩 골라 검색하는 과정이</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sz="1500" u="none" cap="none" strike="noStrike">
                <a:solidFill>
                  <a:srgbClr val="64748B"/>
                </a:solidFill>
                <a:latin typeface="Noto Sans KR"/>
                <a:ea typeface="Noto Sans KR"/>
                <a:cs typeface="Noto Sans KR"/>
                <a:sym typeface="Noto Sans KR"/>
              </a:rPr>
              <a:t>번거롭습니다.</a:t>
            </a:r>
            <a:endParaRPr i="0" sz="1500" u="none" cap="none" strike="noStrike">
              <a:solidFill>
                <a:schemeClr val="dk1"/>
              </a:solidFill>
              <a:latin typeface="Noto Sans KR"/>
              <a:ea typeface="Noto Sans KR"/>
              <a:cs typeface="Noto Sans KR"/>
              <a:sym typeface="Noto Sans KR"/>
            </a:endParaRPr>
          </a:p>
        </p:txBody>
      </p:sp>
      <p:sp>
        <p:nvSpPr>
          <p:cNvPr id="126" name="Google Shape;126;p6"/>
          <p:cNvSpPr txBox="1"/>
          <p:nvPr/>
        </p:nvSpPr>
        <p:spPr>
          <a:xfrm>
            <a:off x="3357572" y="5803500"/>
            <a:ext cx="71199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Malgun Gothic"/>
              <a:buNone/>
            </a:pPr>
            <a:r>
              <a:rPr b="1" i="0" lang="en-US" sz="2000" u="none" cap="none" strike="noStrike">
                <a:solidFill>
                  <a:srgbClr val="075BE8"/>
                </a:solidFill>
                <a:latin typeface="Asta Sans"/>
                <a:ea typeface="Asta Sans"/>
                <a:cs typeface="Asta Sans"/>
                <a:sym typeface="Asta Sans"/>
              </a:rPr>
              <a:t>시설 정보</a:t>
            </a:r>
            <a:r>
              <a:rPr b="1" lang="en-US" sz="2000">
                <a:solidFill>
                  <a:srgbClr val="075BE8"/>
                </a:solidFill>
                <a:latin typeface="Asta Sans"/>
                <a:ea typeface="Asta Sans"/>
                <a:cs typeface="Asta Sans"/>
                <a:sym typeface="Asta Sans"/>
              </a:rPr>
              <a:t>와</a:t>
            </a:r>
            <a:r>
              <a:rPr b="1" i="0" lang="en-US" sz="2000" u="none" cap="none" strike="noStrike">
                <a:solidFill>
                  <a:srgbClr val="075BE8"/>
                </a:solidFill>
                <a:latin typeface="Asta Sans"/>
                <a:ea typeface="Asta Sans"/>
                <a:cs typeface="Asta Sans"/>
                <a:sym typeface="Asta Sans"/>
              </a:rPr>
              <a:t> </a:t>
            </a:r>
            <a:r>
              <a:rPr b="1" lang="en-US" sz="2000">
                <a:solidFill>
                  <a:srgbClr val="075BE8"/>
                </a:solidFill>
                <a:latin typeface="Asta Sans"/>
                <a:ea typeface="Asta Sans"/>
                <a:cs typeface="Asta Sans"/>
                <a:sym typeface="Asta Sans"/>
              </a:rPr>
              <a:t>다양한 생활 운동</a:t>
            </a:r>
            <a:r>
              <a:rPr b="1" i="0" lang="en-US" sz="2000" u="none" cap="none" strike="noStrike">
                <a:solidFill>
                  <a:srgbClr val="075BE8"/>
                </a:solidFill>
                <a:latin typeface="Asta Sans"/>
                <a:ea typeface="Asta Sans"/>
                <a:cs typeface="Asta Sans"/>
                <a:sym typeface="Asta Sans"/>
              </a:rPr>
              <a:t> </a:t>
            </a:r>
            <a:r>
              <a:rPr b="1" lang="en-US" sz="2000">
                <a:solidFill>
                  <a:srgbClr val="075BE8"/>
                </a:solidFill>
                <a:latin typeface="Asta Sans"/>
                <a:ea typeface="Asta Sans"/>
                <a:cs typeface="Asta Sans"/>
                <a:sym typeface="Asta Sans"/>
              </a:rPr>
              <a:t>모임</a:t>
            </a:r>
            <a:r>
              <a:rPr b="1" i="0" lang="en-US" sz="2000" u="none" cap="none" strike="noStrike">
                <a:solidFill>
                  <a:srgbClr val="075BE8"/>
                </a:solidFill>
                <a:latin typeface="Asta Sans"/>
                <a:ea typeface="Asta Sans"/>
                <a:cs typeface="Asta Sans"/>
                <a:sym typeface="Asta Sans"/>
              </a:rPr>
              <a:t>을 한 곳에서 </a:t>
            </a:r>
            <a:r>
              <a:rPr b="1" lang="en-US" sz="2000">
                <a:solidFill>
                  <a:srgbClr val="075BE8"/>
                </a:solidFill>
                <a:latin typeface="Asta Sans"/>
                <a:ea typeface="Asta Sans"/>
                <a:cs typeface="Asta Sans"/>
                <a:sym typeface="Asta Sans"/>
              </a:rPr>
              <a:t>!</a:t>
            </a:r>
            <a:endParaRPr b="1" i="0" sz="2000" u="none" cap="none" strike="noStrike">
              <a:solidFill>
                <a:srgbClr val="075BE8"/>
              </a:solidFill>
              <a:latin typeface="Asta Sans"/>
              <a:ea typeface="Asta Sans"/>
              <a:cs typeface="Asta Sans"/>
              <a:sym typeface="Asta Sans"/>
            </a:endParaRPr>
          </a:p>
        </p:txBody>
      </p:sp>
      <p:sp>
        <p:nvSpPr>
          <p:cNvPr id="127" name="Google Shape;127;p6"/>
          <p:cNvSpPr/>
          <p:nvPr/>
        </p:nvSpPr>
        <p:spPr>
          <a:xfrm>
            <a:off x="5443125" y="4706100"/>
            <a:ext cx="1229100" cy="1097400"/>
          </a:xfrm>
          <a:prstGeom prst="downArrow">
            <a:avLst>
              <a:gd fmla="val 50000" name="adj1"/>
              <a:gd fmla="val 50000" name="adj2"/>
            </a:avLst>
          </a:prstGeom>
          <a:solidFill>
            <a:srgbClr val="BFDBFE"/>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6"/>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a:t>
            </a:r>
            <a:r>
              <a:rPr lang="en-US" sz="1500">
                <a:solidFill>
                  <a:srgbClr val="2563EB"/>
                </a:solidFill>
                <a:latin typeface="Asta Sans Medium"/>
                <a:ea typeface="Asta Sans Medium"/>
                <a:cs typeface="Asta Sans Medium"/>
                <a:sym typeface="Asta Sans Medium"/>
              </a:rPr>
              <a:t>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129" name="Google Shape;129;p6"/>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4" name="Shape 134"/>
        <p:cNvGrpSpPr/>
        <p:nvPr/>
      </p:nvGrpSpPr>
      <p:grpSpPr>
        <a:xfrm>
          <a:off x="0" y="0"/>
          <a:ext cx="0" cy="0"/>
          <a:chOff x="0" y="0"/>
          <a:chExt cx="0" cy="0"/>
        </a:xfrm>
      </p:grpSpPr>
      <p:sp>
        <p:nvSpPr>
          <p:cNvPr id="135" name="Google Shape;135;p7"/>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5</a:t>
            </a:r>
            <a:endParaRPr b="0" i="0" sz="1000" u="none" cap="none" strike="noStrike">
              <a:solidFill>
                <a:schemeClr val="dk1"/>
              </a:solidFill>
              <a:latin typeface="Malgun Gothic"/>
              <a:ea typeface="Malgun Gothic"/>
              <a:cs typeface="Malgun Gothic"/>
              <a:sym typeface="Malgun Gothic"/>
            </a:endParaRPr>
          </a:p>
        </p:txBody>
      </p:sp>
      <p:sp>
        <p:nvSpPr>
          <p:cNvPr id="136" name="Google Shape;136;p7"/>
          <p:cNvSpPr txBox="1"/>
          <p:nvPr/>
        </p:nvSpPr>
        <p:spPr>
          <a:xfrm>
            <a:off x="548625" y="1600200"/>
            <a:ext cx="548625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600"/>
              <a:buFont typeface="Malgun Gothic"/>
              <a:buNone/>
            </a:pPr>
            <a:r>
              <a:rPr i="0" lang="en-US" sz="2100" u="none" cap="none" strike="noStrike">
                <a:solidFill>
                  <a:srgbClr val="64748B"/>
                </a:solidFill>
                <a:latin typeface="Asta Sans ExtraBold"/>
                <a:ea typeface="Asta Sans ExtraBold"/>
                <a:cs typeface="Asta Sans ExtraBold"/>
                <a:sym typeface="Asta Sans ExtraBold"/>
              </a:rPr>
              <a:t>서비스 목표</a:t>
            </a:r>
            <a:endParaRPr i="0" sz="2100" u="none" cap="none" strike="noStrike">
              <a:solidFill>
                <a:schemeClr val="dk1"/>
              </a:solidFill>
              <a:latin typeface="Asta Sans ExtraBold"/>
              <a:ea typeface="Asta Sans ExtraBold"/>
              <a:cs typeface="Asta Sans ExtraBold"/>
              <a:sym typeface="Asta Sans ExtraBold"/>
            </a:endParaRPr>
          </a:p>
        </p:txBody>
      </p:sp>
      <p:sp>
        <p:nvSpPr>
          <p:cNvPr id="137" name="Google Shape;137;p7"/>
          <p:cNvSpPr/>
          <p:nvPr/>
        </p:nvSpPr>
        <p:spPr>
          <a:xfrm>
            <a:off x="548625" y="2057400"/>
            <a:ext cx="640062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777219" y="2286000"/>
            <a:ext cx="685782" cy="6858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9" name="Google Shape;139;p7"/>
          <p:cNvPicPr preferRelativeResize="0"/>
          <p:nvPr/>
        </p:nvPicPr>
        <p:blipFill rotWithShape="1">
          <a:blip r:embed="rId3">
            <a:alphaModFix/>
          </a:blip>
          <a:srcRect b="0" l="0" r="0" t="0"/>
          <a:stretch/>
        </p:blipFill>
        <p:spPr>
          <a:xfrm>
            <a:off x="948665" y="2457450"/>
            <a:ext cx="342891" cy="342891"/>
          </a:xfrm>
          <a:prstGeom prst="rect">
            <a:avLst/>
          </a:prstGeom>
          <a:noFill/>
          <a:ln>
            <a:noFill/>
          </a:ln>
        </p:spPr>
      </p:pic>
      <p:sp>
        <p:nvSpPr>
          <p:cNvPr id="140" name="Google Shape;140;p7"/>
          <p:cNvSpPr txBox="1"/>
          <p:nvPr/>
        </p:nvSpPr>
        <p:spPr>
          <a:xfrm>
            <a:off x="1691595" y="2240280"/>
            <a:ext cx="502906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1800" u="none" cap="none" strike="noStrike">
                <a:solidFill>
                  <a:srgbClr val="1E293B"/>
                </a:solidFill>
                <a:latin typeface="Asta Sans"/>
                <a:ea typeface="Asta Sans"/>
                <a:cs typeface="Asta Sans"/>
                <a:sym typeface="Asta Sans"/>
              </a:rPr>
              <a:t>시설 접근성</a:t>
            </a:r>
            <a:endParaRPr b="1" i="0" sz="1800" u="none" cap="none" strike="noStrike">
              <a:solidFill>
                <a:schemeClr val="dk1"/>
              </a:solidFill>
              <a:latin typeface="Asta Sans"/>
              <a:ea typeface="Asta Sans"/>
              <a:cs typeface="Asta Sans"/>
              <a:sym typeface="Asta Sans"/>
            </a:endParaRPr>
          </a:p>
        </p:txBody>
      </p:sp>
      <p:sp>
        <p:nvSpPr>
          <p:cNvPr id="141" name="Google Shape;141;p7"/>
          <p:cNvSpPr txBox="1"/>
          <p:nvPr/>
        </p:nvSpPr>
        <p:spPr>
          <a:xfrm>
            <a:off x="1691595" y="2651760"/>
            <a:ext cx="502906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400" u="none" cap="none" strike="noStrike">
                <a:solidFill>
                  <a:srgbClr val="64748B"/>
                </a:solidFill>
                <a:latin typeface="Noto Sans KR"/>
                <a:ea typeface="Noto Sans KR"/>
                <a:cs typeface="Noto Sans KR"/>
                <a:sym typeface="Noto Sans KR"/>
              </a:rPr>
              <a:t>서울시 공공체육시설 정보를 목록과 상세로 제공</a:t>
            </a:r>
            <a:endParaRPr i="0" sz="1400" u="none" cap="none" strike="noStrike">
              <a:solidFill>
                <a:schemeClr val="dk1"/>
              </a:solidFill>
              <a:latin typeface="Noto Sans KR"/>
              <a:ea typeface="Noto Sans KR"/>
              <a:cs typeface="Noto Sans KR"/>
              <a:sym typeface="Noto Sans KR"/>
            </a:endParaRPr>
          </a:p>
        </p:txBody>
      </p:sp>
      <p:sp>
        <p:nvSpPr>
          <p:cNvPr id="142" name="Google Shape;142;p7"/>
          <p:cNvSpPr/>
          <p:nvPr/>
        </p:nvSpPr>
        <p:spPr>
          <a:xfrm>
            <a:off x="548625" y="3383280"/>
            <a:ext cx="640062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777219" y="3611880"/>
            <a:ext cx="685782" cy="6858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4" name="Google Shape;144;p7"/>
          <p:cNvPicPr preferRelativeResize="0"/>
          <p:nvPr/>
        </p:nvPicPr>
        <p:blipFill rotWithShape="1">
          <a:blip r:embed="rId4">
            <a:alphaModFix/>
          </a:blip>
          <a:srcRect b="0" l="0" r="0" t="0"/>
          <a:stretch/>
        </p:blipFill>
        <p:spPr>
          <a:xfrm>
            <a:off x="948665" y="3783330"/>
            <a:ext cx="342891" cy="342891"/>
          </a:xfrm>
          <a:prstGeom prst="rect">
            <a:avLst/>
          </a:prstGeom>
          <a:noFill/>
          <a:ln>
            <a:noFill/>
          </a:ln>
        </p:spPr>
      </p:pic>
      <p:sp>
        <p:nvSpPr>
          <p:cNvPr id="145" name="Google Shape;145;p7"/>
          <p:cNvSpPr txBox="1"/>
          <p:nvPr/>
        </p:nvSpPr>
        <p:spPr>
          <a:xfrm>
            <a:off x="1691595" y="3566160"/>
            <a:ext cx="502906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1800" u="none" cap="none" strike="noStrike">
                <a:solidFill>
                  <a:srgbClr val="1E293B"/>
                </a:solidFill>
                <a:latin typeface="Asta Sans"/>
                <a:ea typeface="Asta Sans"/>
                <a:cs typeface="Asta Sans"/>
                <a:sym typeface="Asta Sans"/>
              </a:rPr>
              <a:t>쉬운 매칭</a:t>
            </a:r>
            <a:endParaRPr b="1" i="0" sz="1800" u="none" cap="none" strike="noStrike">
              <a:solidFill>
                <a:schemeClr val="dk1"/>
              </a:solidFill>
              <a:latin typeface="Asta Sans"/>
              <a:ea typeface="Asta Sans"/>
              <a:cs typeface="Asta Sans"/>
              <a:sym typeface="Asta Sans"/>
            </a:endParaRPr>
          </a:p>
        </p:txBody>
      </p:sp>
      <p:sp>
        <p:nvSpPr>
          <p:cNvPr id="146" name="Google Shape;146;p7"/>
          <p:cNvSpPr txBox="1"/>
          <p:nvPr/>
        </p:nvSpPr>
        <p:spPr>
          <a:xfrm>
            <a:off x="1691595" y="3977640"/>
            <a:ext cx="502906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400" u="none" cap="none" strike="noStrike">
                <a:solidFill>
                  <a:srgbClr val="64748B"/>
                </a:solidFill>
                <a:latin typeface="Noto Sans KR"/>
                <a:ea typeface="Noto Sans KR"/>
                <a:cs typeface="Noto Sans KR"/>
                <a:sym typeface="Noto Sans KR"/>
              </a:rPr>
              <a:t>종목·지역·실력 기반 매치 생성, 조회, 참여</a:t>
            </a:r>
            <a:endParaRPr i="0" sz="1400" u="none" cap="none" strike="noStrike">
              <a:solidFill>
                <a:schemeClr val="dk1"/>
              </a:solidFill>
              <a:latin typeface="Noto Sans KR"/>
              <a:ea typeface="Noto Sans KR"/>
              <a:cs typeface="Noto Sans KR"/>
              <a:sym typeface="Noto Sans KR"/>
            </a:endParaRPr>
          </a:p>
        </p:txBody>
      </p:sp>
      <p:sp>
        <p:nvSpPr>
          <p:cNvPr id="147" name="Google Shape;147;p7"/>
          <p:cNvSpPr/>
          <p:nvPr/>
        </p:nvSpPr>
        <p:spPr>
          <a:xfrm>
            <a:off x="548625" y="4709160"/>
            <a:ext cx="640062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777219" y="4937760"/>
            <a:ext cx="685782" cy="685800"/>
          </a:xfrm>
          <a:prstGeom prst="ellipse">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7"/>
          <p:cNvPicPr preferRelativeResize="0"/>
          <p:nvPr/>
        </p:nvPicPr>
        <p:blipFill rotWithShape="1">
          <a:blip r:embed="rId5">
            <a:alphaModFix/>
          </a:blip>
          <a:srcRect b="0" l="0" r="0" t="0"/>
          <a:stretch/>
        </p:blipFill>
        <p:spPr>
          <a:xfrm>
            <a:off x="948665" y="5109210"/>
            <a:ext cx="342891" cy="342891"/>
          </a:xfrm>
          <a:prstGeom prst="rect">
            <a:avLst/>
          </a:prstGeom>
          <a:noFill/>
          <a:ln>
            <a:noFill/>
          </a:ln>
        </p:spPr>
      </p:pic>
      <p:sp>
        <p:nvSpPr>
          <p:cNvPr id="150" name="Google Shape;150;p7"/>
          <p:cNvSpPr txBox="1"/>
          <p:nvPr/>
        </p:nvSpPr>
        <p:spPr>
          <a:xfrm>
            <a:off x="1691595" y="4892040"/>
            <a:ext cx="502906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1800" u="none" cap="none" strike="noStrike">
                <a:solidFill>
                  <a:srgbClr val="1E293B"/>
                </a:solidFill>
                <a:latin typeface="Asta Sans"/>
                <a:ea typeface="Asta Sans"/>
                <a:cs typeface="Asta Sans"/>
                <a:sym typeface="Asta Sans"/>
              </a:rPr>
              <a:t>AI 자연어 매칭</a:t>
            </a:r>
            <a:endParaRPr b="1" i="0" sz="1800" u="none" cap="none" strike="noStrike">
              <a:solidFill>
                <a:schemeClr val="dk1"/>
              </a:solidFill>
              <a:latin typeface="Asta Sans"/>
              <a:ea typeface="Asta Sans"/>
              <a:cs typeface="Asta Sans"/>
              <a:sym typeface="Asta Sans"/>
            </a:endParaRPr>
          </a:p>
        </p:txBody>
      </p:sp>
      <p:sp>
        <p:nvSpPr>
          <p:cNvPr id="151" name="Google Shape;151;p7"/>
          <p:cNvSpPr txBox="1"/>
          <p:nvPr/>
        </p:nvSpPr>
        <p:spPr>
          <a:xfrm>
            <a:off x="1691595" y="5303520"/>
            <a:ext cx="502906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400" u="none" cap="none" strike="noStrike">
                <a:solidFill>
                  <a:srgbClr val="64748B"/>
                </a:solidFill>
                <a:latin typeface="Noto Sans KR"/>
                <a:ea typeface="Noto Sans KR"/>
                <a:cs typeface="Noto Sans KR"/>
                <a:sym typeface="Noto Sans KR"/>
              </a:rPr>
              <a:t>문장 한 줄로 검색, 매치 초안 생성, 맞춤 추천</a:t>
            </a:r>
            <a:endParaRPr i="0" sz="1400" u="none" cap="none" strike="noStrike">
              <a:solidFill>
                <a:schemeClr val="dk1"/>
              </a:solidFill>
              <a:latin typeface="Noto Sans KR"/>
              <a:ea typeface="Noto Sans KR"/>
              <a:cs typeface="Noto Sans KR"/>
              <a:sym typeface="Noto Sans KR"/>
            </a:endParaRPr>
          </a:p>
        </p:txBody>
      </p:sp>
      <p:sp>
        <p:nvSpPr>
          <p:cNvPr id="152" name="Google Shape;152;p7"/>
          <p:cNvSpPr/>
          <p:nvPr/>
        </p:nvSpPr>
        <p:spPr>
          <a:xfrm>
            <a:off x="7315005" y="1600200"/>
            <a:ext cx="4297565" cy="4434840"/>
          </a:xfrm>
          <a:prstGeom prst="roundRect">
            <a:avLst>
              <a:gd fmla="val 2979"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txBox="1"/>
          <p:nvPr/>
        </p:nvSpPr>
        <p:spPr>
          <a:xfrm>
            <a:off x="7635036" y="1874520"/>
            <a:ext cx="3657503"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600"/>
              <a:buFont typeface="Malgun Gothic"/>
              <a:buNone/>
            </a:pPr>
            <a:r>
              <a:rPr i="0" lang="en-US" sz="1600" u="none" cap="none" strike="noStrike">
                <a:solidFill>
                  <a:srgbClr val="64748B"/>
                </a:solidFill>
                <a:latin typeface="Asta Sans SemiBold"/>
                <a:ea typeface="Asta Sans SemiBold"/>
                <a:cs typeface="Asta Sans SemiBold"/>
                <a:sym typeface="Asta Sans SemiBold"/>
              </a:rPr>
              <a:t>주요 사용자</a:t>
            </a:r>
            <a:endParaRPr i="0" sz="1600" u="none" cap="none" strike="noStrike">
              <a:solidFill>
                <a:schemeClr val="dk1"/>
              </a:solidFill>
              <a:latin typeface="Asta Sans SemiBold"/>
              <a:ea typeface="Asta Sans SemiBold"/>
              <a:cs typeface="Asta Sans SemiBold"/>
              <a:sym typeface="Asta Sans SemiBold"/>
            </a:endParaRPr>
          </a:p>
        </p:txBody>
      </p:sp>
      <p:sp>
        <p:nvSpPr>
          <p:cNvPr id="154" name="Google Shape;154;p7"/>
          <p:cNvSpPr txBox="1"/>
          <p:nvPr/>
        </p:nvSpPr>
        <p:spPr>
          <a:xfrm>
            <a:off x="7635036" y="2286000"/>
            <a:ext cx="37489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2000"/>
              <a:buFont typeface="Malgun Gothic"/>
              <a:buNone/>
            </a:pPr>
            <a:r>
              <a:rPr i="0" lang="en-US" sz="2000" u="none" cap="none" strike="noStrike">
                <a:solidFill>
                  <a:srgbClr val="2563EB"/>
                </a:solidFill>
                <a:latin typeface="Asta Sans SemiBold"/>
                <a:ea typeface="Asta Sans SemiBold"/>
                <a:cs typeface="Asta Sans SemiBold"/>
                <a:sym typeface="Asta Sans SemiBold"/>
              </a:rPr>
              <a:t>운동을 희망하는 남녀노소</a:t>
            </a:r>
            <a:endParaRPr i="0" sz="2000" u="none" cap="none" strike="noStrike">
              <a:solidFill>
                <a:schemeClr val="dk1"/>
              </a:solidFill>
              <a:latin typeface="Asta Sans SemiBold"/>
              <a:ea typeface="Asta Sans SemiBold"/>
              <a:cs typeface="Asta Sans SemiBold"/>
              <a:sym typeface="Asta Sans SemiBold"/>
            </a:endParaRPr>
          </a:p>
        </p:txBody>
      </p:sp>
      <p:sp>
        <p:nvSpPr>
          <p:cNvPr id="155" name="Google Shape;155;p7"/>
          <p:cNvSpPr/>
          <p:nvPr/>
        </p:nvSpPr>
        <p:spPr>
          <a:xfrm>
            <a:off x="7635036" y="3017520"/>
            <a:ext cx="3657503" cy="685800"/>
          </a:xfrm>
          <a:prstGeom prst="roundRect">
            <a:avLst>
              <a:gd fmla="val 18667" name="adj"/>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txBox="1"/>
          <p:nvPr/>
        </p:nvSpPr>
        <p:spPr>
          <a:xfrm>
            <a:off x="7863630" y="3017520"/>
            <a:ext cx="329175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i="0" lang="en-US" sz="1400" u="none" cap="none" strike="noStrike">
                <a:solidFill>
                  <a:srgbClr val="1E293B"/>
                </a:solidFill>
                <a:latin typeface="Noto Sans KR"/>
                <a:ea typeface="Noto Sans KR"/>
                <a:cs typeface="Noto Sans KR"/>
                <a:sym typeface="Noto Sans KR"/>
              </a:rPr>
              <a:t>운동을 새로 시작하려는 입문자</a:t>
            </a:r>
            <a:endParaRPr i="0" sz="1400" u="none" cap="none" strike="noStrike">
              <a:solidFill>
                <a:schemeClr val="dk1"/>
              </a:solidFill>
              <a:latin typeface="Noto Sans KR"/>
              <a:ea typeface="Noto Sans KR"/>
              <a:cs typeface="Noto Sans KR"/>
              <a:sym typeface="Noto Sans KR"/>
            </a:endParaRPr>
          </a:p>
        </p:txBody>
      </p:sp>
      <p:sp>
        <p:nvSpPr>
          <p:cNvPr id="157" name="Google Shape;157;p7"/>
          <p:cNvSpPr/>
          <p:nvPr/>
        </p:nvSpPr>
        <p:spPr>
          <a:xfrm>
            <a:off x="7635036" y="3886200"/>
            <a:ext cx="3657503" cy="685800"/>
          </a:xfrm>
          <a:prstGeom prst="roundRect">
            <a:avLst>
              <a:gd fmla="val 18667" name="adj"/>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txBox="1"/>
          <p:nvPr/>
        </p:nvSpPr>
        <p:spPr>
          <a:xfrm>
            <a:off x="7863630" y="3886200"/>
            <a:ext cx="329175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i="0" lang="en-US" sz="1400" u="none" cap="none" strike="noStrike">
                <a:solidFill>
                  <a:srgbClr val="1E293B"/>
                </a:solidFill>
                <a:latin typeface="Noto Sans KR"/>
                <a:ea typeface="Noto Sans KR"/>
                <a:cs typeface="Noto Sans KR"/>
                <a:sym typeface="Noto Sans KR"/>
              </a:rPr>
              <a:t>함께할 사람이 필요한 생활체육 동호인</a:t>
            </a:r>
            <a:endParaRPr i="0" sz="1400" u="none" cap="none" strike="noStrike">
              <a:solidFill>
                <a:schemeClr val="dk1"/>
              </a:solidFill>
              <a:latin typeface="Noto Sans KR"/>
              <a:ea typeface="Noto Sans KR"/>
              <a:cs typeface="Noto Sans KR"/>
              <a:sym typeface="Noto Sans KR"/>
            </a:endParaRPr>
          </a:p>
        </p:txBody>
      </p:sp>
      <p:sp>
        <p:nvSpPr>
          <p:cNvPr id="159" name="Google Shape;159;p7"/>
          <p:cNvSpPr/>
          <p:nvPr/>
        </p:nvSpPr>
        <p:spPr>
          <a:xfrm>
            <a:off x="7635036" y="4754880"/>
            <a:ext cx="3657503" cy="685800"/>
          </a:xfrm>
          <a:prstGeom prst="roundRect">
            <a:avLst>
              <a:gd fmla="val 18667" name="adj"/>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txBox="1"/>
          <p:nvPr/>
        </p:nvSpPr>
        <p:spPr>
          <a:xfrm>
            <a:off x="7863630" y="4754880"/>
            <a:ext cx="329175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i="0" lang="en-US" sz="1400" u="none" cap="none" strike="noStrike">
                <a:solidFill>
                  <a:srgbClr val="1E293B"/>
                </a:solidFill>
                <a:latin typeface="Noto Sans KR"/>
                <a:ea typeface="Noto Sans KR"/>
                <a:cs typeface="Noto Sans KR"/>
                <a:sym typeface="Noto Sans KR"/>
              </a:rPr>
              <a:t>가까운 공공체육시설을 찾는 시민</a:t>
            </a:r>
            <a:endParaRPr i="0" sz="1400" u="none" cap="none" strike="noStrike">
              <a:solidFill>
                <a:schemeClr val="dk1"/>
              </a:solidFill>
              <a:latin typeface="Noto Sans KR"/>
              <a:ea typeface="Noto Sans KR"/>
              <a:cs typeface="Noto Sans KR"/>
              <a:sym typeface="Noto Sans KR"/>
            </a:endParaRPr>
          </a:p>
        </p:txBody>
      </p:sp>
      <p:sp>
        <p:nvSpPr>
          <p:cNvPr id="161" name="Google Shape;161;p7"/>
          <p:cNvSpPr txBox="1"/>
          <p:nvPr/>
        </p:nvSpPr>
        <p:spPr>
          <a:xfrm>
            <a:off x="563838" y="809119"/>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시설부터 사람까지, 한 곳에서 연결합니다</a:t>
            </a:r>
            <a:endParaRPr b="1" i="0" sz="2800" u="none" cap="none" strike="noStrike">
              <a:solidFill>
                <a:schemeClr val="dk1"/>
              </a:solidFill>
              <a:latin typeface="Asta Sans"/>
              <a:ea typeface="Asta Sans"/>
              <a:cs typeface="Asta Sans"/>
              <a:sym typeface="Asta Sans"/>
            </a:endParaRPr>
          </a:p>
        </p:txBody>
      </p:sp>
      <p:sp>
        <p:nvSpPr>
          <p:cNvPr id="162" name="Google Shape;162;p7"/>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163" name="Google Shape;163;p7"/>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8" name="Shape 168"/>
        <p:cNvGrpSpPr/>
        <p:nvPr/>
      </p:nvGrpSpPr>
      <p:grpSpPr>
        <a:xfrm>
          <a:off x="0" y="0"/>
          <a:ext cx="0" cy="0"/>
          <a:chOff x="0" y="0"/>
          <a:chExt cx="0" cy="0"/>
        </a:xfrm>
      </p:grpSpPr>
      <p:sp>
        <p:nvSpPr>
          <p:cNvPr id="169" name="Google Shape;169;p8"/>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이슈 → 브랜치 → PR 리뷰로 함께 만들었습니다</a:t>
            </a:r>
            <a:endParaRPr b="1" i="0" sz="2800" u="none" cap="none" strike="noStrike">
              <a:solidFill>
                <a:schemeClr val="dk1"/>
              </a:solidFill>
              <a:latin typeface="Asta Sans"/>
              <a:ea typeface="Asta Sans"/>
              <a:cs typeface="Asta Sans"/>
              <a:sym typeface="Asta Sans"/>
            </a:endParaRPr>
          </a:p>
        </p:txBody>
      </p:sp>
      <p:sp>
        <p:nvSpPr>
          <p:cNvPr id="170" name="Google Shape;170;p8"/>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6</a:t>
            </a:r>
            <a:endParaRPr b="0" i="0" sz="1000" u="none" cap="none" strike="noStrike">
              <a:solidFill>
                <a:schemeClr val="dk1"/>
              </a:solidFill>
              <a:latin typeface="Malgun Gothic"/>
              <a:ea typeface="Malgun Gothic"/>
              <a:cs typeface="Malgun Gothic"/>
              <a:sym typeface="Malgun Gothic"/>
            </a:endParaRPr>
          </a:p>
        </p:txBody>
      </p:sp>
      <p:sp>
        <p:nvSpPr>
          <p:cNvPr id="171" name="Google Shape;171;p8"/>
          <p:cNvSpPr/>
          <p:nvPr/>
        </p:nvSpPr>
        <p:spPr>
          <a:xfrm>
            <a:off x="548625" y="1691640"/>
            <a:ext cx="1965908" cy="2011680"/>
          </a:xfrm>
          <a:prstGeom prst="roundRect">
            <a:avLst>
              <a:gd fmla="val 65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1206976" y="192024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8"/>
          <p:cNvPicPr preferRelativeResize="0"/>
          <p:nvPr/>
        </p:nvPicPr>
        <p:blipFill rotWithShape="1">
          <a:blip r:embed="rId3">
            <a:alphaModFix/>
          </a:blip>
          <a:srcRect b="0" l="0" r="0" t="0"/>
          <a:stretch/>
        </p:blipFill>
        <p:spPr>
          <a:xfrm>
            <a:off x="1366992" y="2080260"/>
            <a:ext cx="320031" cy="320031"/>
          </a:xfrm>
          <a:prstGeom prst="rect">
            <a:avLst/>
          </a:prstGeom>
          <a:noFill/>
          <a:ln>
            <a:noFill/>
          </a:ln>
        </p:spPr>
      </p:pic>
      <p:sp>
        <p:nvSpPr>
          <p:cNvPr id="174" name="Google Shape;174;p8"/>
          <p:cNvSpPr txBox="1"/>
          <p:nvPr/>
        </p:nvSpPr>
        <p:spPr>
          <a:xfrm>
            <a:off x="640063" y="269748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i="0" lang="en-US" sz="1600" u="none" cap="none" strike="noStrike">
                <a:solidFill>
                  <a:srgbClr val="1E293B"/>
                </a:solidFill>
                <a:latin typeface="Asta Sans SemiBold"/>
                <a:ea typeface="Asta Sans SemiBold"/>
                <a:cs typeface="Asta Sans SemiBold"/>
                <a:sym typeface="Asta Sans SemiBold"/>
              </a:rPr>
              <a:t>이슈 등록</a:t>
            </a:r>
            <a:endParaRPr i="0" sz="1600" u="none" cap="none" strike="noStrike">
              <a:solidFill>
                <a:schemeClr val="dk1"/>
              </a:solidFill>
              <a:latin typeface="Asta Sans SemiBold"/>
              <a:ea typeface="Asta Sans SemiBold"/>
              <a:cs typeface="Asta Sans SemiBold"/>
              <a:sym typeface="Asta Sans SemiBold"/>
            </a:endParaRPr>
          </a:p>
        </p:txBody>
      </p:sp>
      <p:sp>
        <p:nvSpPr>
          <p:cNvPr id="175" name="Google Shape;175;p8"/>
          <p:cNvSpPr txBox="1"/>
          <p:nvPr/>
        </p:nvSpPr>
        <p:spPr>
          <a:xfrm>
            <a:off x="640063" y="306324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기능·버그 단위</a:t>
            </a:r>
            <a:endParaRPr i="0" sz="1300" u="none" cap="none" strike="noStrike">
              <a:solidFill>
                <a:schemeClr val="dk1"/>
              </a:solidFill>
              <a:latin typeface="Noto Sans KR"/>
              <a:ea typeface="Noto Sans KR"/>
              <a:cs typeface="Noto Sans KR"/>
              <a:sym typeface="Noto Sans KR"/>
            </a:endParaRPr>
          </a:p>
        </p:txBody>
      </p:sp>
      <p:cxnSp>
        <p:nvCxnSpPr>
          <p:cNvPr id="176" name="Google Shape;176;p8"/>
          <p:cNvCxnSpPr/>
          <p:nvPr/>
        </p:nvCxnSpPr>
        <p:spPr>
          <a:xfrm>
            <a:off x="2541964" y="2697480"/>
            <a:ext cx="265169" cy="0"/>
          </a:xfrm>
          <a:prstGeom prst="straightConnector1">
            <a:avLst/>
          </a:prstGeom>
          <a:noFill/>
          <a:ln cap="flat" cmpd="sng" w="19050">
            <a:solidFill>
              <a:srgbClr val="94A3B8"/>
            </a:solidFill>
            <a:prstDash val="solid"/>
            <a:round/>
            <a:headEnd len="sm" w="sm" type="none"/>
            <a:tailEnd len="med" w="med" type="triangle"/>
          </a:ln>
        </p:spPr>
      </p:cxnSp>
      <p:sp>
        <p:nvSpPr>
          <p:cNvPr id="177" name="Google Shape;177;p8"/>
          <p:cNvSpPr/>
          <p:nvPr/>
        </p:nvSpPr>
        <p:spPr>
          <a:xfrm>
            <a:off x="2834564" y="1691640"/>
            <a:ext cx="1965908" cy="2011680"/>
          </a:xfrm>
          <a:prstGeom prst="roundRect">
            <a:avLst>
              <a:gd fmla="val 65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3492915" y="192024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 name="Google Shape;179;p8"/>
          <p:cNvPicPr preferRelativeResize="0"/>
          <p:nvPr/>
        </p:nvPicPr>
        <p:blipFill rotWithShape="1">
          <a:blip r:embed="rId4">
            <a:alphaModFix/>
          </a:blip>
          <a:srcRect b="0" l="0" r="0" t="0"/>
          <a:stretch/>
        </p:blipFill>
        <p:spPr>
          <a:xfrm>
            <a:off x="3652931" y="2080260"/>
            <a:ext cx="320031" cy="320031"/>
          </a:xfrm>
          <a:prstGeom prst="rect">
            <a:avLst/>
          </a:prstGeom>
          <a:noFill/>
          <a:ln>
            <a:noFill/>
          </a:ln>
        </p:spPr>
      </p:pic>
      <p:sp>
        <p:nvSpPr>
          <p:cNvPr id="180" name="Google Shape;180;p8"/>
          <p:cNvSpPr txBox="1"/>
          <p:nvPr/>
        </p:nvSpPr>
        <p:spPr>
          <a:xfrm>
            <a:off x="2926002" y="269748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i="0" lang="en-US" sz="1600" u="none" cap="none" strike="noStrike">
                <a:solidFill>
                  <a:srgbClr val="1E293B"/>
                </a:solidFill>
                <a:latin typeface="Asta Sans SemiBold"/>
                <a:ea typeface="Asta Sans SemiBold"/>
                <a:cs typeface="Asta Sans SemiBold"/>
                <a:sym typeface="Asta Sans SemiBold"/>
              </a:rPr>
              <a:t>feat 브랜치</a:t>
            </a:r>
            <a:endParaRPr i="0" sz="1600" u="none" cap="none" strike="noStrike">
              <a:solidFill>
                <a:schemeClr val="dk1"/>
              </a:solidFill>
              <a:latin typeface="Asta Sans SemiBold"/>
              <a:ea typeface="Asta Sans SemiBold"/>
              <a:cs typeface="Asta Sans SemiBold"/>
              <a:sym typeface="Asta Sans SemiBold"/>
            </a:endParaRPr>
          </a:p>
        </p:txBody>
      </p:sp>
      <p:sp>
        <p:nvSpPr>
          <p:cNvPr id="181" name="Google Shape;181;p8"/>
          <p:cNvSpPr txBox="1"/>
          <p:nvPr/>
        </p:nvSpPr>
        <p:spPr>
          <a:xfrm>
            <a:off x="2926002" y="306324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develop에서 분기</a:t>
            </a:r>
            <a:endParaRPr i="0" sz="1300" u="none" cap="none" strike="noStrike">
              <a:solidFill>
                <a:schemeClr val="dk1"/>
              </a:solidFill>
              <a:latin typeface="Noto Sans KR"/>
              <a:ea typeface="Noto Sans KR"/>
              <a:cs typeface="Noto Sans KR"/>
              <a:sym typeface="Noto Sans KR"/>
            </a:endParaRPr>
          </a:p>
        </p:txBody>
      </p:sp>
      <p:cxnSp>
        <p:nvCxnSpPr>
          <p:cNvPr id="182" name="Google Shape;182;p8"/>
          <p:cNvCxnSpPr/>
          <p:nvPr/>
        </p:nvCxnSpPr>
        <p:spPr>
          <a:xfrm>
            <a:off x="4827903" y="2697480"/>
            <a:ext cx="265169" cy="0"/>
          </a:xfrm>
          <a:prstGeom prst="straightConnector1">
            <a:avLst/>
          </a:prstGeom>
          <a:noFill/>
          <a:ln cap="flat" cmpd="sng" w="19050">
            <a:solidFill>
              <a:srgbClr val="94A3B8"/>
            </a:solidFill>
            <a:prstDash val="solid"/>
            <a:round/>
            <a:headEnd len="sm" w="sm" type="none"/>
            <a:tailEnd len="med" w="med" type="triangle"/>
          </a:ln>
        </p:spPr>
      </p:cxnSp>
      <p:sp>
        <p:nvSpPr>
          <p:cNvPr id="183" name="Google Shape;183;p8"/>
          <p:cNvSpPr/>
          <p:nvPr/>
        </p:nvSpPr>
        <p:spPr>
          <a:xfrm>
            <a:off x="5120504" y="1691640"/>
            <a:ext cx="1965908" cy="2011680"/>
          </a:xfrm>
          <a:prstGeom prst="roundRect">
            <a:avLst>
              <a:gd fmla="val 65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5778854" y="192024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5" name="Google Shape;185;p8"/>
          <p:cNvPicPr preferRelativeResize="0"/>
          <p:nvPr/>
        </p:nvPicPr>
        <p:blipFill rotWithShape="1">
          <a:blip r:embed="rId5">
            <a:alphaModFix/>
          </a:blip>
          <a:srcRect b="0" l="0" r="0" t="0"/>
          <a:stretch/>
        </p:blipFill>
        <p:spPr>
          <a:xfrm>
            <a:off x="5938870" y="2080260"/>
            <a:ext cx="320031" cy="320031"/>
          </a:xfrm>
          <a:prstGeom prst="rect">
            <a:avLst/>
          </a:prstGeom>
          <a:noFill/>
          <a:ln>
            <a:noFill/>
          </a:ln>
        </p:spPr>
      </p:pic>
      <p:sp>
        <p:nvSpPr>
          <p:cNvPr id="186" name="Google Shape;186;p8"/>
          <p:cNvSpPr txBox="1"/>
          <p:nvPr/>
        </p:nvSpPr>
        <p:spPr>
          <a:xfrm>
            <a:off x="5211941" y="269748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i="0" lang="en-US" sz="1600" u="none" cap="none" strike="noStrike">
                <a:solidFill>
                  <a:srgbClr val="1E293B"/>
                </a:solidFill>
                <a:latin typeface="Asta Sans SemiBold"/>
                <a:ea typeface="Asta Sans SemiBold"/>
                <a:cs typeface="Asta Sans SemiBold"/>
                <a:sym typeface="Asta Sans SemiBold"/>
              </a:rPr>
              <a:t>커밋</a:t>
            </a:r>
            <a:endParaRPr i="0" sz="1600" u="none" cap="none" strike="noStrike">
              <a:solidFill>
                <a:schemeClr val="dk1"/>
              </a:solidFill>
              <a:latin typeface="Asta Sans SemiBold"/>
              <a:ea typeface="Asta Sans SemiBold"/>
              <a:cs typeface="Asta Sans SemiBold"/>
              <a:sym typeface="Asta Sans SemiBold"/>
            </a:endParaRPr>
          </a:p>
        </p:txBody>
      </p:sp>
      <p:sp>
        <p:nvSpPr>
          <p:cNvPr id="187" name="Google Shape;187;p8"/>
          <p:cNvSpPr txBox="1"/>
          <p:nvPr/>
        </p:nvSpPr>
        <p:spPr>
          <a:xfrm>
            <a:off x="5211941" y="306324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Conventional Commits</a:t>
            </a:r>
            <a:endParaRPr i="0" sz="1300" u="none" cap="none" strike="noStrike">
              <a:solidFill>
                <a:schemeClr val="dk1"/>
              </a:solidFill>
              <a:latin typeface="Noto Sans KR"/>
              <a:ea typeface="Noto Sans KR"/>
              <a:cs typeface="Noto Sans KR"/>
              <a:sym typeface="Noto Sans KR"/>
            </a:endParaRPr>
          </a:p>
        </p:txBody>
      </p:sp>
      <p:cxnSp>
        <p:nvCxnSpPr>
          <p:cNvPr id="188" name="Google Shape;188;p8"/>
          <p:cNvCxnSpPr/>
          <p:nvPr/>
        </p:nvCxnSpPr>
        <p:spPr>
          <a:xfrm>
            <a:off x="7113842" y="2697480"/>
            <a:ext cx="265169" cy="0"/>
          </a:xfrm>
          <a:prstGeom prst="straightConnector1">
            <a:avLst/>
          </a:prstGeom>
          <a:noFill/>
          <a:ln cap="flat" cmpd="sng" w="19050">
            <a:solidFill>
              <a:srgbClr val="94A3B8"/>
            </a:solidFill>
            <a:prstDash val="solid"/>
            <a:round/>
            <a:headEnd len="sm" w="sm" type="none"/>
            <a:tailEnd len="med" w="med" type="triangle"/>
          </a:ln>
        </p:spPr>
      </p:cxnSp>
      <p:sp>
        <p:nvSpPr>
          <p:cNvPr id="189" name="Google Shape;189;p8"/>
          <p:cNvSpPr/>
          <p:nvPr/>
        </p:nvSpPr>
        <p:spPr>
          <a:xfrm>
            <a:off x="7406443" y="1691640"/>
            <a:ext cx="1965908" cy="2011680"/>
          </a:xfrm>
          <a:prstGeom prst="roundRect">
            <a:avLst>
              <a:gd fmla="val 65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8064793" y="192024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8"/>
          <p:cNvPicPr preferRelativeResize="0"/>
          <p:nvPr/>
        </p:nvPicPr>
        <p:blipFill rotWithShape="1">
          <a:blip r:embed="rId6">
            <a:alphaModFix/>
          </a:blip>
          <a:srcRect b="0" l="0" r="0" t="0"/>
          <a:stretch/>
        </p:blipFill>
        <p:spPr>
          <a:xfrm>
            <a:off x="8224809" y="2080260"/>
            <a:ext cx="320031" cy="320031"/>
          </a:xfrm>
          <a:prstGeom prst="rect">
            <a:avLst/>
          </a:prstGeom>
          <a:noFill/>
          <a:ln>
            <a:noFill/>
          </a:ln>
        </p:spPr>
      </p:pic>
      <p:sp>
        <p:nvSpPr>
          <p:cNvPr id="192" name="Google Shape;192;p8"/>
          <p:cNvSpPr txBox="1"/>
          <p:nvPr/>
        </p:nvSpPr>
        <p:spPr>
          <a:xfrm>
            <a:off x="7497880" y="269748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i="0" lang="en-US" sz="1600" u="none" cap="none" strike="noStrike">
                <a:solidFill>
                  <a:srgbClr val="1E293B"/>
                </a:solidFill>
                <a:latin typeface="Asta Sans SemiBold"/>
                <a:ea typeface="Asta Sans SemiBold"/>
                <a:cs typeface="Asta Sans SemiBold"/>
                <a:sym typeface="Asta Sans SemiBold"/>
              </a:rPr>
              <a:t>PR · 코드 리뷰</a:t>
            </a:r>
            <a:endParaRPr i="0" sz="1600" u="none" cap="none" strike="noStrike">
              <a:solidFill>
                <a:schemeClr val="dk1"/>
              </a:solidFill>
              <a:latin typeface="Asta Sans SemiBold"/>
              <a:ea typeface="Asta Sans SemiBold"/>
              <a:cs typeface="Asta Sans SemiBold"/>
              <a:sym typeface="Asta Sans SemiBold"/>
            </a:endParaRPr>
          </a:p>
        </p:txBody>
      </p:sp>
      <p:sp>
        <p:nvSpPr>
          <p:cNvPr id="193" name="Google Shape;193;p8"/>
          <p:cNvSpPr txBox="1"/>
          <p:nvPr/>
        </p:nvSpPr>
        <p:spPr>
          <a:xfrm>
            <a:off x="7497880" y="306324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팀원 승인 후 머지</a:t>
            </a:r>
            <a:endParaRPr i="0" sz="1300" u="none" cap="none" strike="noStrike">
              <a:solidFill>
                <a:schemeClr val="dk1"/>
              </a:solidFill>
              <a:latin typeface="Noto Sans KR"/>
              <a:ea typeface="Noto Sans KR"/>
              <a:cs typeface="Noto Sans KR"/>
              <a:sym typeface="Noto Sans KR"/>
            </a:endParaRPr>
          </a:p>
        </p:txBody>
      </p:sp>
      <p:cxnSp>
        <p:nvCxnSpPr>
          <p:cNvPr id="194" name="Google Shape;194;p8"/>
          <p:cNvCxnSpPr/>
          <p:nvPr/>
        </p:nvCxnSpPr>
        <p:spPr>
          <a:xfrm>
            <a:off x="9399781" y="2697480"/>
            <a:ext cx="265169" cy="0"/>
          </a:xfrm>
          <a:prstGeom prst="straightConnector1">
            <a:avLst/>
          </a:prstGeom>
          <a:noFill/>
          <a:ln cap="flat" cmpd="sng" w="19050">
            <a:solidFill>
              <a:srgbClr val="94A3B8"/>
            </a:solidFill>
            <a:prstDash val="solid"/>
            <a:round/>
            <a:headEnd len="sm" w="sm" type="none"/>
            <a:tailEnd len="med" w="med" type="triangle"/>
          </a:ln>
        </p:spPr>
      </p:cxnSp>
      <p:sp>
        <p:nvSpPr>
          <p:cNvPr id="195" name="Google Shape;195;p8"/>
          <p:cNvSpPr/>
          <p:nvPr/>
        </p:nvSpPr>
        <p:spPr>
          <a:xfrm>
            <a:off x="9692382" y="1691640"/>
            <a:ext cx="1965908" cy="2011680"/>
          </a:xfrm>
          <a:prstGeom prst="roundRect">
            <a:avLst>
              <a:gd fmla="val 65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10350732" y="192024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8"/>
          <p:cNvPicPr preferRelativeResize="0"/>
          <p:nvPr/>
        </p:nvPicPr>
        <p:blipFill rotWithShape="1">
          <a:blip r:embed="rId7">
            <a:alphaModFix/>
          </a:blip>
          <a:srcRect b="0" l="0" r="0" t="0"/>
          <a:stretch/>
        </p:blipFill>
        <p:spPr>
          <a:xfrm>
            <a:off x="10510748" y="2080260"/>
            <a:ext cx="320031" cy="320031"/>
          </a:xfrm>
          <a:prstGeom prst="rect">
            <a:avLst/>
          </a:prstGeom>
          <a:noFill/>
          <a:ln>
            <a:noFill/>
          </a:ln>
        </p:spPr>
      </p:pic>
      <p:sp>
        <p:nvSpPr>
          <p:cNvPr id="198" name="Google Shape;198;p8"/>
          <p:cNvSpPr txBox="1"/>
          <p:nvPr/>
        </p:nvSpPr>
        <p:spPr>
          <a:xfrm>
            <a:off x="9783819" y="269748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i="0" lang="en-US" sz="1600" u="none" cap="none" strike="noStrike">
                <a:solidFill>
                  <a:srgbClr val="1E293B"/>
                </a:solidFill>
                <a:latin typeface="Asta Sans SemiBold"/>
                <a:ea typeface="Asta Sans SemiBold"/>
                <a:cs typeface="Asta Sans SemiBold"/>
                <a:sym typeface="Asta Sans SemiBold"/>
              </a:rPr>
              <a:t>develop 통합</a:t>
            </a:r>
            <a:endParaRPr i="0" sz="1600" u="none" cap="none" strike="noStrike">
              <a:solidFill>
                <a:schemeClr val="dk1"/>
              </a:solidFill>
              <a:latin typeface="Asta Sans SemiBold"/>
              <a:ea typeface="Asta Sans SemiBold"/>
              <a:cs typeface="Asta Sans SemiBold"/>
              <a:sym typeface="Asta Sans SemiBold"/>
            </a:endParaRPr>
          </a:p>
        </p:txBody>
      </p:sp>
      <p:sp>
        <p:nvSpPr>
          <p:cNvPr id="199" name="Google Shape;199;p8"/>
          <p:cNvSpPr txBox="1"/>
          <p:nvPr/>
        </p:nvSpPr>
        <p:spPr>
          <a:xfrm>
            <a:off x="9783819" y="3063240"/>
            <a:ext cx="178303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Noto Sans KR"/>
                <a:ea typeface="Noto Sans KR"/>
                <a:cs typeface="Noto Sans KR"/>
                <a:sym typeface="Noto Sans KR"/>
              </a:rPr>
              <a:t>이슈 종료</a:t>
            </a:r>
            <a:endParaRPr i="0" sz="1300" u="none" cap="none" strike="noStrike">
              <a:solidFill>
                <a:schemeClr val="dk1"/>
              </a:solidFill>
              <a:latin typeface="Noto Sans KR"/>
              <a:ea typeface="Noto Sans KR"/>
              <a:cs typeface="Noto Sans KR"/>
              <a:sym typeface="Noto Sans KR"/>
            </a:endParaRPr>
          </a:p>
        </p:txBody>
      </p:sp>
      <p:sp>
        <p:nvSpPr>
          <p:cNvPr id="200" name="Google Shape;200;p8"/>
          <p:cNvSpPr/>
          <p:nvPr/>
        </p:nvSpPr>
        <p:spPr>
          <a:xfrm>
            <a:off x="548625" y="4069080"/>
            <a:ext cx="3520346" cy="1600200"/>
          </a:xfrm>
          <a:prstGeom prst="roundRect">
            <a:avLst>
              <a:gd fmla="val 8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txBox="1"/>
          <p:nvPr/>
        </p:nvSpPr>
        <p:spPr>
          <a:xfrm>
            <a:off x="868657" y="4206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400"/>
              <a:buFont typeface="Malgun Gothic"/>
              <a:buNone/>
            </a:pPr>
            <a:r>
              <a:rPr b="1" i="0" lang="en-US" sz="4400" u="none" cap="none" strike="noStrike">
                <a:solidFill>
                  <a:srgbClr val="2563EB"/>
                </a:solidFill>
                <a:latin typeface="Asta Sans"/>
                <a:ea typeface="Asta Sans"/>
                <a:cs typeface="Asta Sans"/>
                <a:sym typeface="Asta Sans"/>
              </a:rPr>
              <a:t>56</a:t>
            </a:r>
            <a:endParaRPr b="1" i="0" sz="4400" u="none" cap="none" strike="noStrike">
              <a:solidFill>
                <a:schemeClr val="dk1"/>
              </a:solidFill>
              <a:latin typeface="Asta Sans"/>
              <a:ea typeface="Asta Sans"/>
              <a:cs typeface="Asta Sans"/>
              <a:sym typeface="Asta Sans"/>
            </a:endParaRPr>
          </a:p>
        </p:txBody>
      </p:sp>
      <p:sp>
        <p:nvSpPr>
          <p:cNvPr id="202" name="Google Shape;202;p8"/>
          <p:cNvSpPr txBox="1"/>
          <p:nvPr/>
        </p:nvSpPr>
        <p:spPr>
          <a:xfrm>
            <a:off x="868657" y="502920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500" u="none" cap="none" strike="noStrike">
                <a:solidFill>
                  <a:srgbClr val="64748B"/>
                </a:solidFill>
                <a:latin typeface="Noto Sans KR"/>
                <a:ea typeface="Noto Sans KR"/>
                <a:cs typeface="Noto Sans KR"/>
                <a:sym typeface="Noto Sans KR"/>
              </a:rPr>
              <a:t>이슈</a:t>
            </a:r>
            <a:endParaRPr i="0" sz="1500" u="none" cap="none" strike="noStrike">
              <a:solidFill>
                <a:schemeClr val="dk1"/>
              </a:solidFill>
              <a:latin typeface="Noto Sans KR"/>
              <a:ea typeface="Noto Sans KR"/>
              <a:cs typeface="Noto Sans KR"/>
              <a:sym typeface="Noto Sans KR"/>
            </a:endParaRPr>
          </a:p>
        </p:txBody>
      </p:sp>
      <p:sp>
        <p:nvSpPr>
          <p:cNvPr id="203" name="Google Shape;203;p8"/>
          <p:cNvSpPr/>
          <p:nvPr/>
        </p:nvSpPr>
        <p:spPr>
          <a:xfrm>
            <a:off x="4297565" y="4069080"/>
            <a:ext cx="3520346" cy="1600200"/>
          </a:xfrm>
          <a:prstGeom prst="roundRect">
            <a:avLst>
              <a:gd fmla="val 8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txBox="1"/>
          <p:nvPr/>
        </p:nvSpPr>
        <p:spPr>
          <a:xfrm>
            <a:off x="4617597" y="4206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400"/>
              <a:buFont typeface="Malgun Gothic"/>
              <a:buNone/>
            </a:pPr>
            <a:r>
              <a:rPr b="1" i="0" lang="en-US" sz="4400" u="none" cap="none" strike="noStrike">
                <a:solidFill>
                  <a:srgbClr val="2563EB"/>
                </a:solidFill>
                <a:latin typeface="Asta Sans"/>
                <a:ea typeface="Asta Sans"/>
                <a:cs typeface="Asta Sans"/>
                <a:sym typeface="Asta Sans"/>
              </a:rPr>
              <a:t>55</a:t>
            </a:r>
            <a:endParaRPr b="1" i="0" sz="4400" u="none" cap="none" strike="noStrike">
              <a:solidFill>
                <a:schemeClr val="dk1"/>
              </a:solidFill>
              <a:latin typeface="Asta Sans"/>
              <a:ea typeface="Asta Sans"/>
              <a:cs typeface="Asta Sans"/>
              <a:sym typeface="Asta Sans"/>
            </a:endParaRPr>
          </a:p>
        </p:txBody>
      </p:sp>
      <p:sp>
        <p:nvSpPr>
          <p:cNvPr id="205" name="Google Shape;205;p8"/>
          <p:cNvSpPr txBox="1"/>
          <p:nvPr/>
        </p:nvSpPr>
        <p:spPr>
          <a:xfrm>
            <a:off x="4617597" y="502920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500" u="none" cap="none" strike="noStrike">
                <a:solidFill>
                  <a:srgbClr val="64748B"/>
                </a:solidFill>
                <a:latin typeface="Noto Sans KR"/>
                <a:ea typeface="Noto Sans KR"/>
                <a:cs typeface="Noto Sans KR"/>
                <a:sym typeface="Noto Sans KR"/>
              </a:rPr>
              <a:t>Pull Request (53 머지)</a:t>
            </a:r>
            <a:endParaRPr i="0" sz="1500" u="none" cap="none" strike="noStrike">
              <a:solidFill>
                <a:schemeClr val="dk1"/>
              </a:solidFill>
              <a:latin typeface="Noto Sans KR"/>
              <a:ea typeface="Noto Sans KR"/>
              <a:cs typeface="Noto Sans KR"/>
              <a:sym typeface="Noto Sans KR"/>
            </a:endParaRPr>
          </a:p>
        </p:txBody>
      </p:sp>
      <p:sp>
        <p:nvSpPr>
          <p:cNvPr id="206" name="Google Shape;206;p8"/>
          <p:cNvSpPr/>
          <p:nvPr/>
        </p:nvSpPr>
        <p:spPr>
          <a:xfrm>
            <a:off x="8046506" y="4069080"/>
            <a:ext cx="3520346" cy="1600200"/>
          </a:xfrm>
          <a:prstGeom prst="roundRect">
            <a:avLst>
              <a:gd fmla="val 8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8366537" y="4206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400"/>
              <a:buFont typeface="Malgun Gothic"/>
              <a:buNone/>
            </a:pPr>
            <a:r>
              <a:rPr b="1" i="0" lang="en-US" sz="4400" u="none" cap="none" strike="noStrike">
                <a:solidFill>
                  <a:srgbClr val="2563EB"/>
                </a:solidFill>
                <a:latin typeface="Asta Sans"/>
                <a:ea typeface="Asta Sans"/>
                <a:cs typeface="Asta Sans"/>
                <a:sym typeface="Asta Sans"/>
              </a:rPr>
              <a:t>222</a:t>
            </a:r>
            <a:endParaRPr b="1" i="0" sz="4400" u="none" cap="none" strike="noStrike">
              <a:solidFill>
                <a:schemeClr val="dk1"/>
              </a:solidFill>
              <a:latin typeface="Asta Sans"/>
              <a:ea typeface="Asta Sans"/>
              <a:cs typeface="Asta Sans"/>
              <a:sym typeface="Asta Sans"/>
            </a:endParaRPr>
          </a:p>
        </p:txBody>
      </p:sp>
      <p:sp>
        <p:nvSpPr>
          <p:cNvPr id="208" name="Google Shape;208;p8"/>
          <p:cNvSpPr txBox="1"/>
          <p:nvPr/>
        </p:nvSpPr>
        <p:spPr>
          <a:xfrm>
            <a:off x="8366537" y="502920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Malgun Gothic"/>
              <a:buNone/>
            </a:pPr>
            <a:r>
              <a:rPr i="0" lang="en-US" sz="1500" u="none" cap="none" strike="noStrike">
                <a:solidFill>
                  <a:srgbClr val="64748B"/>
                </a:solidFill>
                <a:latin typeface="Noto Sans KR"/>
                <a:ea typeface="Noto Sans KR"/>
                <a:cs typeface="Noto Sans KR"/>
                <a:sym typeface="Noto Sans KR"/>
              </a:rPr>
              <a:t>develop 커밋</a:t>
            </a:r>
            <a:endParaRPr i="0" sz="1500" u="none" cap="none" strike="noStrike">
              <a:solidFill>
                <a:schemeClr val="dk1"/>
              </a:solidFill>
              <a:latin typeface="Noto Sans KR"/>
              <a:ea typeface="Noto Sans KR"/>
              <a:cs typeface="Noto Sans KR"/>
              <a:sym typeface="Noto Sans KR"/>
            </a:endParaRPr>
          </a:p>
        </p:txBody>
      </p:sp>
      <p:sp>
        <p:nvSpPr>
          <p:cNvPr id="209" name="Google Shape;209;p8"/>
          <p:cNvSpPr txBox="1"/>
          <p:nvPr/>
        </p:nvSpPr>
        <p:spPr>
          <a:xfrm>
            <a:off x="548625" y="5897880"/>
            <a:ext cx="91437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Malgun Gothic"/>
              <a:buNone/>
            </a:pPr>
            <a:r>
              <a:rPr i="0" lang="en-US" sz="1100" u="none" cap="none" strike="noStrike">
                <a:solidFill>
                  <a:srgbClr val="94A3B8"/>
                </a:solidFill>
                <a:latin typeface="Noto Sans KR"/>
                <a:ea typeface="Noto Sans KR"/>
                <a:cs typeface="Noto Sans KR"/>
                <a:sym typeface="Noto Sans KR"/>
              </a:rPr>
              <a:t>GitHub 저장소 기준, 2026-09-29 집계 · API 확인은 Swagger</a:t>
            </a:r>
            <a:endParaRPr i="0" sz="1100" u="none" cap="none" strike="noStrike">
              <a:solidFill>
                <a:schemeClr val="dk1"/>
              </a:solidFill>
              <a:latin typeface="Noto Sans KR"/>
              <a:ea typeface="Noto Sans KR"/>
              <a:cs typeface="Noto Sans KR"/>
              <a:sym typeface="Noto Sans KR"/>
            </a:endParaRPr>
          </a:p>
        </p:txBody>
      </p:sp>
      <p:sp>
        <p:nvSpPr>
          <p:cNvPr id="210" name="Google Shape;210;p8"/>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211" name="Google Shape;211;p8"/>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6" name="Shape 216"/>
        <p:cNvGrpSpPr/>
        <p:nvPr/>
      </p:nvGrpSpPr>
      <p:grpSpPr>
        <a:xfrm>
          <a:off x="0" y="0"/>
          <a:ext cx="0" cy="0"/>
          <a:chOff x="0" y="0"/>
          <a:chExt cx="0" cy="0"/>
        </a:xfrm>
      </p:grpSpPr>
      <p:sp>
        <p:nvSpPr>
          <p:cNvPr id="217" name="Google Shape;217;p9"/>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요구사항을 기능 ID 단위로 나눠 설계했습니다</a:t>
            </a:r>
            <a:endParaRPr b="1" i="0" sz="2800" u="none" cap="none" strike="noStrike">
              <a:solidFill>
                <a:schemeClr val="dk1"/>
              </a:solidFill>
              <a:latin typeface="Asta Sans"/>
              <a:ea typeface="Asta Sans"/>
              <a:cs typeface="Asta Sans"/>
              <a:sym typeface="Asta Sans"/>
            </a:endParaRPr>
          </a:p>
        </p:txBody>
      </p:sp>
      <p:sp>
        <p:nvSpPr>
          <p:cNvPr id="218" name="Google Shape;218;p9"/>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7</a:t>
            </a:r>
            <a:endParaRPr b="0" i="0" sz="1000" u="none" cap="none" strike="noStrike">
              <a:solidFill>
                <a:schemeClr val="dk1"/>
              </a:solidFill>
              <a:latin typeface="Malgun Gothic"/>
              <a:ea typeface="Malgun Gothic"/>
              <a:cs typeface="Malgun Gothic"/>
              <a:sym typeface="Malgun Gothic"/>
            </a:endParaRPr>
          </a:p>
        </p:txBody>
      </p:sp>
      <p:sp>
        <p:nvSpPr>
          <p:cNvPr id="219" name="Google Shape;219;p9"/>
          <p:cNvSpPr/>
          <p:nvPr/>
        </p:nvSpPr>
        <p:spPr>
          <a:xfrm>
            <a:off x="548625" y="1691640"/>
            <a:ext cx="2605971" cy="4343400"/>
          </a:xfrm>
          <a:prstGeom prst="roundRect">
            <a:avLst>
              <a:gd fmla="val 49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822938" y="196596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9"/>
          <p:cNvPicPr preferRelativeResize="0"/>
          <p:nvPr/>
        </p:nvPicPr>
        <p:blipFill rotWithShape="1">
          <a:blip r:embed="rId3">
            <a:alphaModFix/>
          </a:blip>
          <a:srcRect b="0" l="0" r="0" t="0"/>
          <a:stretch/>
        </p:blipFill>
        <p:spPr>
          <a:xfrm>
            <a:off x="982954" y="2125980"/>
            <a:ext cx="320031" cy="320031"/>
          </a:xfrm>
          <a:prstGeom prst="rect">
            <a:avLst/>
          </a:prstGeom>
          <a:noFill/>
          <a:ln>
            <a:noFill/>
          </a:ln>
        </p:spPr>
      </p:pic>
      <p:sp>
        <p:nvSpPr>
          <p:cNvPr id="222" name="Google Shape;222;p9"/>
          <p:cNvSpPr txBox="1"/>
          <p:nvPr/>
        </p:nvSpPr>
        <p:spPr>
          <a:xfrm>
            <a:off x="822938" y="2743200"/>
            <a:ext cx="21945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Malgun Gothic"/>
              <a:buNone/>
            </a:pPr>
            <a:r>
              <a:rPr b="1" i="0" lang="en-US" sz="1900" u="none" cap="none" strike="noStrike">
                <a:solidFill>
                  <a:srgbClr val="1E293B"/>
                </a:solidFill>
                <a:latin typeface="Asta Sans"/>
                <a:ea typeface="Asta Sans"/>
                <a:cs typeface="Asta Sans"/>
                <a:sym typeface="Asta Sans"/>
              </a:rPr>
              <a:t>회원 · 프로필</a:t>
            </a:r>
            <a:endParaRPr b="1" i="0" sz="1900" u="none" cap="none" strike="noStrike">
              <a:solidFill>
                <a:schemeClr val="dk1"/>
              </a:solidFill>
              <a:latin typeface="Asta Sans"/>
              <a:ea typeface="Asta Sans"/>
              <a:cs typeface="Asta Sans"/>
              <a:sym typeface="Asta Sans"/>
            </a:endParaRPr>
          </a:p>
        </p:txBody>
      </p:sp>
      <p:sp>
        <p:nvSpPr>
          <p:cNvPr id="223" name="Google Shape;223;p9"/>
          <p:cNvSpPr txBox="1"/>
          <p:nvPr/>
        </p:nvSpPr>
        <p:spPr>
          <a:xfrm>
            <a:off x="822938" y="3154680"/>
            <a:ext cx="21945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i="0" lang="en-US" sz="1300" u="none" cap="none" strike="noStrike">
                <a:solidFill>
                  <a:srgbClr val="2563EB"/>
                </a:solidFill>
                <a:latin typeface="Asta Sans SemiBold"/>
                <a:ea typeface="Asta Sans SemiBold"/>
                <a:cs typeface="Asta Sans SemiBold"/>
                <a:sym typeface="Asta Sans SemiBold"/>
              </a:rPr>
              <a:t>USR 01</a:t>
            </a:r>
            <a:r>
              <a:rPr lang="en-US" sz="1300">
                <a:solidFill>
                  <a:srgbClr val="2563EB"/>
                </a:solidFill>
                <a:latin typeface="Asta Sans SemiBold"/>
                <a:ea typeface="Asta Sans SemiBold"/>
                <a:cs typeface="Asta Sans SemiBold"/>
                <a:sym typeface="Asta Sans SemiBold"/>
              </a:rPr>
              <a:t> ~ 06</a:t>
            </a:r>
            <a:r>
              <a:rPr i="0" lang="en-US" sz="1300" u="none" cap="none" strike="noStrike">
                <a:solidFill>
                  <a:srgbClr val="2563EB"/>
                </a:solidFill>
                <a:latin typeface="Asta Sans SemiBold"/>
                <a:ea typeface="Asta Sans SemiBold"/>
                <a:cs typeface="Asta Sans SemiBold"/>
                <a:sym typeface="Asta Sans SemiBold"/>
              </a:rPr>
              <a:t> · PR 0</a:t>
            </a:r>
            <a:r>
              <a:rPr lang="en-US" sz="1300">
                <a:solidFill>
                  <a:srgbClr val="2563EB"/>
                </a:solidFill>
                <a:latin typeface="Asta Sans SemiBold"/>
                <a:ea typeface="Asta Sans SemiBold"/>
                <a:cs typeface="Asta Sans SemiBold"/>
                <a:sym typeface="Asta Sans SemiBold"/>
              </a:rPr>
              <a:t>1 ~ 02</a:t>
            </a:r>
            <a:endParaRPr i="0" sz="1300" u="none" cap="none" strike="noStrike">
              <a:solidFill>
                <a:schemeClr val="dk1"/>
              </a:solidFill>
              <a:latin typeface="Asta Sans SemiBold"/>
              <a:ea typeface="Asta Sans SemiBold"/>
              <a:cs typeface="Asta Sans SemiBold"/>
              <a:sym typeface="Asta Sans SemiBold"/>
            </a:endParaRPr>
          </a:p>
        </p:txBody>
      </p:sp>
      <p:sp>
        <p:nvSpPr>
          <p:cNvPr id="224" name="Google Shape;224;p9"/>
          <p:cNvSpPr txBox="1"/>
          <p:nvPr/>
        </p:nvSpPr>
        <p:spPr>
          <a:xfrm>
            <a:off x="822938" y="3611880"/>
            <a:ext cx="2240220" cy="2194560"/>
          </a:xfrm>
          <a:prstGeom prst="rect">
            <a:avLst/>
          </a:prstGeom>
          <a:noFill/>
          <a:ln>
            <a:noFill/>
          </a:ln>
        </p:spPr>
        <p:txBody>
          <a:bodyPr anchorCtr="0" anchor="t" bIns="0" lIns="0" spcFirstLastPara="1" rIns="0" wrap="square" tIns="0">
            <a:noAutofit/>
          </a:bodyPr>
          <a:lstStyle/>
          <a:p>
            <a:pPr indent="-349250" lvl="0" marL="342900" marR="0" rtl="0" algn="l">
              <a:spcBef>
                <a:spcPts val="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회원가입 · 로그인</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로그아웃 · 회원 탈퇴</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JWT 토큰 재발급</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프로필 조회 · 수정</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마이페이지</a:t>
            </a:r>
            <a:endParaRPr i="0" u="none" cap="none" strike="noStrike">
              <a:solidFill>
                <a:schemeClr val="dk1"/>
              </a:solidFill>
              <a:latin typeface="Noto Sans KR"/>
              <a:ea typeface="Noto Sans KR"/>
              <a:cs typeface="Noto Sans KR"/>
              <a:sym typeface="Noto Sans KR"/>
            </a:endParaRPr>
          </a:p>
        </p:txBody>
      </p:sp>
      <p:sp>
        <p:nvSpPr>
          <p:cNvPr id="225" name="Google Shape;225;p9"/>
          <p:cNvSpPr/>
          <p:nvPr/>
        </p:nvSpPr>
        <p:spPr>
          <a:xfrm>
            <a:off x="3364902" y="1691640"/>
            <a:ext cx="2605971" cy="4343400"/>
          </a:xfrm>
          <a:prstGeom prst="roundRect">
            <a:avLst>
              <a:gd fmla="val 49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3639215" y="196596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7" name="Google Shape;227;p9"/>
          <p:cNvPicPr preferRelativeResize="0"/>
          <p:nvPr/>
        </p:nvPicPr>
        <p:blipFill rotWithShape="1">
          <a:blip r:embed="rId4">
            <a:alphaModFix/>
          </a:blip>
          <a:srcRect b="0" l="0" r="0" t="0"/>
          <a:stretch/>
        </p:blipFill>
        <p:spPr>
          <a:xfrm>
            <a:off x="3799231" y="2125980"/>
            <a:ext cx="320031" cy="320031"/>
          </a:xfrm>
          <a:prstGeom prst="rect">
            <a:avLst/>
          </a:prstGeom>
          <a:noFill/>
          <a:ln>
            <a:noFill/>
          </a:ln>
        </p:spPr>
      </p:pic>
      <p:sp>
        <p:nvSpPr>
          <p:cNvPr id="228" name="Google Shape;228;p9"/>
          <p:cNvSpPr txBox="1"/>
          <p:nvPr/>
        </p:nvSpPr>
        <p:spPr>
          <a:xfrm>
            <a:off x="3639215" y="2743200"/>
            <a:ext cx="21945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Malgun Gothic"/>
              <a:buNone/>
            </a:pPr>
            <a:r>
              <a:rPr b="1" i="0" lang="en-US" sz="1900" u="none" cap="none" strike="noStrike">
                <a:solidFill>
                  <a:srgbClr val="1E293B"/>
                </a:solidFill>
                <a:latin typeface="Asta Sans"/>
                <a:ea typeface="Asta Sans"/>
                <a:cs typeface="Asta Sans"/>
                <a:sym typeface="Asta Sans"/>
              </a:rPr>
              <a:t>운동 매칭</a:t>
            </a:r>
            <a:endParaRPr b="1" i="0" sz="1900" u="none" cap="none" strike="noStrike">
              <a:solidFill>
                <a:schemeClr val="dk1"/>
              </a:solidFill>
              <a:latin typeface="Asta Sans"/>
              <a:ea typeface="Asta Sans"/>
              <a:cs typeface="Asta Sans"/>
              <a:sym typeface="Asta Sans"/>
            </a:endParaRPr>
          </a:p>
        </p:txBody>
      </p:sp>
      <p:sp>
        <p:nvSpPr>
          <p:cNvPr id="229" name="Google Shape;229;p9"/>
          <p:cNvSpPr txBox="1"/>
          <p:nvPr/>
        </p:nvSpPr>
        <p:spPr>
          <a:xfrm>
            <a:off x="3639215" y="3154680"/>
            <a:ext cx="21945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i="0" lang="en-US" sz="1300" u="none" cap="none" strike="noStrike">
                <a:solidFill>
                  <a:srgbClr val="2563EB"/>
                </a:solidFill>
                <a:latin typeface="Asta Sans SemiBold"/>
                <a:ea typeface="Asta Sans SemiBold"/>
                <a:cs typeface="Asta Sans SemiBold"/>
                <a:sym typeface="Asta Sans SemiBold"/>
              </a:rPr>
              <a:t>EM-01 ~ EM-08</a:t>
            </a:r>
            <a:endParaRPr i="0" sz="1300" u="none" cap="none" strike="noStrike">
              <a:solidFill>
                <a:schemeClr val="dk1"/>
              </a:solidFill>
              <a:latin typeface="Asta Sans SemiBold"/>
              <a:ea typeface="Asta Sans SemiBold"/>
              <a:cs typeface="Asta Sans SemiBold"/>
              <a:sym typeface="Asta Sans SemiBold"/>
            </a:endParaRPr>
          </a:p>
        </p:txBody>
      </p:sp>
      <p:sp>
        <p:nvSpPr>
          <p:cNvPr id="230" name="Google Shape;230;p9"/>
          <p:cNvSpPr txBox="1"/>
          <p:nvPr/>
        </p:nvSpPr>
        <p:spPr>
          <a:xfrm>
            <a:off x="3639215" y="3611880"/>
            <a:ext cx="2240220" cy="2194560"/>
          </a:xfrm>
          <a:prstGeom prst="rect">
            <a:avLst/>
          </a:prstGeom>
          <a:noFill/>
          <a:ln>
            <a:noFill/>
          </a:ln>
        </p:spPr>
        <p:txBody>
          <a:bodyPr anchorCtr="0" anchor="t" bIns="0" lIns="0" spcFirstLastPara="1" rIns="0" wrap="square" tIns="0">
            <a:noAutofit/>
          </a:bodyPr>
          <a:lstStyle/>
          <a:p>
            <a:pPr indent="-349250" lvl="0" marL="342900" marR="0" rtl="0" algn="l">
              <a:spcBef>
                <a:spcPts val="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생성 · 수정 · 삭제</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목록 · 조건 검색 · 상세</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참여 · 탈퇴</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내 매치 목록</a:t>
            </a:r>
            <a:endParaRPr i="0" u="none" cap="none" strike="noStrike">
              <a:solidFill>
                <a:schemeClr val="dk1"/>
              </a:solidFill>
              <a:latin typeface="Noto Sans KR"/>
              <a:ea typeface="Noto Sans KR"/>
              <a:cs typeface="Noto Sans KR"/>
              <a:sym typeface="Noto Sans KR"/>
            </a:endParaRPr>
          </a:p>
        </p:txBody>
      </p:sp>
      <p:sp>
        <p:nvSpPr>
          <p:cNvPr id="231" name="Google Shape;231;p9"/>
          <p:cNvSpPr/>
          <p:nvPr/>
        </p:nvSpPr>
        <p:spPr>
          <a:xfrm>
            <a:off x="6181179" y="1691640"/>
            <a:ext cx="2605971" cy="4343400"/>
          </a:xfrm>
          <a:prstGeom prst="roundRect">
            <a:avLst>
              <a:gd fmla="val 4912"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6455492" y="1965960"/>
            <a:ext cx="640063" cy="64008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 name="Google Shape;233;p9"/>
          <p:cNvPicPr preferRelativeResize="0"/>
          <p:nvPr/>
        </p:nvPicPr>
        <p:blipFill rotWithShape="1">
          <a:blip r:embed="rId5">
            <a:alphaModFix/>
          </a:blip>
          <a:srcRect b="0" l="0" r="0" t="0"/>
          <a:stretch/>
        </p:blipFill>
        <p:spPr>
          <a:xfrm>
            <a:off x="6615508" y="2125980"/>
            <a:ext cx="320031" cy="320031"/>
          </a:xfrm>
          <a:prstGeom prst="rect">
            <a:avLst/>
          </a:prstGeom>
          <a:noFill/>
          <a:ln>
            <a:noFill/>
          </a:ln>
        </p:spPr>
      </p:pic>
      <p:sp>
        <p:nvSpPr>
          <p:cNvPr id="234" name="Google Shape;234;p9"/>
          <p:cNvSpPr txBox="1"/>
          <p:nvPr/>
        </p:nvSpPr>
        <p:spPr>
          <a:xfrm>
            <a:off x="6455492" y="2743200"/>
            <a:ext cx="21945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Malgun Gothic"/>
              <a:buNone/>
            </a:pPr>
            <a:r>
              <a:rPr b="1" i="0" lang="en-US" sz="1900" u="none" cap="none" strike="noStrike">
                <a:solidFill>
                  <a:srgbClr val="1E293B"/>
                </a:solidFill>
                <a:latin typeface="Asta Sans"/>
                <a:ea typeface="Asta Sans"/>
                <a:cs typeface="Asta Sans"/>
                <a:sym typeface="Asta Sans"/>
              </a:rPr>
              <a:t>체육시설</a:t>
            </a:r>
            <a:endParaRPr b="1" i="0" sz="1900" u="none" cap="none" strike="noStrike">
              <a:solidFill>
                <a:schemeClr val="dk1"/>
              </a:solidFill>
              <a:latin typeface="Asta Sans"/>
              <a:ea typeface="Asta Sans"/>
              <a:cs typeface="Asta Sans"/>
              <a:sym typeface="Asta Sans"/>
            </a:endParaRPr>
          </a:p>
        </p:txBody>
      </p:sp>
      <p:sp>
        <p:nvSpPr>
          <p:cNvPr id="235" name="Google Shape;235;p9"/>
          <p:cNvSpPr txBox="1"/>
          <p:nvPr/>
        </p:nvSpPr>
        <p:spPr>
          <a:xfrm>
            <a:off x="6455492" y="3154680"/>
            <a:ext cx="21945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i="0" lang="en-US" sz="1300" u="none" cap="none" strike="noStrike">
                <a:solidFill>
                  <a:srgbClr val="2563EB"/>
                </a:solidFill>
                <a:latin typeface="Asta Sans SemiBold"/>
                <a:ea typeface="Asta Sans SemiBold"/>
                <a:cs typeface="Asta Sans SemiBold"/>
                <a:sym typeface="Asta Sans SemiBold"/>
              </a:rPr>
              <a:t>FC-01 ~ FC-02</a:t>
            </a:r>
            <a:endParaRPr i="0" sz="1300" u="none" cap="none" strike="noStrike">
              <a:solidFill>
                <a:schemeClr val="dk1"/>
              </a:solidFill>
              <a:latin typeface="Asta Sans SemiBold"/>
              <a:ea typeface="Asta Sans SemiBold"/>
              <a:cs typeface="Asta Sans SemiBold"/>
              <a:sym typeface="Asta Sans SemiBold"/>
            </a:endParaRPr>
          </a:p>
        </p:txBody>
      </p:sp>
      <p:sp>
        <p:nvSpPr>
          <p:cNvPr id="236" name="Google Shape;236;p9"/>
          <p:cNvSpPr txBox="1"/>
          <p:nvPr/>
        </p:nvSpPr>
        <p:spPr>
          <a:xfrm>
            <a:off x="6455492" y="3611880"/>
            <a:ext cx="2240220" cy="219456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공공데이터 동기화</a:t>
            </a:r>
            <a:endParaRPr i="0" sz="1500" u="none" cap="none" strike="noStrike">
              <a:solidFill>
                <a:schemeClr val="dk1"/>
              </a:solidFill>
              <a:latin typeface="Noto Sans KR"/>
              <a:ea typeface="Noto Sans KR"/>
              <a:cs typeface="Noto Sans KR"/>
              <a:sym typeface="Noto Sans KR"/>
            </a:endParaRPr>
          </a:p>
          <a:p>
            <a:pPr indent="-355600" lvl="0" marL="342900" marR="0" rtl="0" algn="l">
              <a:spcBef>
                <a:spcPts val="80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시설 목록 · 검색</a:t>
            </a:r>
            <a:endParaRPr i="0" sz="1500" u="none" cap="none" strike="noStrike">
              <a:solidFill>
                <a:schemeClr val="dk1"/>
              </a:solidFill>
              <a:latin typeface="Noto Sans KR"/>
              <a:ea typeface="Noto Sans KR"/>
              <a:cs typeface="Noto Sans KR"/>
              <a:sym typeface="Noto Sans KR"/>
            </a:endParaRPr>
          </a:p>
          <a:p>
            <a:pPr indent="-355600" lvl="0" marL="342900" marR="0" rtl="0" algn="l">
              <a:spcBef>
                <a:spcPts val="80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시설 상세</a:t>
            </a:r>
            <a:endParaRPr i="0" sz="1500" u="none" cap="none" strike="noStrike">
              <a:solidFill>
                <a:schemeClr val="dk1"/>
              </a:solidFill>
              <a:latin typeface="Noto Sans KR"/>
              <a:ea typeface="Noto Sans KR"/>
              <a:cs typeface="Noto Sans KR"/>
              <a:sym typeface="Noto Sans KR"/>
            </a:endParaRPr>
          </a:p>
          <a:p>
            <a:pPr indent="-355600" lvl="0" marL="342900" marR="0" rtl="0" algn="l">
              <a:spcBef>
                <a:spcPts val="80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시설로 매치 생성</a:t>
            </a:r>
            <a:endParaRPr i="0" sz="1500" u="none" cap="none" strike="noStrike">
              <a:solidFill>
                <a:schemeClr val="dk1"/>
              </a:solidFill>
              <a:latin typeface="Noto Sans KR"/>
              <a:ea typeface="Noto Sans KR"/>
              <a:cs typeface="Noto Sans KR"/>
              <a:sym typeface="Noto Sans KR"/>
            </a:endParaRPr>
          </a:p>
        </p:txBody>
      </p:sp>
      <p:sp>
        <p:nvSpPr>
          <p:cNvPr id="237" name="Google Shape;237;p9"/>
          <p:cNvSpPr/>
          <p:nvPr/>
        </p:nvSpPr>
        <p:spPr>
          <a:xfrm>
            <a:off x="8997456" y="1691640"/>
            <a:ext cx="2605971" cy="4343400"/>
          </a:xfrm>
          <a:prstGeom prst="roundRect">
            <a:avLst>
              <a:gd fmla="val 4912" name="adj"/>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9271769" y="1965960"/>
            <a:ext cx="640063" cy="6400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9" name="Google Shape;239;p9"/>
          <p:cNvPicPr preferRelativeResize="0"/>
          <p:nvPr/>
        </p:nvPicPr>
        <p:blipFill rotWithShape="1">
          <a:blip r:embed="rId6">
            <a:alphaModFix/>
          </a:blip>
          <a:srcRect b="0" l="0" r="0" t="0"/>
          <a:stretch/>
        </p:blipFill>
        <p:spPr>
          <a:xfrm>
            <a:off x="9431785" y="2125980"/>
            <a:ext cx="320031" cy="320031"/>
          </a:xfrm>
          <a:prstGeom prst="rect">
            <a:avLst/>
          </a:prstGeom>
          <a:noFill/>
          <a:ln>
            <a:noFill/>
          </a:ln>
        </p:spPr>
      </p:pic>
      <p:sp>
        <p:nvSpPr>
          <p:cNvPr id="240" name="Google Shape;240;p9"/>
          <p:cNvSpPr txBox="1"/>
          <p:nvPr/>
        </p:nvSpPr>
        <p:spPr>
          <a:xfrm>
            <a:off x="9271769" y="2743200"/>
            <a:ext cx="21945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900"/>
              <a:buFont typeface="Malgun Gothic"/>
              <a:buNone/>
            </a:pPr>
            <a:r>
              <a:rPr b="1" i="0" lang="en-US" sz="1900" u="none" cap="none" strike="noStrike">
                <a:solidFill>
                  <a:srgbClr val="1E293B"/>
                </a:solidFill>
                <a:latin typeface="Asta Sans"/>
                <a:ea typeface="Asta Sans"/>
                <a:cs typeface="Asta Sans"/>
                <a:sym typeface="Asta Sans"/>
              </a:rPr>
              <a:t>AI 매칭</a:t>
            </a:r>
            <a:endParaRPr b="1" i="0" sz="1900" u="none" cap="none" strike="noStrike">
              <a:solidFill>
                <a:schemeClr val="dk1"/>
              </a:solidFill>
              <a:latin typeface="Asta Sans"/>
              <a:ea typeface="Asta Sans"/>
              <a:cs typeface="Asta Sans"/>
              <a:sym typeface="Asta Sans"/>
            </a:endParaRPr>
          </a:p>
        </p:txBody>
      </p:sp>
      <p:sp>
        <p:nvSpPr>
          <p:cNvPr id="241" name="Google Shape;241;p9"/>
          <p:cNvSpPr txBox="1"/>
          <p:nvPr/>
        </p:nvSpPr>
        <p:spPr>
          <a:xfrm>
            <a:off x="9271769" y="3154680"/>
            <a:ext cx="21945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200"/>
              <a:buFont typeface="Malgun Gothic"/>
              <a:buNone/>
            </a:pPr>
            <a:r>
              <a:rPr i="0" lang="en-US" sz="1300" u="none" cap="none" strike="noStrike">
                <a:solidFill>
                  <a:srgbClr val="4F46E5"/>
                </a:solidFill>
                <a:latin typeface="Asta Sans SemiBold"/>
                <a:ea typeface="Asta Sans SemiBold"/>
                <a:cs typeface="Asta Sans SemiBold"/>
                <a:sym typeface="Asta Sans SemiBold"/>
              </a:rPr>
              <a:t>AI-01 ~ AI-03</a:t>
            </a:r>
            <a:endParaRPr i="0" sz="1300" u="none" cap="none" strike="noStrike">
              <a:solidFill>
                <a:schemeClr val="dk1"/>
              </a:solidFill>
              <a:latin typeface="Asta Sans SemiBold"/>
              <a:ea typeface="Asta Sans SemiBold"/>
              <a:cs typeface="Asta Sans SemiBold"/>
              <a:sym typeface="Asta Sans SemiBold"/>
            </a:endParaRPr>
          </a:p>
        </p:txBody>
      </p:sp>
      <p:sp>
        <p:nvSpPr>
          <p:cNvPr id="242" name="Google Shape;242;p9"/>
          <p:cNvSpPr txBox="1"/>
          <p:nvPr/>
        </p:nvSpPr>
        <p:spPr>
          <a:xfrm>
            <a:off x="9271769" y="3611880"/>
            <a:ext cx="2240220" cy="2194560"/>
          </a:xfrm>
          <a:prstGeom prst="rect">
            <a:avLst/>
          </a:prstGeom>
          <a:noFill/>
          <a:ln>
            <a:noFill/>
          </a:ln>
        </p:spPr>
        <p:txBody>
          <a:bodyPr anchorCtr="0" anchor="t" bIns="0" lIns="0" spcFirstLastPara="1" rIns="0" wrap="square" tIns="0">
            <a:noAutofit/>
          </a:bodyPr>
          <a:lstStyle/>
          <a:p>
            <a:pPr indent="-349250" lvl="0" marL="342900" marR="0" rtl="0" algn="l">
              <a:spcBef>
                <a:spcPts val="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자연어 매치 생성 초안</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자연어 매치 검색</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맞춤 조건 직접 수정</a:t>
            </a:r>
            <a:endParaRPr i="0" u="none" cap="none" strike="noStrike">
              <a:solidFill>
                <a:schemeClr val="dk1"/>
              </a:solidFill>
              <a:latin typeface="Noto Sans KR"/>
              <a:ea typeface="Noto Sans KR"/>
              <a:cs typeface="Noto Sans KR"/>
              <a:sym typeface="Noto Sans KR"/>
            </a:endParaRPr>
          </a:p>
          <a:p>
            <a:pPr indent="-349250" lvl="0" marL="342900" marR="0" rtl="0" algn="l">
              <a:spcBef>
                <a:spcPts val="800"/>
              </a:spcBef>
              <a:spcAft>
                <a:spcPts val="0"/>
              </a:spcAft>
              <a:buClr>
                <a:srgbClr val="1E293B"/>
              </a:buClr>
              <a:buSzPts val="1400"/>
              <a:buFont typeface="Noto Sans KR"/>
              <a:buChar char="•"/>
            </a:pPr>
            <a:r>
              <a:rPr i="0" lang="en-US" u="none" cap="none" strike="noStrike">
                <a:solidFill>
                  <a:srgbClr val="1E293B"/>
                </a:solidFill>
                <a:latin typeface="Noto Sans KR"/>
                <a:ea typeface="Noto Sans KR"/>
                <a:cs typeface="Noto Sans KR"/>
                <a:sym typeface="Noto Sans KR"/>
              </a:rPr>
              <a:t>프로필 기반 추천</a:t>
            </a:r>
            <a:endParaRPr i="0" u="none" cap="none" strike="noStrike">
              <a:solidFill>
                <a:schemeClr val="dk1"/>
              </a:solidFill>
              <a:latin typeface="Noto Sans KR"/>
              <a:ea typeface="Noto Sans KR"/>
              <a:cs typeface="Noto Sans KR"/>
              <a:sym typeface="Noto Sans KR"/>
            </a:endParaRPr>
          </a:p>
        </p:txBody>
      </p:sp>
      <p:sp>
        <p:nvSpPr>
          <p:cNvPr id="243" name="Google Shape;243;p9"/>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244" name="Google Shape;244;p9"/>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9" name="Shape 249"/>
        <p:cNvGrpSpPr/>
        <p:nvPr/>
      </p:nvGrpSpPr>
      <p:grpSpPr>
        <a:xfrm>
          <a:off x="0" y="0"/>
          <a:ext cx="0" cy="0"/>
          <a:chOff x="0" y="0"/>
          <a:chExt cx="0" cy="0"/>
        </a:xfrm>
      </p:grpSpPr>
      <p:sp>
        <p:nvSpPr>
          <p:cNvPr id="250" name="Google Shape;250;p10"/>
          <p:cNvSpPr/>
          <p:nvPr/>
        </p:nvSpPr>
        <p:spPr>
          <a:xfrm>
            <a:off x="548625" y="2194560"/>
            <a:ext cx="2651689" cy="2743200"/>
          </a:xfrm>
          <a:prstGeom prst="roundRect">
            <a:avLst>
              <a:gd fmla="val 4828"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1508720" y="2423160"/>
            <a:ext cx="731500" cy="73152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2" name="Google Shape;252;p10"/>
          <p:cNvPicPr preferRelativeResize="0"/>
          <p:nvPr/>
        </p:nvPicPr>
        <p:blipFill rotWithShape="1">
          <a:blip r:embed="rId3">
            <a:alphaModFix/>
          </a:blip>
          <a:srcRect b="0" l="0" r="0" t="0"/>
          <a:stretch/>
        </p:blipFill>
        <p:spPr>
          <a:xfrm>
            <a:off x="1691595" y="2606040"/>
            <a:ext cx="365750" cy="365750"/>
          </a:xfrm>
          <a:prstGeom prst="rect">
            <a:avLst/>
          </a:prstGeom>
          <a:noFill/>
          <a:ln>
            <a:noFill/>
          </a:ln>
        </p:spPr>
      </p:pic>
      <p:sp>
        <p:nvSpPr>
          <p:cNvPr id="253" name="Google Shape;253;p10"/>
          <p:cNvSpPr txBox="1"/>
          <p:nvPr/>
        </p:nvSpPr>
        <p:spPr>
          <a:xfrm>
            <a:off x="731501" y="3291840"/>
            <a:ext cx="2285939"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800"/>
              <a:buFont typeface="Malgun Gothic"/>
              <a:buNone/>
            </a:pPr>
            <a:r>
              <a:rPr b="1" i="0" lang="en-US" sz="1800" u="none" cap="none" strike="noStrike">
                <a:solidFill>
                  <a:srgbClr val="1E293B"/>
                </a:solidFill>
                <a:latin typeface="Asta Sans"/>
                <a:ea typeface="Asta Sans"/>
                <a:cs typeface="Asta Sans"/>
                <a:sym typeface="Asta Sans"/>
              </a:rPr>
              <a:t>Client</a:t>
            </a:r>
            <a:endParaRPr b="1" i="0" sz="1800" u="none" cap="none" strike="noStrike">
              <a:solidFill>
                <a:schemeClr val="dk1"/>
              </a:solidFill>
              <a:latin typeface="Asta Sans"/>
              <a:ea typeface="Asta Sans"/>
              <a:cs typeface="Asta Sans"/>
              <a:sym typeface="Asta Sans"/>
            </a:endParaRPr>
          </a:p>
        </p:txBody>
      </p:sp>
      <p:sp>
        <p:nvSpPr>
          <p:cNvPr id="254" name="Google Shape;254;p10"/>
          <p:cNvSpPr txBox="1"/>
          <p:nvPr/>
        </p:nvSpPr>
        <p:spPr>
          <a:xfrm>
            <a:off x="731501" y="3703320"/>
            <a:ext cx="2285939"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React (CRA)</a:t>
            </a:r>
            <a:endParaRPr i="0" u="none" cap="none" strike="noStrike">
              <a:solidFill>
                <a:schemeClr val="dk1"/>
              </a:solidFill>
              <a:latin typeface="Noto Sans KR"/>
              <a:ea typeface="Noto Sans KR"/>
              <a:cs typeface="Noto Sans KR"/>
              <a:sym typeface="Noto Sans KR"/>
            </a:endParaRPr>
          </a:p>
          <a:p>
            <a:pPr indent="0" lvl="0" marL="0" marR="0" rtl="0" algn="ctr">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axios · react-router</a:t>
            </a:r>
            <a:endParaRPr i="0" u="none" cap="none" strike="noStrike">
              <a:solidFill>
                <a:schemeClr val="dk1"/>
              </a:solidFill>
              <a:latin typeface="Noto Sans KR"/>
              <a:ea typeface="Noto Sans KR"/>
              <a:cs typeface="Noto Sans KR"/>
              <a:sym typeface="Noto Sans KR"/>
            </a:endParaRPr>
          </a:p>
        </p:txBody>
      </p:sp>
      <p:sp>
        <p:nvSpPr>
          <p:cNvPr id="255" name="Google Shape;255;p10"/>
          <p:cNvSpPr/>
          <p:nvPr/>
        </p:nvSpPr>
        <p:spPr>
          <a:xfrm>
            <a:off x="3931815" y="1645920"/>
            <a:ext cx="4206128" cy="4389120"/>
          </a:xfrm>
          <a:prstGeom prst="roundRect">
            <a:avLst>
              <a:gd fmla="val 3043" name="adj"/>
            </a:avLst>
          </a:prstGeom>
          <a:solidFill>
            <a:srgbClr val="FFFFFF"/>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txBox="1"/>
          <p:nvPr/>
        </p:nvSpPr>
        <p:spPr>
          <a:xfrm>
            <a:off x="4206128" y="1828800"/>
            <a:ext cx="3657503"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800"/>
              <a:buFont typeface="Malgun Gothic"/>
              <a:buNone/>
            </a:pPr>
            <a:r>
              <a:rPr b="1" i="0" lang="en-US" sz="1900" u="none" cap="none" strike="noStrike">
                <a:solidFill>
                  <a:srgbClr val="2563EB"/>
                </a:solidFill>
                <a:latin typeface="Asta Sans"/>
                <a:ea typeface="Asta Sans"/>
                <a:cs typeface="Asta Sans"/>
                <a:sym typeface="Asta Sans"/>
              </a:rPr>
              <a:t>Spring Boot Server</a:t>
            </a:r>
            <a:endParaRPr b="1" i="0" sz="1900" u="none" cap="none" strike="noStrike">
              <a:solidFill>
                <a:schemeClr val="dk1"/>
              </a:solidFill>
              <a:latin typeface="Asta Sans"/>
              <a:ea typeface="Asta Sans"/>
              <a:cs typeface="Asta Sans"/>
              <a:sym typeface="Asta Sans"/>
            </a:endParaRPr>
          </a:p>
        </p:txBody>
      </p:sp>
      <p:sp>
        <p:nvSpPr>
          <p:cNvPr id="257" name="Google Shape;257;p10"/>
          <p:cNvSpPr/>
          <p:nvPr/>
        </p:nvSpPr>
        <p:spPr>
          <a:xfrm>
            <a:off x="4206128" y="2423160"/>
            <a:ext cx="3657503" cy="685800"/>
          </a:xfrm>
          <a:prstGeom prst="roundRect">
            <a:avLst>
              <a:gd fmla="val 18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txBox="1"/>
          <p:nvPr/>
        </p:nvSpPr>
        <p:spPr>
          <a:xfrm>
            <a:off x="4389003" y="2423160"/>
            <a:ext cx="338319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Malgun Gothic"/>
              <a:buNone/>
            </a:pPr>
            <a:r>
              <a:rPr b="1" i="0" lang="en-US" sz="1400" u="none" cap="none" strike="noStrike">
                <a:solidFill>
                  <a:srgbClr val="2563EB"/>
                </a:solidFill>
                <a:latin typeface="Asta Sans"/>
                <a:ea typeface="Asta Sans"/>
                <a:cs typeface="Asta Sans"/>
                <a:sym typeface="Asta Sans"/>
              </a:rPr>
              <a:t>Spring Security + JWT</a:t>
            </a:r>
            <a:endParaRPr b="1" i="0" sz="1400" u="none" cap="none" strike="noStrike">
              <a:solidFill>
                <a:schemeClr val="dk1"/>
              </a:solidFill>
              <a:latin typeface="Asta Sans"/>
              <a:ea typeface="Asta Sans"/>
              <a:cs typeface="Asta Sans"/>
              <a:sym typeface="Asta Sans"/>
            </a:endParaRPr>
          </a:p>
        </p:txBody>
      </p:sp>
      <p:sp>
        <p:nvSpPr>
          <p:cNvPr id="259" name="Google Shape;259;p10"/>
          <p:cNvSpPr/>
          <p:nvPr/>
        </p:nvSpPr>
        <p:spPr>
          <a:xfrm>
            <a:off x="4206128" y="3273552"/>
            <a:ext cx="3657503" cy="685800"/>
          </a:xfrm>
          <a:prstGeom prst="roundRect">
            <a:avLst>
              <a:gd fmla="val 18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txBox="1"/>
          <p:nvPr/>
        </p:nvSpPr>
        <p:spPr>
          <a:xfrm>
            <a:off x="4389003" y="3273552"/>
            <a:ext cx="338319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Malgun Gothic"/>
              <a:buNone/>
            </a:pPr>
            <a:r>
              <a:rPr b="1" i="0" lang="en-US" sz="1400" u="none" cap="none" strike="noStrike">
                <a:solidFill>
                  <a:srgbClr val="2563EB"/>
                </a:solidFill>
                <a:latin typeface="Asta Sans"/>
                <a:ea typeface="Asta Sans"/>
                <a:cs typeface="Asta Sans"/>
                <a:sym typeface="Asta Sans"/>
              </a:rPr>
              <a:t>Spring Data JPA</a:t>
            </a:r>
            <a:endParaRPr b="1" i="0" sz="1400" u="none" cap="none" strike="noStrike">
              <a:solidFill>
                <a:schemeClr val="dk1"/>
              </a:solidFill>
              <a:latin typeface="Asta Sans"/>
              <a:ea typeface="Asta Sans"/>
              <a:cs typeface="Asta Sans"/>
              <a:sym typeface="Asta Sans"/>
            </a:endParaRPr>
          </a:p>
        </p:txBody>
      </p:sp>
      <p:sp>
        <p:nvSpPr>
          <p:cNvPr id="261" name="Google Shape;261;p10"/>
          <p:cNvSpPr/>
          <p:nvPr/>
        </p:nvSpPr>
        <p:spPr>
          <a:xfrm>
            <a:off x="4206128" y="4123944"/>
            <a:ext cx="3657503" cy="685800"/>
          </a:xfrm>
          <a:prstGeom prst="roundRect">
            <a:avLst>
              <a:gd fmla="val 18667" name="adj"/>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txBox="1"/>
          <p:nvPr/>
        </p:nvSpPr>
        <p:spPr>
          <a:xfrm>
            <a:off x="4389003" y="4123944"/>
            <a:ext cx="338319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400"/>
              <a:buFont typeface="Malgun Gothic"/>
              <a:buNone/>
            </a:pPr>
            <a:r>
              <a:rPr b="1" i="0" lang="en-US" sz="1400" u="none" cap="none" strike="noStrike">
                <a:solidFill>
                  <a:srgbClr val="4F46E5"/>
                </a:solidFill>
                <a:latin typeface="Asta Sans"/>
                <a:ea typeface="Asta Sans"/>
                <a:cs typeface="Asta Sans"/>
                <a:sym typeface="Asta Sans"/>
              </a:rPr>
              <a:t>Spring AI · ChatClient · Tool Calling</a:t>
            </a:r>
            <a:endParaRPr b="1" i="0" sz="1400" u="none" cap="none" strike="noStrike">
              <a:solidFill>
                <a:schemeClr val="dk1"/>
              </a:solidFill>
              <a:latin typeface="Asta Sans"/>
              <a:ea typeface="Asta Sans"/>
              <a:cs typeface="Asta Sans"/>
              <a:sym typeface="Asta Sans"/>
            </a:endParaRPr>
          </a:p>
        </p:txBody>
      </p:sp>
      <p:sp>
        <p:nvSpPr>
          <p:cNvPr id="263" name="Google Shape;263;p10"/>
          <p:cNvSpPr/>
          <p:nvPr/>
        </p:nvSpPr>
        <p:spPr>
          <a:xfrm>
            <a:off x="4206128" y="4974336"/>
            <a:ext cx="3657503" cy="685800"/>
          </a:xfrm>
          <a:prstGeom prst="roundRect">
            <a:avLst>
              <a:gd fmla="val 18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txBox="1"/>
          <p:nvPr/>
        </p:nvSpPr>
        <p:spPr>
          <a:xfrm>
            <a:off x="4389003" y="4974336"/>
            <a:ext cx="338319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Malgun Gothic"/>
              <a:buNone/>
            </a:pPr>
            <a:r>
              <a:rPr b="1" i="0" lang="en-US" sz="1400" u="none" cap="none" strike="noStrike">
                <a:solidFill>
                  <a:srgbClr val="2563EB"/>
                </a:solidFill>
                <a:latin typeface="Asta Sans"/>
                <a:ea typeface="Asta Sans"/>
                <a:cs typeface="Asta Sans"/>
                <a:sym typeface="Asta Sans"/>
              </a:rPr>
              <a:t>시설 동기화 스케줄러</a:t>
            </a:r>
            <a:endParaRPr b="1" i="0" sz="1400" u="none" cap="none" strike="noStrike">
              <a:solidFill>
                <a:schemeClr val="dk1"/>
              </a:solidFill>
              <a:latin typeface="Asta Sans"/>
              <a:ea typeface="Asta Sans"/>
              <a:cs typeface="Asta Sans"/>
              <a:sym typeface="Asta Sans"/>
            </a:endParaRPr>
          </a:p>
        </p:txBody>
      </p:sp>
      <p:cxnSp>
        <p:nvCxnSpPr>
          <p:cNvPr id="265" name="Google Shape;265;p10"/>
          <p:cNvCxnSpPr/>
          <p:nvPr/>
        </p:nvCxnSpPr>
        <p:spPr>
          <a:xfrm>
            <a:off x="3246033" y="3566160"/>
            <a:ext cx="640063" cy="0"/>
          </a:xfrm>
          <a:prstGeom prst="straightConnector1">
            <a:avLst/>
          </a:prstGeom>
          <a:noFill/>
          <a:ln cap="flat" cmpd="sng" w="19050">
            <a:solidFill>
              <a:srgbClr val="2563EB"/>
            </a:solidFill>
            <a:prstDash val="solid"/>
            <a:round/>
            <a:headEnd len="sm" w="sm" type="none"/>
            <a:tailEnd len="med" w="med" type="triangle"/>
          </a:ln>
        </p:spPr>
      </p:cxnSp>
      <p:sp>
        <p:nvSpPr>
          <p:cNvPr id="266" name="Google Shape;266;p10"/>
          <p:cNvSpPr/>
          <p:nvPr/>
        </p:nvSpPr>
        <p:spPr>
          <a:xfrm>
            <a:off x="8869444" y="1645920"/>
            <a:ext cx="2743127" cy="960120"/>
          </a:xfrm>
          <a:prstGeom prst="roundRect">
            <a:avLst>
              <a:gd fmla="val 13333"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9052319" y="1828800"/>
            <a:ext cx="594344" cy="59436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8" name="Google Shape;268;p10"/>
          <p:cNvPicPr preferRelativeResize="0"/>
          <p:nvPr/>
        </p:nvPicPr>
        <p:blipFill rotWithShape="1">
          <a:blip r:embed="rId4">
            <a:alphaModFix/>
          </a:blip>
          <a:srcRect b="0" l="0" r="0" t="0"/>
          <a:stretch/>
        </p:blipFill>
        <p:spPr>
          <a:xfrm>
            <a:off x="9200905" y="1977390"/>
            <a:ext cx="297172" cy="297172"/>
          </a:xfrm>
          <a:prstGeom prst="rect">
            <a:avLst/>
          </a:prstGeom>
          <a:noFill/>
          <a:ln>
            <a:noFill/>
          </a:ln>
        </p:spPr>
      </p:pic>
      <p:sp>
        <p:nvSpPr>
          <p:cNvPr id="269" name="Google Shape;269;p10"/>
          <p:cNvSpPr txBox="1"/>
          <p:nvPr/>
        </p:nvSpPr>
        <p:spPr>
          <a:xfrm>
            <a:off x="9783819" y="1783080"/>
            <a:ext cx="1783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b="1" i="0" lang="en-US" sz="1500" u="none" cap="none" strike="noStrike">
                <a:solidFill>
                  <a:srgbClr val="1E293B"/>
                </a:solidFill>
                <a:latin typeface="Asta Sans"/>
                <a:ea typeface="Asta Sans"/>
                <a:cs typeface="Asta Sans"/>
                <a:sym typeface="Asta Sans"/>
              </a:rPr>
              <a:t>MariaDB</a:t>
            </a:r>
            <a:endParaRPr b="1" i="0" sz="1500" u="none" cap="none" strike="noStrike">
              <a:solidFill>
                <a:schemeClr val="dk1"/>
              </a:solidFill>
              <a:latin typeface="Asta Sans"/>
              <a:ea typeface="Asta Sans"/>
              <a:cs typeface="Asta Sans"/>
              <a:sym typeface="Asta Sans"/>
            </a:endParaRPr>
          </a:p>
        </p:txBody>
      </p:sp>
      <p:sp>
        <p:nvSpPr>
          <p:cNvPr id="270" name="Google Shape;270;p10"/>
          <p:cNvSpPr txBox="1"/>
          <p:nvPr/>
        </p:nvSpPr>
        <p:spPr>
          <a:xfrm>
            <a:off x="9783819" y="2148840"/>
            <a:ext cx="17830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Malgun Gothic"/>
              <a:buNone/>
            </a:pPr>
            <a:r>
              <a:rPr i="0" lang="en-US" sz="1200" u="none" cap="none" strike="noStrike">
                <a:solidFill>
                  <a:srgbClr val="64748B"/>
                </a:solidFill>
                <a:latin typeface="Noto Sans KR"/>
                <a:ea typeface="Noto Sans KR"/>
                <a:cs typeface="Noto Sans KR"/>
                <a:sym typeface="Noto Sans KR"/>
              </a:rPr>
              <a:t>회원 · 매치 · 시설</a:t>
            </a:r>
            <a:endParaRPr i="0" sz="1200" u="none" cap="none" strike="noStrike">
              <a:solidFill>
                <a:schemeClr val="dk1"/>
              </a:solidFill>
              <a:latin typeface="Noto Sans KR"/>
              <a:ea typeface="Noto Sans KR"/>
              <a:cs typeface="Noto Sans KR"/>
              <a:sym typeface="Noto Sans KR"/>
            </a:endParaRPr>
          </a:p>
        </p:txBody>
      </p:sp>
      <p:cxnSp>
        <p:nvCxnSpPr>
          <p:cNvPr id="271" name="Google Shape;271;p10"/>
          <p:cNvCxnSpPr/>
          <p:nvPr/>
        </p:nvCxnSpPr>
        <p:spPr>
          <a:xfrm>
            <a:off x="8183662" y="2121408"/>
            <a:ext cx="640063" cy="0"/>
          </a:xfrm>
          <a:prstGeom prst="straightConnector1">
            <a:avLst/>
          </a:prstGeom>
          <a:noFill/>
          <a:ln cap="flat" cmpd="sng" w="19050">
            <a:solidFill>
              <a:srgbClr val="94A3B8"/>
            </a:solidFill>
            <a:prstDash val="solid"/>
            <a:round/>
            <a:headEnd len="sm" w="sm" type="none"/>
            <a:tailEnd len="med" w="med" type="triangle"/>
          </a:ln>
        </p:spPr>
      </p:cxnSp>
      <p:sp>
        <p:nvSpPr>
          <p:cNvPr id="272" name="Google Shape;272;p10"/>
          <p:cNvSpPr/>
          <p:nvPr/>
        </p:nvSpPr>
        <p:spPr>
          <a:xfrm>
            <a:off x="8869444" y="2770632"/>
            <a:ext cx="2743127" cy="960120"/>
          </a:xfrm>
          <a:prstGeom prst="roundRect">
            <a:avLst>
              <a:gd fmla="val 13333"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9052319" y="2953512"/>
            <a:ext cx="594344" cy="59436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4" name="Google Shape;274;p10"/>
          <p:cNvPicPr preferRelativeResize="0"/>
          <p:nvPr/>
        </p:nvPicPr>
        <p:blipFill rotWithShape="1">
          <a:blip r:embed="rId5">
            <a:alphaModFix/>
          </a:blip>
          <a:srcRect b="0" l="0" r="0" t="0"/>
          <a:stretch/>
        </p:blipFill>
        <p:spPr>
          <a:xfrm>
            <a:off x="9200905" y="3102102"/>
            <a:ext cx="297172" cy="297172"/>
          </a:xfrm>
          <a:prstGeom prst="rect">
            <a:avLst/>
          </a:prstGeom>
          <a:noFill/>
          <a:ln>
            <a:noFill/>
          </a:ln>
        </p:spPr>
      </p:pic>
      <p:sp>
        <p:nvSpPr>
          <p:cNvPr id="275" name="Google Shape;275;p10"/>
          <p:cNvSpPr txBox="1"/>
          <p:nvPr/>
        </p:nvSpPr>
        <p:spPr>
          <a:xfrm>
            <a:off x="9783819" y="2907792"/>
            <a:ext cx="1783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b="1" i="0" lang="en-US" sz="1500" u="none" cap="none" strike="noStrike">
                <a:solidFill>
                  <a:srgbClr val="1E293B"/>
                </a:solidFill>
                <a:latin typeface="Asta Sans"/>
                <a:ea typeface="Asta Sans"/>
                <a:cs typeface="Asta Sans"/>
                <a:sym typeface="Asta Sans"/>
              </a:rPr>
              <a:t>Redis</a:t>
            </a:r>
            <a:endParaRPr b="1" i="0" sz="1500" u="none" cap="none" strike="noStrike">
              <a:solidFill>
                <a:schemeClr val="dk1"/>
              </a:solidFill>
              <a:latin typeface="Asta Sans"/>
              <a:ea typeface="Asta Sans"/>
              <a:cs typeface="Asta Sans"/>
              <a:sym typeface="Asta Sans"/>
            </a:endParaRPr>
          </a:p>
        </p:txBody>
      </p:sp>
      <p:sp>
        <p:nvSpPr>
          <p:cNvPr id="276" name="Google Shape;276;p10"/>
          <p:cNvSpPr txBox="1"/>
          <p:nvPr/>
        </p:nvSpPr>
        <p:spPr>
          <a:xfrm>
            <a:off x="9783819" y="3273552"/>
            <a:ext cx="17830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Malgun Gothic"/>
              <a:buNone/>
            </a:pPr>
            <a:r>
              <a:rPr i="0" lang="en-US" sz="1200" u="none" cap="none" strike="noStrike">
                <a:solidFill>
                  <a:srgbClr val="64748B"/>
                </a:solidFill>
                <a:latin typeface="Noto Sans KR"/>
                <a:ea typeface="Noto Sans KR"/>
                <a:cs typeface="Noto Sans KR"/>
                <a:sym typeface="Noto Sans KR"/>
              </a:rPr>
              <a:t>Refresh Token</a:t>
            </a:r>
            <a:endParaRPr i="0" sz="1200" u="none" cap="none" strike="noStrike">
              <a:solidFill>
                <a:schemeClr val="dk1"/>
              </a:solidFill>
              <a:latin typeface="Noto Sans KR"/>
              <a:ea typeface="Noto Sans KR"/>
              <a:cs typeface="Noto Sans KR"/>
              <a:sym typeface="Noto Sans KR"/>
            </a:endParaRPr>
          </a:p>
        </p:txBody>
      </p:sp>
      <p:cxnSp>
        <p:nvCxnSpPr>
          <p:cNvPr id="277" name="Google Shape;277;p10"/>
          <p:cNvCxnSpPr/>
          <p:nvPr/>
        </p:nvCxnSpPr>
        <p:spPr>
          <a:xfrm>
            <a:off x="8183662" y="3246120"/>
            <a:ext cx="640063" cy="0"/>
          </a:xfrm>
          <a:prstGeom prst="straightConnector1">
            <a:avLst/>
          </a:prstGeom>
          <a:noFill/>
          <a:ln cap="flat" cmpd="sng" w="19050">
            <a:solidFill>
              <a:srgbClr val="94A3B8"/>
            </a:solidFill>
            <a:prstDash val="solid"/>
            <a:round/>
            <a:headEnd len="sm" w="sm" type="none"/>
            <a:tailEnd len="med" w="med" type="triangle"/>
          </a:ln>
        </p:spPr>
      </p:cxnSp>
      <p:sp>
        <p:nvSpPr>
          <p:cNvPr id="278" name="Google Shape;278;p10"/>
          <p:cNvSpPr/>
          <p:nvPr/>
        </p:nvSpPr>
        <p:spPr>
          <a:xfrm>
            <a:off x="8869444" y="3895344"/>
            <a:ext cx="2743127" cy="960120"/>
          </a:xfrm>
          <a:prstGeom prst="roundRect">
            <a:avLst>
              <a:gd fmla="val 13333" name="adj"/>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9052319" y="4078224"/>
            <a:ext cx="594344" cy="59436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10"/>
          <p:cNvPicPr preferRelativeResize="0"/>
          <p:nvPr/>
        </p:nvPicPr>
        <p:blipFill rotWithShape="1">
          <a:blip r:embed="rId6">
            <a:alphaModFix/>
          </a:blip>
          <a:srcRect b="0" l="0" r="0" t="0"/>
          <a:stretch/>
        </p:blipFill>
        <p:spPr>
          <a:xfrm>
            <a:off x="9200905" y="4226814"/>
            <a:ext cx="297172" cy="297172"/>
          </a:xfrm>
          <a:prstGeom prst="rect">
            <a:avLst/>
          </a:prstGeom>
          <a:noFill/>
          <a:ln>
            <a:noFill/>
          </a:ln>
        </p:spPr>
      </p:pic>
      <p:sp>
        <p:nvSpPr>
          <p:cNvPr id="281" name="Google Shape;281;p10"/>
          <p:cNvSpPr txBox="1"/>
          <p:nvPr/>
        </p:nvSpPr>
        <p:spPr>
          <a:xfrm>
            <a:off x="9783819" y="4032504"/>
            <a:ext cx="1783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b="1" i="0" lang="en-US" sz="1500" u="none" cap="none" strike="noStrike">
                <a:solidFill>
                  <a:srgbClr val="1E293B"/>
                </a:solidFill>
                <a:latin typeface="Asta Sans"/>
                <a:ea typeface="Asta Sans"/>
                <a:cs typeface="Asta Sans"/>
                <a:sym typeface="Asta Sans"/>
              </a:rPr>
              <a:t>OpenAI API</a:t>
            </a:r>
            <a:endParaRPr b="1" i="0" sz="1500" u="none" cap="none" strike="noStrike">
              <a:solidFill>
                <a:schemeClr val="dk1"/>
              </a:solidFill>
              <a:latin typeface="Asta Sans"/>
              <a:ea typeface="Asta Sans"/>
              <a:cs typeface="Asta Sans"/>
              <a:sym typeface="Asta Sans"/>
            </a:endParaRPr>
          </a:p>
        </p:txBody>
      </p:sp>
      <p:sp>
        <p:nvSpPr>
          <p:cNvPr id="282" name="Google Shape;282;p10"/>
          <p:cNvSpPr txBox="1"/>
          <p:nvPr/>
        </p:nvSpPr>
        <p:spPr>
          <a:xfrm>
            <a:off x="9783819" y="4398264"/>
            <a:ext cx="17830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Malgun Gothic"/>
              <a:buNone/>
            </a:pPr>
            <a:r>
              <a:rPr i="0" lang="en-US" sz="1200" u="none" cap="none" strike="noStrike">
                <a:solidFill>
                  <a:srgbClr val="64748B"/>
                </a:solidFill>
                <a:latin typeface="Noto Sans KR"/>
                <a:ea typeface="Noto Sans KR"/>
                <a:cs typeface="Noto Sans KR"/>
                <a:sym typeface="Noto Sans KR"/>
              </a:rPr>
              <a:t>조건 해석 · 추천 순서</a:t>
            </a:r>
            <a:endParaRPr i="0" sz="1200" u="none" cap="none" strike="noStrike">
              <a:solidFill>
                <a:schemeClr val="dk1"/>
              </a:solidFill>
              <a:latin typeface="Noto Sans KR"/>
              <a:ea typeface="Noto Sans KR"/>
              <a:cs typeface="Noto Sans KR"/>
              <a:sym typeface="Noto Sans KR"/>
            </a:endParaRPr>
          </a:p>
        </p:txBody>
      </p:sp>
      <p:cxnSp>
        <p:nvCxnSpPr>
          <p:cNvPr id="283" name="Google Shape;283;p10"/>
          <p:cNvCxnSpPr/>
          <p:nvPr/>
        </p:nvCxnSpPr>
        <p:spPr>
          <a:xfrm>
            <a:off x="8183662" y="4370832"/>
            <a:ext cx="640063" cy="0"/>
          </a:xfrm>
          <a:prstGeom prst="straightConnector1">
            <a:avLst/>
          </a:prstGeom>
          <a:noFill/>
          <a:ln cap="flat" cmpd="sng" w="19050">
            <a:solidFill>
              <a:srgbClr val="4F46E5"/>
            </a:solidFill>
            <a:prstDash val="solid"/>
            <a:round/>
            <a:headEnd len="sm" w="sm" type="none"/>
            <a:tailEnd len="med" w="med" type="triangle"/>
          </a:ln>
        </p:spPr>
      </p:cxnSp>
      <p:sp>
        <p:nvSpPr>
          <p:cNvPr id="284" name="Google Shape;284;p10"/>
          <p:cNvSpPr/>
          <p:nvPr/>
        </p:nvSpPr>
        <p:spPr>
          <a:xfrm>
            <a:off x="8869444" y="5020056"/>
            <a:ext cx="2743127" cy="960120"/>
          </a:xfrm>
          <a:prstGeom prst="roundRect">
            <a:avLst>
              <a:gd fmla="val 13333"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9052319" y="5202936"/>
            <a:ext cx="594344" cy="59436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6" name="Google Shape;286;p10"/>
          <p:cNvPicPr preferRelativeResize="0"/>
          <p:nvPr/>
        </p:nvPicPr>
        <p:blipFill rotWithShape="1">
          <a:blip r:embed="rId7">
            <a:alphaModFix/>
          </a:blip>
          <a:srcRect b="0" l="0" r="0" t="0"/>
          <a:stretch/>
        </p:blipFill>
        <p:spPr>
          <a:xfrm>
            <a:off x="9200905" y="5351526"/>
            <a:ext cx="297172" cy="297172"/>
          </a:xfrm>
          <a:prstGeom prst="rect">
            <a:avLst/>
          </a:prstGeom>
          <a:noFill/>
          <a:ln>
            <a:noFill/>
          </a:ln>
        </p:spPr>
      </p:pic>
      <p:sp>
        <p:nvSpPr>
          <p:cNvPr id="287" name="Google Shape;287;p10"/>
          <p:cNvSpPr txBox="1"/>
          <p:nvPr/>
        </p:nvSpPr>
        <p:spPr>
          <a:xfrm>
            <a:off x="9783819" y="5157216"/>
            <a:ext cx="1783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Malgun Gothic"/>
              <a:buNone/>
            </a:pPr>
            <a:r>
              <a:rPr b="1" i="0" lang="en-US" sz="1500" u="none" cap="none" strike="noStrike">
                <a:solidFill>
                  <a:srgbClr val="1E293B"/>
                </a:solidFill>
                <a:latin typeface="Asta Sans"/>
                <a:ea typeface="Asta Sans"/>
                <a:cs typeface="Asta Sans"/>
                <a:sym typeface="Asta Sans"/>
              </a:rPr>
              <a:t>서울시 공공데이터</a:t>
            </a:r>
            <a:endParaRPr b="1" i="0" sz="1500" u="none" cap="none" strike="noStrike">
              <a:solidFill>
                <a:schemeClr val="dk1"/>
              </a:solidFill>
              <a:latin typeface="Asta Sans"/>
              <a:ea typeface="Asta Sans"/>
              <a:cs typeface="Asta Sans"/>
              <a:sym typeface="Asta Sans"/>
            </a:endParaRPr>
          </a:p>
        </p:txBody>
      </p:sp>
      <p:sp>
        <p:nvSpPr>
          <p:cNvPr id="288" name="Google Shape;288;p10"/>
          <p:cNvSpPr txBox="1"/>
          <p:nvPr/>
        </p:nvSpPr>
        <p:spPr>
          <a:xfrm>
            <a:off x="9783819" y="5522976"/>
            <a:ext cx="17830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Malgun Gothic"/>
              <a:buNone/>
            </a:pPr>
            <a:r>
              <a:rPr i="0" lang="en-US" sz="1200" u="none" cap="none" strike="noStrike">
                <a:solidFill>
                  <a:srgbClr val="64748B"/>
                </a:solidFill>
                <a:latin typeface="Noto Sans KR"/>
                <a:ea typeface="Noto Sans KR"/>
                <a:cs typeface="Noto Sans KR"/>
                <a:sym typeface="Noto Sans KR"/>
              </a:rPr>
              <a:t>공공서비스예약 체육시설</a:t>
            </a:r>
            <a:endParaRPr i="0" sz="1200" u="none" cap="none" strike="noStrike">
              <a:solidFill>
                <a:schemeClr val="dk1"/>
              </a:solidFill>
              <a:latin typeface="Noto Sans KR"/>
              <a:ea typeface="Noto Sans KR"/>
              <a:cs typeface="Noto Sans KR"/>
              <a:sym typeface="Noto Sans KR"/>
            </a:endParaRPr>
          </a:p>
        </p:txBody>
      </p:sp>
      <p:cxnSp>
        <p:nvCxnSpPr>
          <p:cNvPr id="289" name="Google Shape;289;p10"/>
          <p:cNvCxnSpPr/>
          <p:nvPr/>
        </p:nvCxnSpPr>
        <p:spPr>
          <a:xfrm>
            <a:off x="8183662" y="5495544"/>
            <a:ext cx="640063" cy="0"/>
          </a:xfrm>
          <a:prstGeom prst="straightConnector1">
            <a:avLst/>
          </a:prstGeom>
          <a:noFill/>
          <a:ln cap="flat" cmpd="sng" w="19050">
            <a:solidFill>
              <a:srgbClr val="94A3B8"/>
            </a:solidFill>
            <a:prstDash val="solid"/>
            <a:round/>
            <a:headEnd len="sm" w="sm" type="none"/>
            <a:tailEnd len="med" w="med" type="triangle"/>
          </a:ln>
        </p:spPr>
      </p:cxnSp>
      <p:sp>
        <p:nvSpPr>
          <p:cNvPr id="290" name="Google Shape;290;p10"/>
          <p:cNvSpPr txBox="1"/>
          <p:nvPr/>
        </p:nvSpPr>
        <p:spPr>
          <a:xfrm>
            <a:off x="502875" y="703969"/>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React · Spring Boot · Spring AI로 구성했습니다</a:t>
            </a:r>
            <a:endParaRPr b="1" i="0" sz="2800" u="none" cap="none" strike="noStrike">
              <a:solidFill>
                <a:schemeClr val="dk1"/>
              </a:solidFill>
              <a:latin typeface="Asta Sans"/>
              <a:ea typeface="Asta Sans"/>
              <a:cs typeface="Asta Sans"/>
              <a:sym typeface="Asta Sans"/>
            </a:endParaRPr>
          </a:p>
        </p:txBody>
      </p:sp>
      <p:sp>
        <p:nvSpPr>
          <p:cNvPr id="291" name="Google Shape;291;p10"/>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292" name="Google Shape;292;p10"/>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
        <p:nvSpPr>
          <p:cNvPr id="293" name="Google Shape;293;p10"/>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8</a:t>
            </a:r>
            <a:endParaRPr b="0" i="0" sz="10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8" name="Shape 298"/>
        <p:cNvGrpSpPr/>
        <p:nvPr/>
      </p:nvGrpSpPr>
      <p:grpSpPr>
        <a:xfrm>
          <a:off x="0" y="0"/>
          <a:ext cx="0" cy="0"/>
          <a:chOff x="0" y="0"/>
          <a:chExt cx="0" cy="0"/>
        </a:xfrm>
      </p:grpSpPr>
      <p:sp>
        <p:nvSpPr>
          <p:cNvPr id="299" name="Google Shape;299;p11"/>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9</a:t>
            </a:r>
            <a:endParaRPr b="0" i="0" sz="1000" u="none" cap="none" strike="noStrike">
              <a:solidFill>
                <a:schemeClr val="dk1"/>
              </a:solidFill>
              <a:latin typeface="Malgun Gothic"/>
              <a:ea typeface="Malgun Gothic"/>
              <a:cs typeface="Malgun Gothic"/>
              <a:sym typeface="Malgun Gothic"/>
            </a:endParaRPr>
          </a:p>
        </p:txBody>
      </p:sp>
      <p:sp>
        <p:nvSpPr>
          <p:cNvPr id="300" name="Google Shape;300;p11"/>
          <p:cNvSpPr/>
          <p:nvPr/>
        </p:nvSpPr>
        <p:spPr>
          <a:xfrm>
            <a:off x="1158138" y="6464712"/>
            <a:ext cx="98754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Malgun Gothic"/>
              <a:buNone/>
            </a:pPr>
            <a:r>
              <a:rPr b="1" i="0" lang="en-US" sz="1450" u="none" cap="none" strike="noStrike">
                <a:solidFill>
                  <a:srgbClr val="0F172A"/>
                </a:solidFill>
                <a:latin typeface="Asta Sans"/>
                <a:ea typeface="Asta Sans"/>
                <a:cs typeface="Asta Sans"/>
                <a:sym typeface="Asta Sans"/>
              </a:rPr>
              <a:t>시연에서는 “시설 검색 → 매치 생성/조회 → 참여 신청 → AI 조건 검색” 순서로 서비스 흐름을 보여줍니다.</a:t>
            </a:r>
            <a:endParaRPr i="0" sz="1450" u="none" cap="none" strike="noStrike">
              <a:solidFill>
                <a:schemeClr val="dk1"/>
              </a:solidFill>
              <a:latin typeface="Asta Sans"/>
              <a:ea typeface="Asta Sans"/>
              <a:cs typeface="Asta Sans"/>
              <a:sym typeface="Asta Sans"/>
            </a:endParaRPr>
          </a:p>
        </p:txBody>
      </p:sp>
      <p:pic>
        <p:nvPicPr>
          <p:cNvPr id="301" name="Google Shape;301;p11" title="사용자 흐름.png"/>
          <p:cNvPicPr preferRelativeResize="0"/>
          <p:nvPr/>
        </p:nvPicPr>
        <p:blipFill>
          <a:blip r:embed="rId3">
            <a:alphaModFix/>
          </a:blip>
          <a:stretch>
            <a:fillRect/>
          </a:stretch>
        </p:blipFill>
        <p:spPr>
          <a:xfrm>
            <a:off x="2438388" y="818395"/>
            <a:ext cx="7314901" cy="5486154"/>
          </a:xfrm>
          <a:prstGeom prst="rect">
            <a:avLst/>
          </a:prstGeom>
          <a:noFill/>
          <a:ln cap="flat" cmpd="sng" w="9525">
            <a:solidFill>
              <a:schemeClr val="lt2"/>
            </a:solidFill>
            <a:prstDash val="solid"/>
            <a:round/>
            <a:headEnd len="sm" w="sm" type="none"/>
            <a:tailEnd len="sm" w="sm" type="none"/>
          </a:ln>
        </p:spPr>
      </p:pic>
      <p:sp>
        <p:nvSpPr>
          <p:cNvPr id="302" name="Google Shape;302;p11"/>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02. 프로젝트 개요</a:t>
            </a:r>
            <a:endParaRPr i="0" sz="1500" u="none" cap="none" strike="noStrike">
              <a:solidFill>
                <a:schemeClr val="dk1"/>
              </a:solidFill>
              <a:latin typeface="Asta Sans Medium"/>
              <a:ea typeface="Asta Sans Medium"/>
              <a:cs typeface="Asta Sans Medium"/>
              <a:sym typeface="Asta Sans Medium"/>
            </a:endParaRPr>
          </a:p>
        </p:txBody>
      </p:sp>
      <p:cxnSp>
        <p:nvCxnSpPr>
          <p:cNvPr id="303" name="Google Shape;303;p11"/>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8" name="Shape 308"/>
        <p:cNvGrpSpPr/>
        <p:nvPr/>
      </p:nvGrpSpPr>
      <p:grpSpPr>
        <a:xfrm>
          <a:off x="0" y="0"/>
          <a:ext cx="0" cy="0"/>
          <a:chOff x="0" y="0"/>
          <a:chExt cx="0" cy="0"/>
        </a:xfrm>
      </p:grpSpPr>
      <p:sp>
        <p:nvSpPr>
          <p:cNvPr id="309" name="Google Shape;309;p12"/>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세 가지 방법으로 운동을 연결합니다</a:t>
            </a:r>
            <a:endParaRPr b="1" i="0" sz="2800" u="none" cap="none" strike="noStrike">
              <a:solidFill>
                <a:schemeClr val="dk1"/>
              </a:solidFill>
              <a:latin typeface="Asta Sans"/>
              <a:ea typeface="Asta Sans"/>
              <a:cs typeface="Asta Sans"/>
              <a:sym typeface="Asta Sans"/>
            </a:endParaRPr>
          </a:p>
        </p:txBody>
      </p:sp>
      <p:sp>
        <p:nvSpPr>
          <p:cNvPr id="310" name="Google Shape;310;p12"/>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10</a:t>
            </a:r>
            <a:endParaRPr b="0" i="0" sz="1000" u="none" cap="none" strike="noStrike">
              <a:solidFill>
                <a:schemeClr val="dk1"/>
              </a:solidFill>
              <a:latin typeface="Malgun Gothic"/>
              <a:ea typeface="Malgun Gothic"/>
              <a:cs typeface="Malgun Gothic"/>
              <a:sym typeface="Malgun Gothic"/>
            </a:endParaRPr>
          </a:p>
        </p:txBody>
      </p:sp>
      <p:sp>
        <p:nvSpPr>
          <p:cNvPr id="311" name="Google Shape;311;p12"/>
          <p:cNvSpPr/>
          <p:nvPr/>
        </p:nvSpPr>
        <p:spPr>
          <a:xfrm>
            <a:off x="548625" y="1691640"/>
            <a:ext cx="3520346" cy="4343400"/>
          </a:xfrm>
          <a:prstGeom prst="roundRect">
            <a:avLst>
              <a:gd fmla="val 3636"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868657" y="1965960"/>
            <a:ext cx="777219" cy="77724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12"/>
          <p:cNvPicPr preferRelativeResize="0"/>
          <p:nvPr/>
        </p:nvPicPr>
        <p:blipFill rotWithShape="1">
          <a:blip r:embed="rId3">
            <a:alphaModFix/>
          </a:blip>
          <a:srcRect b="0" l="0" r="0" t="0"/>
          <a:stretch/>
        </p:blipFill>
        <p:spPr>
          <a:xfrm>
            <a:off x="1062962" y="2160270"/>
            <a:ext cx="388610" cy="388610"/>
          </a:xfrm>
          <a:prstGeom prst="rect">
            <a:avLst/>
          </a:prstGeom>
          <a:noFill/>
          <a:ln>
            <a:noFill/>
          </a:ln>
        </p:spPr>
      </p:pic>
      <p:sp>
        <p:nvSpPr>
          <p:cNvPr id="314" name="Google Shape;314;p12"/>
          <p:cNvSpPr txBox="1"/>
          <p:nvPr/>
        </p:nvSpPr>
        <p:spPr>
          <a:xfrm>
            <a:off x="868657" y="2971800"/>
            <a:ext cx="292600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100"/>
              <a:buFont typeface="Malgun Gothic"/>
              <a:buNone/>
            </a:pPr>
            <a:r>
              <a:rPr b="1" i="0" lang="en-US" sz="2100" u="none" cap="none" strike="noStrike">
                <a:solidFill>
                  <a:srgbClr val="1E293B"/>
                </a:solidFill>
                <a:latin typeface="Asta Sans"/>
                <a:ea typeface="Asta Sans"/>
                <a:cs typeface="Asta Sans"/>
                <a:sym typeface="Asta Sans"/>
              </a:rPr>
              <a:t>일반 운동 매칭</a:t>
            </a:r>
            <a:endParaRPr b="1" i="0" sz="2100" u="none" cap="none" strike="noStrike">
              <a:solidFill>
                <a:schemeClr val="dk1"/>
              </a:solidFill>
              <a:latin typeface="Asta Sans"/>
              <a:ea typeface="Asta Sans"/>
              <a:cs typeface="Asta Sans"/>
              <a:sym typeface="Asta Sans"/>
            </a:endParaRPr>
          </a:p>
        </p:txBody>
      </p:sp>
      <p:sp>
        <p:nvSpPr>
          <p:cNvPr id="315" name="Google Shape;315;p12"/>
          <p:cNvSpPr txBox="1"/>
          <p:nvPr/>
        </p:nvSpPr>
        <p:spPr>
          <a:xfrm>
            <a:off x="868657" y="34290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Malgun Gothic"/>
              <a:buNone/>
            </a:pPr>
            <a:r>
              <a:rPr i="0" lang="en-US" sz="1600" u="none" cap="none" strike="noStrike">
                <a:solidFill>
                  <a:srgbClr val="2563EB"/>
                </a:solidFill>
                <a:latin typeface="Asta Sans SemiBold"/>
                <a:ea typeface="Asta Sans SemiBold"/>
                <a:cs typeface="Asta Sans SemiBold"/>
                <a:sym typeface="Asta Sans SemiBold"/>
              </a:rPr>
              <a:t>조건을 직접 골라 찾기</a:t>
            </a:r>
            <a:endParaRPr i="0" sz="1600" u="none" cap="none" strike="noStrike">
              <a:solidFill>
                <a:schemeClr val="dk1"/>
              </a:solidFill>
              <a:latin typeface="Asta Sans SemiBold"/>
              <a:ea typeface="Asta Sans SemiBold"/>
              <a:cs typeface="Asta Sans SemiBold"/>
              <a:sym typeface="Asta Sans SemiBold"/>
            </a:endParaRPr>
          </a:p>
        </p:txBody>
      </p:sp>
      <p:sp>
        <p:nvSpPr>
          <p:cNvPr id="316" name="Google Shape;316;p12"/>
          <p:cNvSpPr txBox="1"/>
          <p:nvPr/>
        </p:nvSpPr>
        <p:spPr>
          <a:xfrm>
            <a:off x="868657" y="3977640"/>
            <a:ext cx="2926002"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조건 검색 · 상세 조회</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매치 생성 · 수정 · 삭제</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참여 · 탈퇴 · 내 매치</a:t>
            </a:r>
            <a:endParaRPr i="0" sz="1400" u="none" cap="none" strike="noStrike">
              <a:solidFill>
                <a:schemeClr val="dk1"/>
              </a:solidFill>
              <a:latin typeface="Noto Sans KR"/>
              <a:ea typeface="Noto Sans KR"/>
              <a:cs typeface="Noto Sans KR"/>
              <a:sym typeface="Noto Sans KR"/>
            </a:endParaRPr>
          </a:p>
        </p:txBody>
      </p:sp>
      <p:sp>
        <p:nvSpPr>
          <p:cNvPr id="317" name="Google Shape;317;p12"/>
          <p:cNvSpPr/>
          <p:nvPr/>
        </p:nvSpPr>
        <p:spPr>
          <a:xfrm>
            <a:off x="4297565" y="1691640"/>
            <a:ext cx="3520346" cy="4343400"/>
          </a:xfrm>
          <a:prstGeom prst="roundRect">
            <a:avLst>
              <a:gd fmla="val 3636" name="adj"/>
            </a:avLst>
          </a:prstGeom>
          <a:solidFill>
            <a:srgbClr val="EEF2FF"/>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6629223" y="1920240"/>
            <a:ext cx="960094" cy="347472"/>
          </a:xfrm>
          <a:prstGeom prst="roundRect">
            <a:avLst>
              <a:gd fmla="val 50000" name="adj"/>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txBox="1"/>
          <p:nvPr/>
        </p:nvSpPr>
        <p:spPr>
          <a:xfrm>
            <a:off x="6629223" y="1920240"/>
            <a:ext cx="96009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Malgun Gothic"/>
              <a:buNone/>
            </a:pPr>
            <a:r>
              <a:rPr i="0" lang="en-US" u="none" cap="none" strike="noStrike">
                <a:solidFill>
                  <a:srgbClr val="FFFFFF"/>
                </a:solidFill>
                <a:latin typeface="Asta Sans Medium"/>
                <a:ea typeface="Asta Sans Medium"/>
                <a:cs typeface="Asta Sans Medium"/>
                <a:sym typeface="Asta Sans Medium"/>
              </a:rPr>
              <a:t>핵심</a:t>
            </a:r>
            <a:endParaRPr i="0" u="none" cap="none" strike="noStrike">
              <a:solidFill>
                <a:schemeClr val="dk1"/>
              </a:solidFill>
              <a:latin typeface="Asta Sans SemiBold"/>
              <a:ea typeface="Asta Sans SemiBold"/>
              <a:cs typeface="Asta Sans SemiBold"/>
              <a:sym typeface="Asta Sans SemiBold"/>
            </a:endParaRPr>
          </a:p>
        </p:txBody>
      </p:sp>
      <p:sp>
        <p:nvSpPr>
          <p:cNvPr id="320" name="Google Shape;320;p12"/>
          <p:cNvSpPr/>
          <p:nvPr/>
        </p:nvSpPr>
        <p:spPr>
          <a:xfrm>
            <a:off x="4617597" y="1965960"/>
            <a:ext cx="777219" cy="77724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1" name="Google Shape;321;p12"/>
          <p:cNvPicPr preferRelativeResize="0"/>
          <p:nvPr/>
        </p:nvPicPr>
        <p:blipFill rotWithShape="1">
          <a:blip r:embed="rId4">
            <a:alphaModFix/>
          </a:blip>
          <a:srcRect b="0" l="0" r="0" t="0"/>
          <a:stretch/>
        </p:blipFill>
        <p:spPr>
          <a:xfrm>
            <a:off x="4811902" y="2160270"/>
            <a:ext cx="388610" cy="388610"/>
          </a:xfrm>
          <a:prstGeom prst="rect">
            <a:avLst/>
          </a:prstGeom>
          <a:noFill/>
          <a:ln>
            <a:noFill/>
          </a:ln>
        </p:spPr>
      </p:pic>
      <p:sp>
        <p:nvSpPr>
          <p:cNvPr id="322" name="Google Shape;322;p12"/>
          <p:cNvSpPr txBox="1"/>
          <p:nvPr/>
        </p:nvSpPr>
        <p:spPr>
          <a:xfrm>
            <a:off x="4617597" y="2971800"/>
            <a:ext cx="292600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100"/>
              <a:buFont typeface="Malgun Gothic"/>
              <a:buNone/>
            </a:pPr>
            <a:r>
              <a:rPr b="1" i="0" lang="en-US" sz="2100" u="none" cap="none" strike="noStrike">
                <a:solidFill>
                  <a:srgbClr val="1E293B"/>
                </a:solidFill>
                <a:latin typeface="Asta Sans"/>
                <a:ea typeface="Asta Sans"/>
                <a:cs typeface="Asta Sans"/>
                <a:sym typeface="Asta Sans"/>
              </a:rPr>
              <a:t>AI 자연어 매칭</a:t>
            </a:r>
            <a:endParaRPr b="1" i="0" sz="2100" u="none" cap="none" strike="noStrike">
              <a:solidFill>
                <a:schemeClr val="dk1"/>
              </a:solidFill>
              <a:latin typeface="Asta Sans"/>
              <a:ea typeface="Asta Sans"/>
              <a:cs typeface="Asta Sans"/>
              <a:sym typeface="Asta Sans"/>
            </a:endParaRPr>
          </a:p>
        </p:txBody>
      </p:sp>
      <p:sp>
        <p:nvSpPr>
          <p:cNvPr id="323" name="Google Shape;323;p12"/>
          <p:cNvSpPr txBox="1"/>
          <p:nvPr/>
        </p:nvSpPr>
        <p:spPr>
          <a:xfrm>
            <a:off x="4617597" y="34290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400"/>
              <a:buFont typeface="Malgun Gothic"/>
              <a:buNone/>
            </a:pPr>
            <a:r>
              <a:rPr i="0" lang="en-US" sz="1600" u="none" cap="none" strike="noStrike">
                <a:solidFill>
                  <a:srgbClr val="4F46E5"/>
                </a:solidFill>
                <a:latin typeface="Asta Sans SemiBold"/>
                <a:ea typeface="Asta Sans SemiBold"/>
                <a:cs typeface="Asta Sans SemiBold"/>
                <a:sym typeface="Asta Sans SemiBold"/>
              </a:rPr>
              <a:t>문장 한 줄로 찾고 만들기</a:t>
            </a:r>
            <a:endParaRPr i="0" sz="1600" u="none" cap="none" strike="noStrike">
              <a:solidFill>
                <a:schemeClr val="dk1"/>
              </a:solidFill>
              <a:latin typeface="Asta Sans SemiBold"/>
              <a:ea typeface="Asta Sans SemiBold"/>
              <a:cs typeface="Asta Sans SemiBold"/>
              <a:sym typeface="Asta Sans SemiBold"/>
            </a:endParaRPr>
          </a:p>
        </p:txBody>
      </p:sp>
      <p:sp>
        <p:nvSpPr>
          <p:cNvPr id="324" name="Google Shape;324;p12"/>
          <p:cNvSpPr txBox="1"/>
          <p:nvPr/>
        </p:nvSpPr>
        <p:spPr>
          <a:xfrm>
            <a:off x="4617597" y="3977640"/>
            <a:ext cx="2926002"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자연어 검색 + 조건 요약</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맞춤 조건 직접 수정</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매치 생성 초안 · 맞춤 추천</a:t>
            </a:r>
            <a:endParaRPr i="0" sz="1400" u="none" cap="none" strike="noStrike">
              <a:solidFill>
                <a:schemeClr val="dk1"/>
              </a:solidFill>
              <a:latin typeface="Noto Sans KR"/>
              <a:ea typeface="Noto Sans KR"/>
              <a:cs typeface="Noto Sans KR"/>
              <a:sym typeface="Noto Sans KR"/>
            </a:endParaRPr>
          </a:p>
        </p:txBody>
      </p:sp>
      <p:sp>
        <p:nvSpPr>
          <p:cNvPr id="325" name="Google Shape;325;p12"/>
          <p:cNvSpPr/>
          <p:nvPr/>
        </p:nvSpPr>
        <p:spPr>
          <a:xfrm>
            <a:off x="8046506" y="1691640"/>
            <a:ext cx="3520346" cy="4343400"/>
          </a:xfrm>
          <a:prstGeom prst="roundRect">
            <a:avLst>
              <a:gd fmla="val 3636"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8366537" y="1965960"/>
            <a:ext cx="777219" cy="77724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p12"/>
          <p:cNvPicPr preferRelativeResize="0"/>
          <p:nvPr/>
        </p:nvPicPr>
        <p:blipFill rotWithShape="1">
          <a:blip r:embed="rId5">
            <a:alphaModFix/>
          </a:blip>
          <a:srcRect b="0" l="0" r="0" t="0"/>
          <a:stretch/>
        </p:blipFill>
        <p:spPr>
          <a:xfrm>
            <a:off x="8560842" y="2160270"/>
            <a:ext cx="388610" cy="388610"/>
          </a:xfrm>
          <a:prstGeom prst="rect">
            <a:avLst/>
          </a:prstGeom>
          <a:noFill/>
          <a:ln>
            <a:noFill/>
          </a:ln>
        </p:spPr>
      </p:pic>
      <p:sp>
        <p:nvSpPr>
          <p:cNvPr id="328" name="Google Shape;328;p12"/>
          <p:cNvSpPr txBox="1"/>
          <p:nvPr/>
        </p:nvSpPr>
        <p:spPr>
          <a:xfrm>
            <a:off x="8366537" y="2971800"/>
            <a:ext cx="292600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100"/>
              <a:buFont typeface="Malgun Gothic"/>
              <a:buNone/>
            </a:pPr>
            <a:r>
              <a:rPr b="1" i="0" lang="en-US" sz="2100" u="none" cap="none" strike="noStrike">
                <a:solidFill>
                  <a:srgbClr val="1E293B"/>
                </a:solidFill>
                <a:latin typeface="Asta Sans"/>
                <a:ea typeface="Asta Sans"/>
                <a:cs typeface="Asta Sans"/>
                <a:sym typeface="Asta Sans"/>
              </a:rPr>
              <a:t>체육시설 정보 조회</a:t>
            </a:r>
            <a:endParaRPr b="1" i="0" sz="2100" u="none" cap="none" strike="noStrike">
              <a:solidFill>
                <a:schemeClr val="dk1"/>
              </a:solidFill>
              <a:latin typeface="Asta Sans"/>
              <a:ea typeface="Asta Sans"/>
              <a:cs typeface="Asta Sans"/>
              <a:sym typeface="Asta Sans"/>
            </a:endParaRPr>
          </a:p>
        </p:txBody>
      </p:sp>
      <p:sp>
        <p:nvSpPr>
          <p:cNvPr id="329" name="Google Shape;329;p12"/>
          <p:cNvSpPr txBox="1"/>
          <p:nvPr/>
        </p:nvSpPr>
        <p:spPr>
          <a:xfrm>
            <a:off x="8366537" y="34290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Malgun Gothic"/>
              <a:buNone/>
            </a:pPr>
            <a:r>
              <a:rPr i="0" lang="en-US" sz="1600" u="none" cap="none" strike="noStrike">
                <a:solidFill>
                  <a:srgbClr val="2563EB"/>
                </a:solidFill>
                <a:latin typeface="Asta Sans SemiBold"/>
                <a:ea typeface="Asta Sans SemiBold"/>
                <a:cs typeface="Asta Sans SemiBold"/>
                <a:sym typeface="Asta Sans SemiBold"/>
              </a:rPr>
              <a:t>어디서 운동할지 찾기</a:t>
            </a:r>
            <a:endParaRPr i="0" sz="1600" u="none" cap="none" strike="noStrike">
              <a:solidFill>
                <a:schemeClr val="dk1"/>
              </a:solidFill>
              <a:latin typeface="Asta Sans SemiBold"/>
              <a:ea typeface="Asta Sans SemiBold"/>
              <a:cs typeface="Asta Sans SemiBold"/>
              <a:sym typeface="Asta Sans SemiBold"/>
            </a:endParaRPr>
          </a:p>
        </p:txBody>
      </p:sp>
      <p:sp>
        <p:nvSpPr>
          <p:cNvPr id="330" name="Google Shape;330;p12"/>
          <p:cNvSpPr txBox="1"/>
          <p:nvPr/>
        </p:nvSpPr>
        <p:spPr>
          <a:xfrm>
            <a:off x="8366537" y="3977640"/>
            <a:ext cx="2926002"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서울시 공공체육시설 목록</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시설 상세 · 예약 링크</a:t>
            </a:r>
            <a:endParaRPr i="0" sz="1400" u="none" cap="none" strike="noStrike">
              <a:solidFill>
                <a:schemeClr val="dk1"/>
              </a:solidFill>
              <a:latin typeface="Noto Sans KR"/>
              <a:ea typeface="Noto Sans KR"/>
              <a:cs typeface="Noto Sans KR"/>
              <a:sym typeface="Noto Sans KR"/>
            </a:endParaRPr>
          </a:p>
          <a:p>
            <a:pPr indent="-342900" lvl="0" marL="342900" marR="0" rtl="0" algn="l">
              <a:spcBef>
                <a:spcPts val="800"/>
              </a:spcBef>
              <a:spcAft>
                <a:spcPts val="0"/>
              </a:spcAft>
              <a:buClr>
                <a:srgbClr val="1E293B"/>
              </a:buClr>
              <a:buSzPts val="1400"/>
              <a:buFont typeface="Noto Sans KR"/>
              <a:buChar char="•"/>
            </a:pPr>
            <a:r>
              <a:rPr i="0" lang="en-US" sz="1400" u="none" cap="none" strike="noStrike">
                <a:solidFill>
                  <a:srgbClr val="1E293B"/>
                </a:solidFill>
                <a:latin typeface="Noto Sans KR"/>
                <a:ea typeface="Noto Sans KR"/>
                <a:cs typeface="Noto Sans KR"/>
                <a:sym typeface="Noto Sans KR"/>
              </a:rPr>
              <a:t>시설을 골라 매치 생성</a:t>
            </a:r>
            <a:endParaRPr i="0" sz="1400" u="none" cap="none" strike="noStrike">
              <a:solidFill>
                <a:schemeClr val="dk1"/>
              </a:solidFill>
              <a:latin typeface="Noto Sans KR"/>
              <a:ea typeface="Noto Sans KR"/>
              <a:cs typeface="Noto Sans KR"/>
              <a:sym typeface="Noto Sans KR"/>
            </a:endParaRPr>
          </a:p>
        </p:txBody>
      </p:sp>
      <p:sp>
        <p:nvSpPr>
          <p:cNvPr id="331" name="Google Shape;331;p12"/>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03. </a:t>
            </a:r>
            <a:r>
              <a:rPr lang="en-US" sz="1500">
                <a:solidFill>
                  <a:srgbClr val="2563EB"/>
                </a:solidFill>
                <a:latin typeface="Asta Sans Medium"/>
                <a:ea typeface="Asta Sans Medium"/>
                <a:cs typeface="Asta Sans Medium"/>
                <a:sym typeface="Asta Sans Medium"/>
              </a:rPr>
              <a:t>핵심기능</a:t>
            </a:r>
            <a:endParaRPr i="0" sz="1500" u="none" cap="none" strike="noStrike">
              <a:solidFill>
                <a:schemeClr val="dk1"/>
              </a:solidFill>
              <a:latin typeface="Asta Sans Medium"/>
              <a:ea typeface="Asta Sans Medium"/>
              <a:cs typeface="Asta Sans Medium"/>
              <a:sym typeface="Asta Sans Medium"/>
            </a:endParaRPr>
          </a:p>
        </p:txBody>
      </p:sp>
      <p:cxnSp>
        <p:nvCxnSpPr>
          <p:cNvPr id="332" name="Google Shape;332;p12"/>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7" name="Shape 337"/>
        <p:cNvGrpSpPr/>
        <p:nvPr/>
      </p:nvGrpSpPr>
      <p:grpSpPr>
        <a:xfrm>
          <a:off x="0" y="0"/>
          <a:ext cx="0" cy="0"/>
          <a:chOff x="0" y="0"/>
          <a:chExt cx="0" cy="0"/>
        </a:xfrm>
      </p:grpSpPr>
      <p:sp>
        <p:nvSpPr>
          <p:cNvPr id="338" name="Google Shape;338;p13"/>
          <p:cNvSpPr txBox="1"/>
          <p:nvPr/>
        </p:nvSpPr>
        <p:spPr>
          <a:xfrm>
            <a:off x="548625" y="676656"/>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문장 한 줄로 찾고, 조건은 직접 고칩니다</a:t>
            </a:r>
            <a:endParaRPr b="1" i="0" sz="2800" u="none" cap="none" strike="noStrike">
              <a:solidFill>
                <a:schemeClr val="dk1"/>
              </a:solidFill>
              <a:latin typeface="Asta Sans"/>
              <a:ea typeface="Asta Sans"/>
              <a:cs typeface="Asta Sans"/>
              <a:sym typeface="Asta Sans"/>
            </a:endParaRPr>
          </a:p>
        </p:txBody>
      </p:sp>
      <p:sp>
        <p:nvSpPr>
          <p:cNvPr id="339" name="Google Shape;339;p13"/>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a:t>
            </a:r>
            <a:r>
              <a:rPr lang="en-US" sz="1000">
                <a:solidFill>
                  <a:srgbClr val="94A3B8"/>
                </a:solidFill>
                <a:latin typeface="Malgun Gothic"/>
                <a:ea typeface="Malgun Gothic"/>
                <a:cs typeface="Malgun Gothic"/>
                <a:sym typeface="Malgun Gothic"/>
              </a:rPr>
              <a:t>1</a:t>
            </a:r>
            <a:endParaRPr b="0" i="0" sz="1000" u="none" cap="none" strike="noStrike">
              <a:solidFill>
                <a:schemeClr val="dk1"/>
              </a:solidFill>
              <a:latin typeface="Malgun Gothic"/>
              <a:ea typeface="Malgun Gothic"/>
              <a:cs typeface="Malgun Gothic"/>
              <a:sym typeface="Malgun Gothic"/>
            </a:endParaRPr>
          </a:p>
        </p:txBody>
      </p:sp>
      <p:sp>
        <p:nvSpPr>
          <p:cNvPr id="340" name="Google Shape;340;p13"/>
          <p:cNvSpPr/>
          <p:nvPr/>
        </p:nvSpPr>
        <p:spPr>
          <a:xfrm>
            <a:off x="548625" y="1828800"/>
            <a:ext cx="548700" cy="548700"/>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txBox="1"/>
          <p:nvPr/>
        </p:nvSpPr>
        <p:spPr>
          <a:xfrm>
            <a:off x="548625" y="182880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Malgun Gothic"/>
              <a:buNone/>
            </a:pPr>
            <a:r>
              <a:rPr b="1" i="0" lang="en-US" sz="1800" u="none" cap="none" strike="noStrike">
                <a:solidFill>
                  <a:srgbClr val="FFFFFF"/>
                </a:solidFill>
                <a:latin typeface="Malgun Gothic"/>
                <a:ea typeface="Malgun Gothic"/>
                <a:cs typeface="Malgun Gothic"/>
                <a:sym typeface="Malgun Gothic"/>
              </a:rPr>
              <a:t>1</a:t>
            </a:r>
            <a:endParaRPr b="0" i="0" sz="1800" u="none" cap="none" strike="noStrike">
              <a:solidFill>
                <a:schemeClr val="dk1"/>
              </a:solidFill>
              <a:latin typeface="Malgun Gothic"/>
              <a:ea typeface="Malgun Gothic"/>
              <a:cs typeface="Malgun Gothic"/>
              <a:sym typeface="Malgun Gothic"/>
            </a:endParaRPr>
          </a:p>
        </p:txBody>
      </p:sp>
      <p:sp>
        <p:nvSpPr>
          <p:cNvPr id="342" name="Google Shape;342;p13"/>
          <p:cNvSpPr txBox="1"/>
          <p:nvPr/>
        </p:nvSpPr>
        <p:spPr>
          <a:xfrm>
            <a:off x="1325845" y="1737360"/>
            <a:ext cx="393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2000" u="none" cap="none" strike="noStrike">
                <a:solidFill>
                  <a:srgbClr val="1E293B"/>
                </a:solidFill>
                <a:latin typeface="Asta Sans"/>
                <a:ea typeface="Asta Sans"/>
                <a:cs typeface="Asta Sans"/>
                <a:sym typeface="Asta Sans"/>
              </a:rPr>
              <a:t>자연어로 검색</a:t>
            </a:r>
            <a:endParaRPr b="1" i="0" sz="2000" u="none" cap="none" strike="noStrike">
              <a:solidFill>
                <a:schemeClr val="dk1"/>
              </a:solidFill>
              <a:latin typeface="Asta Sans"/>
              <a:ea typeface="Asta Sans"/>
              <a:cs typeface="Asta Sans"/>
              <a:sym typeface="Asta Sans"/>
            </a:endParaRPr>
          </a:p>
        </p:txBody>
      </p:sp>
      <p:sp>
        <p:nvSpPr>
          <p:cNvPr id="343" name="Google Shape;343;p13"/>
          <p:cNvSpPr txBox="1"/>
          <p:nvPr/>
        </p:nvSpPr>
        <p:spPr>
          <a:xfrm>
            <a:off x="1325845" y="2194560"/>
            <a:ext cx="4206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"이번 주말 송파구에서 초보 풋살 찾아줘"</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처럼 말하듯 입력</a:t>
            </a:r>
            <a:endParaRPr i="0" sz="1500" u="none" cap="none" strike="noStrike">
              <a:solidFill>
                <a:schemeClr val="dk1"/>
              </a:solidFill>
              <a:latin typeface="Noto Sans KR"/>
              <a:ea typeface="Noto Sans KR"/>
              <a:cs typeface="Noto Sans KR"/>
              <a:sym typeface="Noto Sans KR"/>
            </a:endParaRPr>
          </a:p>
        </p:txBody>
      </p:sp>
      <p:sp>
        <p:nvSpPr>
          <p:cNvPr id="344" name="Google Shape;344;p13"/>
          <p:cNvSpPr/>
          <p:nvPr/>
        </p:nvSpPr>
        <p:spPr>
          <a:xfrm>
            <a:off x="548625" y="3246120"/>
            <a:ext cx="548700" cy="548700"/>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txBox="1"/>
          <p:nvPr/>
        </p:nvSpPr>
        <p:spPr>
          <a:xfrm>
            <a:off x="548625" y="324612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Malgun Gothic"/>
              <a:buNone/>
            </a:pPr>
            <a:r>
              <a:rPr b="1" i="0" lang="en-US" sz="1800" u="none" cap="none" strike="noStrike">
                <a:solidFill>
                  <a:srgbClr val="FFFFFF"/>
                </a:solidFill>
                <a:latin typeface="Malgun Gothic"/>
                <a:ea typeface="Malgun Gothic"/>
                <a:cs typeface="Malgun Gothic"/>
                <a:sym typeface="Malgun Gothic"/>
              </a:rPr>
              <a:t>2</a:t>
            </a:r>
            <a:endParaRPr b="0" i="0" sz="1800" u="none" cap="none" strike="noStrike">
              <a:solidFill>
                <a:schemeClr val="dk1"/>
              </a:solidFill>
              <a:latin typeface="Malgun Gothic"/>
              <a:ea typeface="Malgun Gothic"/>
              <a:cs typeface="Malgun Gothic"/>
              <a:sym typeface="Malgun Gothic"/>
            </a:endParaRPr>
          </a:p>
        </p:txBody>
      </p:sp>
      <p:sp>
        <p:nvSpPr>
          <p:cNvPr id="346" name="Google Shape;346;p13"/>
          <p:cNvSpPr txBox="1"/>
          <p:nvPr/>
        </p:nvSpPr>
        <p:spPr>
          <a:xfrm>
            <a:off x="1325845" y="3154680"/>
            <a:ext cx="393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2000" u="none" cap="none" strike="noStrike">
                <a:solidFill>
                  <a:srgbClr val="1E293B"/>
                </a:solidFill>
                <a:latin typeface="Asta Sans"/>
                <a:ea typeface="Asta Sans"/>
                <a:cs typeface="Asta Sans"/>
                <a:sym typeface="Asta Sans"/>
              </a:rPr>
              <a:t>AI가 분석한 조건 확인</a:t>
            </a:r>
            <a:endParaRPr b="1" i="0" sz="2000" u="none" cap="none" strike="noStrike">
              <a:solidFill>
                <a:schemeClr val="dk1"/>
              </a:solidFill>
              <a:latin typeface="Asta Sans"/>
              <a:ea typeface="Asta Sans"/>
              <a:cs typeface="Asta Sans"/>
              <a:sym typeface="Asta Sans"/>
            </a:endParaRPr>
          </a:p>
        </p:txBody>
      </p:sp>
      <p:sp>
        <p:nvSpPr>
          <p:cNvPr id="347" name="Google Shape;347;p13"/>
          <p:cNvSpPr txBox="1"/>
          <p:nvPr/>
        </p:nvSpPr>
        <p:spPr>
          <a:xfrm>
            <a:off x="1325845" y="3611880"/>
            <a:ext cx="4206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종목 · 성별 · 날짜 · 자치구 · 실력 · 모집 상태</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6가지로 요약</a:t>
            </a:r>
            <a:endParaRPr i="0" sz="1500" u="none" cap="none" strike="noStrike">
              <a:solidFill>
                <a:schemeClr val="dk1"/>
              </a:solidFill>
              <a:latin typeface="Noto Sans KR"/>
              <a:ea typeface="Noto Sans KR"/>
              <a:cs typeface="Noto Sans KR"/>
              <a:sym typeface="Noto Sans KR"/>
            </a:endParaRPr>
          </a:p>
        </p:txBody>
      </p:sp>
      <p:sp>
        <p:nvSpPr>
          <p:cNvPr id="348" name="Google Shape;348;p13"/>
          <p:cNvSpPr/>
          <p:nvPr/>
        </p:nvSpPr>
        <p:spPr>
          <a:xfrm>
            <a:off x="548625" y="4663440"/>
            <a:ext cx="548700" cy="548700"/>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txBox="1"/>
          <p:nvPr/>
        </p:nvSpPr>
        <p:spPr>
          <a:xfrm>
            <a:off x="548625" y="466344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Malgun Gothic"/>
              <a:buNone/>
            </a:pPr>
            <a:r>
              <a:rPr b="1" i="0" lang="en-US" sz="1800" u="none" cap="none" strike="noStrike">
                <a:solidFill>
                  <a:srgbClr val="FFFFFF"/>
                </a:solidFill>
                <a:latin typeface="Malgun Gothic"/>
                <a:ea typeface="Malgun Gothic"/>
                <a:cs typeface="Malgun Gothic"/>
                <a:sym typeface="Malgun Gothic"/>
              </a:rPr>
              <a:t>3</a:t>
            </a:r>
            <a:endParaRPr b="0" i="0" sz="1800" u="none" cap="none" strike="noStrike">
              <a:solidFill>
                <a:schemeClr val="dk1"/>
              </a:solidFill>
              <a:latin typeface="Malgun Gothic"/>
              <a:ea typeface="Malgun Gothic"/>
              <a:cs typeface="Malgun Gothic"/>
              <a:sym typeface="Malgun Gothic"/>
            </a:endParaRPr>
          </a:p>
        </p:txBody>
      </p:sp>
      <p:sp>
        <p:nvSpPr>
          <p:cNvPr id="350" name="Google Shape;350;p13"/>
          <p:cNvSpPr txBox="1"/>
          <p:nvPr/>
        </p:nvSpPr>
        <p:spPr>
          <a:xfrm>
            <a:off x="1325845" y="4572000"/>
            <a:ext cx="3931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800"/>
              <a:buFont typeface="Malgun Gothic"/>
              <a:buNone/>
            </a:pPr>
            <a:r>
              <a:rPr b="1" i="0" lang="en-US" sz="2000" u="none" cap="none" strike="noStrike">
                <a:solidFill>
                  <a:srgbClr val="1E293B"/>
                </a:solidFill>
                <a:latin typeface="Asta Sans"/>
                <a:ea typeface="Asta Sans"/>
                <a:cs typeface="Asta Sans"/>
                <a:sym typeface="Asta Sans"/>
              </a:rPr>
              <a:t>조건 직접 수정</a:t>
            </a:r>
            <a:endParaRPr b="1" i="0" sz="2000" u="none" cap="none" strike="noStrike">
              <a:solidFill>
                <a:schemeClr val="dk1"/>
              </a:solidFill>
              <a:latin typeface="Asta Sans"/>
              <a:ea typeface="Asta Sans"/>
              <a:cs typeface="Asta Sans"/>
              <a:sym typeface="Asta Sans"/>
            </a:endParaRPr>
          </a:p>
        </p:txBody>
      </p:sp>
      <p:sp>
        <p:nvSpPr>
          <p:cNvPr id="351" name="Google Shape;351;p13"/>
          <p:cNvSpPr txBox="1"/>
          <p:nvPr/>
        </p:nvSpPr>
        <p:spPr>
          <a:xfrm>
            <a:off x="1325845" y="5029200"/>
            <a:ext cx="4206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폼에서 조건을 고치면</a:t>
            </a:r>
            <a:endParaRPr i="0" sz="150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200"/>
              <a:buFont typeface="Malgun Gothic"/>
              <a:buNone/>
            </a:pPr>
            <a:r>
              <a:rPr i="0" lang="en-US" sz="1500" u="none" cap="none" strike="noStrike">
                <a:solidFill>
                  <a:srgbClr val="64748B"/>
                </a:solidFill>
                <a:latin typeface="Noto Sans KR"/>
                <a:ea typeface="Noto Sans KR"/>
                <a:cs typeface="Noto Sans KR"/>
                <a:sym typeface="Noto Sans KR"/>
              </a:rPr>
              <a:t>AI 없이 바로 다시 검색</a:t>
            </a:r>
            <a:endParaRPr i="0" sz="1500" u="none" cap="none" strike="noStrike">
              <a:solidFill>
                <a:schemeClr val="dk1"/>
              </a:solidFill>
              <a:latin typeface="Noto Sans KR"/>
              <a:ea typeface="Noto Sans KR"/>
              <a:cs typeface="Noto Sans KR"/>
              <a:sym typeface="Noto Sans KR"/>
            </a:endParaRPr>
          </a:p>
        </p:txBody>
      </p:sp>
      <p:sp>
        <p:nvSpPr>
          <p:cNvPr id="352" name="Google Shape;352;p13"/>
          <p:cNvSpPr/>
          <p:nvPr/>
        </p:nvSpPr>
        <p:spPr>
          <a:xfrm>
            <a:off x="5669129" y="1691640"/>
            <a:ext cx="5943300" cy="4343400"/>
          </a:xfrm>
          <a:prstGeom prst="roundRect">
            <a:avLst>
              <a:gd fmla="val 2947" name="adj"/>
            </a:avLst>
          </a:prstGeom>
          <a:solidFill>
            <a:srgbClr val="F1F5F9"/>
          </a:solidFill>
          <a:ln cap="flat" cmpd="sng" w="12700">
            <a:solidFill>
              <a:srgbClr val="94A3B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descr="c11.png" id="353" name="Google Shape;353;p13"/>
          <p:cNvPicPr preferRelativeResize="0"/>
          <p:nvPr/>
        </p:nvPicPr>
        <p:blipFill rotWithShape="1">
          <a:blip r:embed="rId3">
            <a:alphaModFix/>
          </a:blip>
          <a:srcRect b="0" l="0" r="0" t="0"/>
          <a:stretch/>
        </p:blipFill>
        <p:spPr>
          <a:xfrm>
            <a:off x="5723991" y="1746504"/>
            <a:ext cx="5833719" cy="4233561"/>
          </a:xfrm>
          <a:prstGeom prst="rect">
            <a:avLst/>
          </a:prstGeom>
          <a:noFill/>
          <a:ln>
            <a:noFill/>
          </a:ln>
        </p:spPr>
      </p:pic>
      <p:sp>
        <p:nvSpPr>
          <p:cNvPr id="354" name="Google Shape;354;p13"/>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03. 핵심기능</a:t>
            </a:r>
            <a:endParaRPr i="0" sz="1500" u="none" cap="none" strike="noStrike">
              <a:solidFill>
                <a:schemeClr val="dk1"/>
              </a:solidFill>
              <a:latin typeface="Asta Sans Medium"/>
              <a:ea typeface="Asta Sans Medium"/>
              <a:cs typeface="Asta Sans Medium"/>
              <a:sym typeface="Asta Sans Medium"/>
            </a:endParaRPr>
          </a:p>
        </p:txBody>
      </p:sp>
      <p:cxnSp>
        <p:nvCxnSpPr>
          <p:cNvPr id="355" name="Google Shape;355;p13"/>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0" name="Shape 360"/>
        <p:cNvGrpSpPr/>
        <p:nvPr/>
      </p:nvGrpSpPr>
      <p:grpSpPr>
        <a:xfrm>
          <a:off x="0" y="0"/>
          <a:ext cx="0" cy="0"/>
          <a:chOff x="0" y="0"/>
          <a:chExt cx="0" cy="0"/>
        </a:xfrm>
      </p:grpSpPr>
      <p:sp>
        <p:nvSpPr>
          <p:cNvPr id="361" name="Google Shape;361;p14"/>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AI는 문장을 해석하고, 조회와 검증은 서버가 합니다</a:t>
            </a:r>
            <a:endParaRPr b="1" i="0" sz="2800" u="none" cap="none" strike="noStrike">
              <a:solidFill>
                <a:schemeClr val="dk1"/>
              </a:solidFill>
              <a:latin typeface="Asta Sans"/>
              <a:ea typeface="Asta Sans"/>
              <a:cs typeface="Asta Sans"/>
              <a:sym typeface="Asta Sans"/>
            </a:endParaRPr>
          </a:p>
        </p:txBody>
      </p:sp>
      <p:sp>
        <p:nvSpPr>
          <p:cNvPr id="362" name="Google Shape;362;p14"/>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12</a:t>
            </a:r>
            <a:endParaRPr b="0" i="0" sz="1000" u="none" cap="none" strike="noStrike">
              <a:solidFill>
                <a:schemeClr val="dk1"/>
              </a:solidFill>
              <a:latin typeface="Malgun Gothic"/>
              <a:ea typeface="Malgun Gothic"/>
              <a:cs typeface="Malgun Gothic"/>
              <a:sym typeface="Malgun Gothic"/>
            </a:endParaRPr>
          </a:p>
        </p:txBody>
      </p:sp>
      <p:sp>
        <p:nvSpPr>
          <p:cNvPr id="363" name="Google Shape;363;p14"/>
          <p:cNvSpPr/>
          <p:nvPr/>
        </p:nvSpPr>
        <p:spPr>
          <a:xfrm>
            <a:off x="548625" y="1737360"/>
            <a:ext cx="1965908" cy="1325880"/>
          </a:xfrm>
          <a:prstGeom prst="roundRect">
            <a:avLst>
              <a:gd fmla="val 9655"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4"/>
          <p:cNvSpPr txBox="1"/>
          <p:nvPr/>
        </p:nvSpPr>
        <p:spPr>
          <a:xfrm>
            <a:off x="640063" y="1874520"/>
            <a:ext cx="1783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b="1" i="0" lang="en-US" sz="1700" u="none" cap="none" strike="noStrike">
                <a:solidFill>
                  <a:srgbClr val="1E293B"/>
                </a:solidFill>
                <a:latin typeface="Asta Sans"/>
                <a:ea typeface="Asta Sans"/>
                <a:cs typeface="Asta Sans"/>
                <a:sym typeface="Asta Sans"/>
              </a:rPr>
              <a:t>사용자 문장</a:t>
            </a:r>
            <a:endParaRPr b="1" i="0" sz="1700" u="none" cap="none" strike="noStrike">
              <a:solidFill>
                <a:schemeClr val="dk1"/>
              </a:solidFill>
              <a:latin typeface="Asta Sans"/>
              <a:ea typeface="Asta Sans"/>
              <a:cs typeface="Asta Sans"/>
              <a:sym typeface="Asta Sans"/>
            </a:endParaRPr>
          </a:p>
        </p:txBody>
      </p:sp>
      <p:sp>
        <p:nvSpPr>
          <p:cNvPr id="365" name="Google Shape;365;p14"/>
          <p:cNvSpPr txBox="1"/>
          <p:nvPr/>
        </p:nvSpPr>
        <p:spPr>
          <a:xfrm>
            <a:off x="640063" y="2377440"/>
            <a:ext cx="178303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u="none" cap="none" strike="noStrike">
                <a:solidFill>
                  <a:srgbClr val="64748B"/>
                </a:solidFill>
                <a:latin typeface="Asta Sans Medium"/>
                <a:ea typeface="Asta Sans Medium"/>
                <a:cs typeface="Asta Sans Medium"/>
                <a:sym typeface="Asta Sans Medium"/>
              </a:rPr>
              <a:t>"이번 주말 </a:t>
            </a:r>
            <a:r>
              <a:rPr lang="en-US">
                <a:solidFill>
                  <a:srgbClr val="64748B"/>
                </a:solidFill>
                <a:latin typeface="Asta Sans Medium"/>
                <a:ea typeface="Asta Sans Medium"/>
                <a:cs typeface="Asta Sans Medium"/>
                <a:sym typeface="Asta Sans Medium"/>
              </a:rPr>
              <a:t>송파</a:t>
            </a:r>
            <a:r>
              <a:rPr i="0" lang="en-US" u="none" cap="none" strike="noStrike">
                <a:solidFill>
                  <a:srgbClr val="64748B"/>
                </a:solidFill>
                <a:latin typeface="Asta Sans Medium"/>
                <a:ea typeface="Asta Sans Medium"/>
                <a:cs typeface="Asta Sans Medium"/>
                <a:sym typeface="Asta Sans Medium"/>
              </a:rPr>
              <a:t> 초보 풋살"</a:t>
            </a:r>
            <a:endParaRPr i="0" u="none" cap="none" strike="noStrike">
              <a:solidFill>
                <a:schemeClr val="dk1"/>
              </a:solidFill>
              <a:latin typeface="Asta Sans Medium"/>
              <a:ea typeface="Asta Sans Medium"/>
              <a:cs typeface="Asta Sans Medium"/>
              <a:sym typeface="Asta Sans Medium"/>
            </a:endParaRPr>
          </a:p>
        </p:txBody>
      </p:sp>
      <p:cxnSp>
        <p:nvCxnSpPr>
          <p:cNvPr id="366" name="Google Shape;366;p14"/>
          <p:cNvCxnSpPr/>
          <p:nvPr/>
        </p:nvCxnSpPr>
        <p:spPr>
          <a:xfrm>
            <a:off x="2541964" y="2395728"/>
            <a:ext cx="265169" cy="0"/>
          </a:xfrm>
          <a:prstGeom prst="straightConnector1">
            <a:avLst/>
          </a:prstGeom>
          <a:noFill/>
          <a:ln cap="flat" cmpd="sng" w="19050">
            <a:solidFill>
              <a:srgbClr val="94A3B8"/>
            </a:solidFill>
            <a:prstDash val="solid"/>
            <a:round/>
            <a:headEnd len="sm" w="sm" type="none"/>
            <a:tailEnd len="med" w="med" type="triangle"/>
          </a:ln>
        </p:spPr>
      </p:cxnSp>
      <p:sp>
        <p:nvSpPr>
          <p:cNvPr id="367" name="Google Shape;367;p14"/>
          <p:cNvSpPr/>
          <p:nvPr/>
        </p:nvSpPr>
        <p:spPr>
          <a:xfrm>
            <a:off x="2834564" y="1737360"/>
            <a:ext cx="1965908" cy="1325880"/>
          </a:xfrm>
          <a:prstGeom prst="roundRect">
            <a:avLst>
              <a:gd fmla="val 9655" name="adj"/>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txBox="1"/>
          <p:nvPr/>
        </p:nvSpPr>
        <p:spPr>
          <a:xfrm>
            <a:off x="2926002" y="1874520"/>
            <a:ext cx="1783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1500"/>
              <a:buFont typeface="Malgun Gothic"/>
              <a:buNone/>
            </a:pPr>
            <a:r>
              <a:rPr b="1" i="0" lang="en-US" sz="1700" u="none" cap="none" strike="noStrike">
                <a:solidFill>
                  <a:srgbClr val="4F46E5"/>
                </a:solidFill>
                <a:latin typeface="Asta Sans"/>
                <a:ea typeface="Asta Sans"/>
                <a:cs typeface="Asta Sans"/>
                <a:sym typeface="Asta Sans"/>
              </a:rPr>
              <a:t>AI 조건 추출</a:t>
            </a:r>
            <a:endParaRPr b="1" i="0" sz="1700" u="none" cap="none" strike="noStrike">
              <a:solidFill>
                <a:schemeClr val="dk1"/>
              </a:solidFill>
              <a:latin typeface="Asta Sans"/>
              <a:ea typeface="Asta Sans"/>
              <a:cs typeface="Asta Sans"/>
              <a:sym typeface="Asta Sans"/>
            </a:endParaRPr>
          </a:p>
        </p:txBody>
      </p:sp>
      <p:sp>
        <p:nvSpPr>
          <p:cNvPr id="369" name="Google Shape;369;p14"/>
          <p:cNvSpPr txBox="1"/>
          <p:nvPr/>
        </p:nvSpPr>
        <p:spPr>
          <a:xfrm>
            <a:off x="2926002" y="2377440"/>
            <a:ext cx="178303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u="none" cap="none" strike="noStrike">
                <a:solidFill>
                  <a:srgbClr val="64748B"/>
                </a:solidFill>
                <a:latin typeface="Asta Sans Medium"/>
                <a:ea typeface="Asta Sans Medium"/>
                <a:cs typeface="Asta Sans Medium"/>
                <a:sym typeface="Asta Sans Medium"/>
              </a:rPr>
              <a:t>Tool Calling</a:t>
            </a:r>
            <a:endParaRPr i="0" u="none" cap="none" strike="noStrike">
              <a:solidFill>
                <a:schemeClr val="dk1"/>
              </a:solidFill>
              <a:latin typeface="Asta Sans Medium"/>
              <a:ea typeface="Asta Sans Medium"/>
              <a:cs typeface="Asta Sans Medium"/>
              <a:sym typeface="Asta Sans Medium"/>
            </a:endParaRPr>
          </a:p>
        </p:txBody>
      </p:sp>
      <p:cxnSp>
        <p:nvCxnSpPr>
          <p:cNvPr id="370" name="Google Shape;370;p14"/>
          <p:cNvCxnSpPr/>
          <p:nvPr/>
        </p:nvCxnSpPr>
        <p:spPr>
          <a:xfrm>
            <a:off x="4827903" y="2395728"/>
            <a:ext cx="265169" cy="0"/>
          </a:xfrm>
          <a:prstGeom prst="straightConnector1">
            <a:avLst/>
          </a:prstGeom>
          <a:noFill/>
          <a:ln cap="flat" cmpd="sng" w="19050">
            <a:solidFill>
              <a:srgbClr val="94A3B8"/>
            </a:solidFill>
            <a:prstDash val="solid"/>
            <a:round/>
            <a:headEnd len="sm" w="sm" type="none"/>
            <a:tailEnd len="med" w="med" type="triangle"/>
          </a:ln>
        </p:spPr>
      </p:cxnSp>
      <p:sp>
        <p:nvSpPr>
          <p:cNvPr id="371" name="Google Shape;371;p14"/>
          <p:cNvSpPr/>
          <p:nvPr/>
        </p:nvSpPr>
        <p:spPr>
          <a:xfrm>
            <a:off x="5120504" y="1737360"/>
            <a:ext cx="1965908" cy="1325880"/>
          </a:xfrm>
          <a:prstGeom prst="roundRect">
            <a:avLst>
              <a:gd fmla="val 9655"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txBox="1"/>
          <p:nvPr/>
        </p:nvSpPr>
        <p:spPr>
          <a:xfrm>
            <a:off x="5211941" y="1874520"/>
            <a:ext cx="1783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500"/>
              <a:buFont typeface="Malgun Gothic"/>
              <a:buNone/>
            </a:pPr>
            <a:r>
              <a:rPr b="1" i="0" lang="en-US" sz="1700" u="none" cap="none" strike="noStrike">
                <a:solidFill>
                  <a:srgbClr val="2563EB"/>
                </a:solidFill>
                <a:latin typeface="Asta Sans"/>
                <a:ea typeface="Asta Sans"/>
                <a:cs typeface="Asta Sans"/>
                <a:sym typeface="Asta Sans"/>
              </a:rPr>
              <a:t>서버 검증 · 보정</a:t>
            </a:r>
            <a:endParaRPr b="1" i="0" sz="1700" u="none" cap="none" strike="noStrike">
              <a:solidFill>
                <a:schemeClr val="dk1"/>
              </a:solidFill>
              <a:latin typeface="Asta Sans"/>
              <a:ea typeface="Asta Sans"/>
              <a:cs typeface="Asta Sans"/>
              <a:sym typeface="Asta Sans"/>
            </a:endParaRPr>
          </a:p>
        </p:txBody>
      </p:sp>
      <p:sp>
        <p:nvSpPr>
          <p:cNvPr id="373" name="Google Shape;373;p14"/>
          <p:cNvSpPr txBox="1"/>
          <p:nvPr/>
        </p:nvSpPr>
        <p:spPr>
          <a:xfrm>
            <a:off x="5211941" y="2377440"/>
            <a:ext cx="178303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u="none" cap="none" strike="noStrike">
                <a:solidFill>
                  <a:srgbClr val="64748B"/>
                </a:solidFill>
                <a:latin typeface="Asta Sans Medium"/>
                <a:ea typeface="Asta Sans Medium"/>
                <a:cs typeface="Asta Sans Medium"/>
                <a:sym typeface="Asta Sans Medium"/>
              </a:rPr>
              <a:t>기본값 · 지원 종목 확인</a:t>
            </a:r>
            <a:endParaRPr i="0" u="none" cap="none" strike="noStrike">
              <a:solidFill>
                <a:schemeClr val="dk1"/>
              </a:solidFill>
              <a:latin typeface="Asta Sans Medium"/>
              <a:ea typeface="Asta Sans Medium"/>
              <a:cs typeface="Asta Sans Medium"/>
              <a:sym typeface="Asta Sans Medium"/>
            </a:endParaRPr>
          </a:p>
        </p:txBody>
      </p:sp>
      <p:cxnSp>
        <p:nvCxnSpPr>
          <p:cNvPr id="374" name="Google Shape;374;p14"/>
          <p:cNvCxnSpPr/>
          <p:nvPr/>
        </p:nvCxnSpPr>
        <p:spPr>
          <a:xfrm>
            <a:off x="7113842" y="2395728"/>
            <a:ext cx="265169" cy="0"/>
          </a:xfrm>
          <a:prstGeom prst="straightConnector1">
            <a:avLst/>
          </a:prstGeom>
          <a:noFill/>
          <a:ln cap="flat" cmpd="sng" w="19050">
            <a:solidFill>
              <a:srgbClr val="94A3B8"/>
            </a:solidFill>
            <a:prstDash val="solid"/>
            <a:round/>
            <a:headEnd len="sm" w="sm" type="none"/>
            <a:tailEnd len="med" w="med" type="triangle"/>
          </a:ln>
        </p:spPr>
      </p:cxnSp>
      <p:sp>
        <p:nvSpPr>
          <p:cNvPr id="375" name="Google Shape;375;p14"/>
          <p:cNvSpPr/>
          <p:nvPr/>
        </p:nvSpPr>
        <p:spPr>
          <a:xfrm>
            <a:off x="7406443" y="1737360"/>
            <a:ext cx="1965908" cy="1325880"/>
          </a:xfrm>
          <a:prstGeom prst="roundRect">
            <a:avLst>
              <a:gd fmla="val 9655"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txBox="1"/>
          <p:nvPr/>
        </p:nvSpPr>
        <p:spPr>
          <a:xfrm>
            <a:off x="7497880" y="1874520"/>
            <a:ext cx="1783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500"/>
              <a:buFont typeface="Malgun Gothic"/>
              <a:buNone/>
            </a:pPr>
            <a:r>
              <a:rPr b="1" i="0" lang="en-US" sz="1700" u="none" cap="none" strike="noStrike">
                <a:solidFill>
                  <a:srgbClr val="2563EB"/>
                </a:solidFill>
                <a:latin typeface="Asta Sans"/>
                <a:ea typeface="Asta Sans"/>
                <a:cs typeface="Asta Sans"/>
                <a:sym typeface="Asta Sans"/>
              </a:rPr>
              <a:t>매치 검색</a:t>
            </a:r>
            <a:endParaRPr b="1" i="0" sz="1700" u="none" cap="none" strike="noStrike">
              <a:solidFill>
                <a:schemeClr val="dk1"/>
              </a:solidFill>
              <a:latin typeface="Asta Sans"/>
              <a:ea typeface="Asta Sans"/>
              <a:cs typeface="Asta Sans"/>
              <a:sym typeface="Asta Sans"/>
            </a:endParaRPr>
          </a:p>
        </p:txBody>
      </p:sp>
      <p:sp>
        <p:nvSpPr>
          <p:cNvPr id="377" name="Google Shape;377;p14"/>
          <p:cNvSpPr txBox="1"/>
          <p:nvPr/>
        </p:nvSpPr>
        <p:spPr>
          <a:xfrm>
            <a:off x="7497880" y="2377440"/>
            <a:ext cx="178303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sz="1300" u="none" cap="none" strike="noStrike">
                <a:solidFill>
                  <a:srgbClr val="64748B"/>
                </a:solidFill>
                <a:latin typeface="Asta Sans Medium"/>
                <a:ea typeface="Asta Sans Medium"/>
                <a:cs typeface="Asta Sans Medium"/>
                <a:sym typeface="Asta Sans Medium"/>
              </a:rPr>
              <a:t>DB 조회</a:t>
            </a:r>
            <a:endParaRPr i="0" sz="1300" u="none" cap="none" strike="noStrike">
              <a:solidFill>
                <a:schemeClr val="dk1"/>
              </a:solidFill>
              <a:latin typeface="Asta Sans Medium"/>
              <a:ea typeface="Asta Sans Medium"/>
              <a:cs typeface="Asta Sans Medium"/>
              <a:sym typeface="Asta Sans Medium"/>
            </a:endParaRPr>
          </a:p>
        </p:txBody>
      </p:sp>
      <p:cxnSp>
        <p:nvCxnSpPr>
          <p:cNvPr id="378" name="Google Shape;378;p14"/>
          <p:cNvCxnSpPr/>
          <p:nvPr/>
        </p:nvCxnSpPr>
        <p:spPr>
          <a:xfrm>
            <a:off x="9399781" y="2395728"/>
            <a:ext cx="265169" cy="0"/>
          </a:xfrm>
          <a:prstGeom prst="straightConnector1">
            <a:avLst/>
          </a:prstGeom>
          <a:noFill/>
          <a:ln cap="flat" cmpd="sng" w="19050">
            <a:solidFill>
              <a:srgbClr val="94A3B8"/>
            </a:solidFill>
            <a:prstDash val="solid"/>
            <a:round/>
            <a:headEnd len="sm" w="sm" type="none"/>
            <a:tailEnd len="med" w="med" type="triangle"/>
          </a:ln>
        </p:spPr>
      </p:cxnSp>
      <p:sp>
        <p:nvSpPr>
          <p:cNvPr id="379" name="Google Shape;379;p14"/>
          <p:cNvSpPr/>
          <p:nvPr/>
        </p:nvSpPr>
        <p:spPr>
          <a:xfrm>
            <a:off x="9692382" y="1737360"/>
            <a:ext cx="1965908" cy="1325880"/>
          </a:xfrm>
          <a:prstGeom prst="roundRect">
            <a:avLst>
              <a:gd fmla="val 9655"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txBox="1"/>
          <p:nvPr/>
        </p:nvSpPr>
        <p:spPr>
          <a:xfrm>
            <a:off x="9783819" y="1874520"/>
            <a:ext cx="1783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500"/>
              <a:buFont typeface="Malgun Gothic"/>
              <a:buNone/>
            </a:pPr>
            <a:r>
              <a:rPr b="1" i="0" lang="en-US" sz="1700" u="none" cap="none" strike="noStrike">
                <a:solidFill>
                  <a:srgbClr val="1E293B"/>
                </a:solidFill>
                <a:latin typeface="Asta Sans"/>
                <a:ea typeface="Asta Sans"/>
                <a:cs typeface="Asta Sans"/>
                <a:sym typeface="Asta Sans"/>
              </a:rPr>
              <a:t>결과 + 조건 요약</a:t>
            </a:r>
            <a:endParaRPr b="1" i="0" sz="1700" u="none" cap="none" strike="noStrike">
              <a:solidFill>
                <a:schemeClr val="dk1"/>
              </a:solidFill>
              <a:latin typeface="Asta Sans"/>
              <a:ea typeface="Asta Sans"/>
              <a:cs typeface="Asta Sans"/>
              <a:sym typeface="Asta Sans"/>
            </a:endParaRPr>
          </a:p>
        </p:txBody>
      </p:sp>
      <p:sp>
        <p:nvSpPr>
          <p:cNvPr id="381" name="Google Shape;381;p14"/>
          <p:cNvSpPr txBox="1"/>
          <p:nvPr/>
        </p:nvSpPr>
        <p:spPr>
          <a:xfrm>
            <a:off x="9783819" y="2377440"/>
            <a:ext cx="178303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1100"/>
              <a:buFont typeface="Malgun Gothic"/>
              <a:buNone/>
            </a:pPr>
            <a:r>
              <a:rPr i="0" lang="en-US" u="none" cap="none" strike="noStrike">
                <a:solidFill>
                  <a:srgbClr val="64748B"/>
                </a:solidFill>
                <a:latin typeface="Asta Sans Medium"/>
                <a:ea typeface="Asta Sans Medium"/>
                <a:cs typeface="Asta Sans Medium"/>
                <a:sym typeface="Asta Sans Medium"/>
              </a:rPr>
              <a:t>화면 표시</a:t>
            </a:r>
            <a:endParaRPr i="0" u="none" cap="none" strike="noStrike">
              <a:solidFill>
                <a:schemeClr val="dk1"/>
              </a:solidFill>
              <a:latin typeface="Asta Sans Medium"/>
              <a:ea typeface="Asta Sans Medium"/>
              <a:cs typeface="Asta Sans Medium"/>
              <a:sym typeface="Asta Sans Medium"/>
            </a:endParaRPr>
          </a:p>
        </p:txBody>
      </p:sp>
      <p:sp>
        <p:nvSpPr>
          <p:cNvPr id="382" name="Google Shape;382;p14"/>
          <p:cNvSpPr/>
          <p:nvPr/>
        </p:nvSpPr>
        <p:spPr>
          <a:xfrm>
            <a:off x="548625" y="3474720"/>
            <a:ext cx="3520346" cy="2560320"/>
          </a:xfrm>
          <a:prstGeom prst="roundRect">
            <a:avLst>
              <a:gd fmla="val 5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868657" y="3749040"/>
            <a:ext cx="640063" cy="640080"/>
          </a:xfrm>
          <a:prstGeom prst="ellipse">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4" name="Google Shape;384;p14"/>
          <p:cNvPicPr preferRelativeResize="0"/>
          <p:nvPr/>
        </p:nvPicPr>
        <p:blipFill rotWithShape="1">
          <a:blip r:embed="rId3">
            <a:alphaModFix/>
          </a:blip>
          <a:srcRect b="0" l="0" r="0" t="0"/>
          <a:stretch/>
        </p:blipFill>
        <p:spPr>
          <a:xfrm>
            <a:off x="1028673" y="3909060"/>
            <a:ext cx="320031" cy="320031"/>
          </a:xfrm>
          <a:prstGeom prst="rect">
            <a:avLst/>
          </a:prstGeom>
          <a:noFill/>
          <a:ln>
            <a:noFill/>
          </a:ln>
        </p:spPr>
      </p:pic>
      <p:sp>
        <p:nvSpPr>
          <p:cNvPr id="385" name="Google Shape;385;p14"/>
          <p:cNvSpPr txBox="1"/>
          <p:nvPr/>
        </p:nvSpPr>
        <p:spPr>
          <a:xfrm>
            <a:off x="868657" y="4526280"/>
            <a:ext cx="29260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b="1" i="0" lang="en-US" sz="1800" u="none" cap="none" strike="noStrike">
                <a:solidFill>
                  <a:srgbClr val="1E293B"/>
                </a:solidFill>
                <a:latin typeface="Asta Sans"/>
                <a:ea typeface="Asta Sans"/>
                <a:cs typeface="Asta Sans"/>
                <a:sym typeface="Asta Sans"/>
              </a:rPr>
              <a:t>추측하지 않기</a:t>
            </a:r>
            <a:endParaRPr b="1" i="0" sz="1800" u="none" cap="none" strike="noStrike">
              <a:solidFill>
                <a:schemeClr val="dk1"/>
              </a:solidFill>
              <a:latin typeface="Asta Sans"/>
              <a:ea typeface="Asta Sans"/>
              <a:cs typeface="Asta Sans"/>
              <a:sym typeface="Asta Sans"/>
            </a:endParaRPr>
          </a:p>
        </p:txBody>
      </p:sp>
      <p:sp>
        <p:nvSpPr>
          <p:cNvPr id="386" name="Google Shape;386;p14"/>
          <p:cNvSpPr txBox="1"/>
          <p:nvPr/>
        </p:nvSpPr>
        <p:spPr>
          <a:xfrm>
            <a:off x="868657" y="4937760"/>
            <a:ext cx="2926002"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문장에 없는 조건은 비워 두고</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날짜는 서버가 준 날짜표에서만</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고릅니다</a:t>
            </a:r>
            <a:endParaRPr i="0" u="none" cap="none" strike="noStrike">
              <a:solidFill>
                <a:schemeClr val="dk1"/>
              </a:solidFill>
              <a:latin typeface="Noto Sans KR"/>
              <a:ea typeface="Noto Sans KR"/>
              <a:cs typeface="Noto Sans KR"/>
              <a:sym typeface="Noto Sans KR"/>
            </a:endParaRPr>
          </a:p>
        </p:txBody>
      </p:sp>
      <p:sp>
        <p:nvSpPr>
          <p:cNvPr id="387" name="Google Shape;387;p14"/>
          <p:cNvSpPr/>
          <p:nvPr/>
        </p:nvSpPr>
        <p:spPr>
          <a:xfrm>
            <a:off x="4297565" y="3474720"/>
            <a:ext cx="3520346" cy="2560320"/>
          </a:xfrm>
          <a:prstGeom prst="roundRect">
            <a:avLst>
              <a:gd fmla="val 5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4617597" y="3749040"/>
            <a:ext cx="640063" cy="640080"/>
          </a:xfrm>
          <a:prstGeom prst="ellipse">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9" name="Google Shape;389;p14"/>
          <p:cNvPicPr preferRelativeResize="0"/>
          <p:nvPr/>
        </p:nvPicPr>
        <p:blipFill rotWithShape="1">
          <a:blip r:embed="rId4">
            <a:alphaModFix/>
          </a:blip>
          <a:srcRect b="0" l="0" r="0" t="0"/>
          <a:stretch/>
        </p:blipFill>
        <p:spPr>
          <a:xfrm>
            <a:off x="4777613" y="3909060"/>
            <a:ext cx="320031" cy="320031"/>
          </a:xfrm>
          <a:prstGeom prst="rect">
            <a:avLst/>
          </a:prstGeom>
          <a:noFill/>
          <a:ln>
            <a:noFill/>
          </a:ln>
        </p:spPr>
      </p:pic>
      <p:sp>
        <p:nvSpPr>
          <p:cNvPr id="390" name="Google Shape;390;p14"/>
          <p:cNvSpPr txBox="1"/>
          <p:nvPr/>
        </p:nvSpPr>
        <p:spPr>
          <a:xfrm>
            <a:off x="4617597" y="4526280"/>
            <a:ext cx="29260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b="1" i="0" lang="en-US" sz="1800" u="none" cap="none" strike="noStrike">
                <a:solidFill>
                  <a:srgbClr val="1E293B"/>
                </a:solidFill>
                <a:latin typeface="Asta Sans"/>
                <a:ea typeface="Asta Sans"/>
                <a:cs typeface="Asta Sans"/>
                <a:sym typeface="Asta Sans"/>
              </a:rPr>
              <a:t>서버가 최종 판단</a:t>
            </a:r>
            <a:endParaRPr b="1" i="0" sz="1800" u="none" cap="none" strike="noStrike">
              <a:solidFill>
                <a:schemeClr val="dk1"/>
              </a:solidFill>
              <a:latin typeface="Asta Sans"/>
              <a:ea typeface="Asta Sans"/>
              <a:cs typeface="Asta Sans"/>
              <a:sym typeface="Asta Sans"/>
            </a:endParaRPr>
          </a:p>
        </p:txBody>
      </p:sp>
      <p:sp>
        <p:nvSpPr>
          <p:cNvPr id="391" name="Google Shape;391;p14"/>
          <p:cNvSpPr txBox="1"/>
          <p:nvPr/>
        </p:nvSpPr>
        <p:spPr>
          <a:xfrm>
            <a:off x="4617597" y="4937760"/>
            <a:ext cx="2926002"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성별이 없으면 혼성, 종료는</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시작 + 2시간으로 보정하고</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지원하지 않는 종목은 안내합니다</a:t>
            </a:r>
            <a:endParaRPr i="0" u="none" cap="none" strike="noStrike">
              <a:solidFill>
                <a:schemeClr val="dk1"/>
              </a:solidFill>
              <a:latin typeface="Noto Sans KR"/>
              <a:ea typeface="Noto Sans KR"/>
              <a:cs typeface="Noto Sans KR"/>
              <a:sym typeface="Noto Sans KR"/>
            </a:endParaRPr>
          </a:p>
        </p:txBody>
      </p:sp>
      <p:sp>
        <p:nvSpPr>
          <p:cNvPr id="392" name="Google Shape;392;p14"/>
          <p:cNvSpPr/>
          <p:nvPr/>
        </p:nvSpPr>
        <p:spPr>
          <a:xfrm>
            <a:off x="8046506" y="3474720"/>
            <a:ext cx="3520346" cy="2560320"/>
          </a:xfrm>
          <a:prstGeom prst="roundRect">
            <a:avLst>
              <a:gd fmla="val 5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8366537" y="3749040"/>
            <a:ext cx="640063" cy="640080"/>
          </a:xfrm>
          <a:prstGeom prst="ellipse">
            <a:avLst/>
          </a:prstGeom>
          <a:solidFill>
            <a:srgbClr val="EEF2FF"/>
          </a:solidFill>
          <a:ln cap="flat" cmpd="sng" w="12700">
            <a:solidFill>
              <a:srgbClr val="EE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4" name="Google Shape;394;p14"/>
          <p:cNvPicPr preferRelativeResize="0"/>
          <p:nvPr/>
        </p:nvPicPr>
        <p:blipFill rotWithShape="1">
          <a:blip r:embed="rId5">
            <a:alphaModFix/>
          </a:blip>
          <a:srcRect b="0" l="0" r="0" t="0"/>
          <a:stretch/>
        </p:blipFill>
        <p:spPr>
          <a:xfrm>
            <a:off x="8526553" y="3909060"/>
            <a:ext cx="320031" cy="320031"/>
          </a:xfrm>
          <a:prstGeom prst="rect">
            <a:avLst/>
          </a:prstGeom>
          <a:noFill/>
          <a:ln>
            <a:noFill/>
          </a:ln>
        </p:spPr>
      </p:pic>
      <p:sp>
        <p:nvSpPr>
          <p:cNvPr id="395" name="Google Shape;395;p14"/>
          <p:cNvSpPr txBox="1"/>
          <p:nvPr/>
        </p:nvSpPr>
        <p:spPr>
          <a:xfrm>
            <a:off x="8366537" y="4526280"/>
            <a:ext cx="292600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b="1" i="0" lang="en-US" sz="1800" u="none" cap="none" strike="noStrike">
                <a:solidFill>
                  <a:srgbClr val="1E293B"/>
                </a:solidFill>
                <a:latin typeface="Asta Sans"/>
                <a:ea typeface="Asta Sans"/>
                <a:cs typeface="Asta Sans"/>
                <a:sym typeface="Asta Sans"/>
              </a:rPr>
              <a:t>결과는 안정적으로</a:t>
            </a:r>
            <a:endParaRPr b="1" i="0" sz="1800" u="none" cap="none" strike="noStrike">
              <a:solidFill>
                <a:schemeClr val="dk1"/>
              </a:solidFill>
              <a:latin typeface="Asta Sans"/>
              <a:ea typeface="Asta Sans"/>
              <a:cs typeface="Asta Sans"/>
              <a:sym typeface="Asta Sans"/>
            </a:endParaRPr>
          </a:p>
        </p:txBody>
      </p:sp>
      <p:sp>
        <p:nvSpPr>
          <p:cNvPr id="396" name="Google Shape;396;p14"/>
          <p:cNvSpPr txBox="1"/>
          <p:nvPr/>
        </p:nvSpPr>
        <p:spPr>
          <a:xfrm>
            <a:off x="8366537" y="4937760"/>
            <a:ext cx="2926002"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추천은 서버가 </a:t>
            </a:r>
            <a:r>
              <a:rPr lang="en-US">
                <a:solidFill>
                  <a:srgbClr val="64748B"/>
                </a:solidFill>
                <a:latin typeface="Noto Sans KR"/>
                <a:ea typeface="Noto Sans KR"/>
                <a:cs typeface="Noto Sans KR"/>
                <a:sym typeface="Noto Sans KR"/>
              </a:rPr>
              <a:t>조건에 맞는 </a:t>
            </a:r>
            <a:r>
              <a:rPr i="0" lang="en-US" u="none" cap="none" strike="noStrike">
                <a:solidFill>
                  <a:srgbClr val="64748B"/>
                </a:solidFill>
                <a:latin typeface="Noto Sans KR"/>
                <a:ea typeface="Noto Sans KR"/>
                <a:cs typeface="Noto Sans KR"/>
                <a:sym typeface="Noto Sans KR"/>
              </a:rPr>
              <a:t>후보를 먼저 </a:t>
            </a:r>
            <a:r>
              <a:rPr lang="en-US">
                <a:solidFill>
                  <a:srgbClr val="64748B"/>
                </a:solidFill>
                <a:latin typeface="Noto Sans KR"/>
                <a:ea typeface="Noto Sans KR"/>
                <a:cs typeface="Noto Sans KR"/>
                <a:sym typeface="Noto Sans KR"/>
              </a:rPr>
              <a:t>고르고</a:t>
            </a:r>
            <a:r>
              <a:rPr lang="en-US">
                <a:solidFill>
                  <a:schemeClr val="dk1"/>
                </a:solidFill>
                <a:latin typeface="Noto Sans KR"/>
                <a:ea typeface="Noto Sans KR"/>
                <a:cs typeface="Noto Sans KR"/>
                <a:sym typeface="Noto Sans KR"/>
              </a:rPr>
              <a:t> </a:t>
            </a:r>
            <a:r>
              <a:rPr i="0" lang="en-US" u="none" cap="none" strike="noStrike">
                <a:solidFill>
                  <a:srgbClr val="64748B"/>
                </a:solidFill>
                <a:latin typeface="Noto Sans KR"/>
                <a:ea typeface="Noto Sans KR"/>
                <a:cs typeface="Noto Sans KR"/>
                <a:sym typeface="Noto Sans KR"/>
              </a:rPr>
              <a:t>AI는 순서만 정하며</a:t>
            </a:r>
            <a:endParaRPr i="0" u="none" cap="none" strike="noStrike">
              <a:solidFill>
                <a:schemeClr val="dk1"/>
              </a:solidFill>
              <a:latin typeface="Noto Sans KR"/>
              <a:ea typeface="Noto Sans KR"/>
              <a:cs typeface="Noto Sans KR"/>
              <a:sym typeface="Noto Sans KR"/>
            </a:endParaRPr>
          </a:p>
          <a:p>
            <a:pPr indent="0" lvl="0" marL="0" marR="0" rtl="0" algn="l">
              <a:spcBef>
                <a:spcPts val="0"/>
              </a:spcBef>
              <a:spcAft>
                <a:spcPts val="0"/>
              </a:spcAft>
              <a:buClr>
                <a:srgbClr val="64748B"/>
              </a:buClr>
              <a:buSzPts val="1300"/>
              <a:buFont typeface="Malgun Gothic"/>
              <a:buNone/>
            </a:pPr>
            <a:r>
              <a:rPr i="0" lang="en-US" u="none" cap="none" strike="noStrike">
                <a:solidFill>
                  <a:srgbClr val="64748B"/>
                </a:solidFill>
                <a:latin typeface="Noto Sans KR"/>
                <a:ea typeface="Noto Sans KR"/>
                <a:cs typeface="Noto Sans KR"/>
                <a:sym typeface="Noto Sans KR"/>
              </a:rPr>
              <a:t>부족하면 서버가 채웁니다</a:t>
            </a:r>
            <a:endParaRPr i="0" u="none" cap="none" strike="noStrike">
              <a:solidFill>
                <a:schemeClr val="dk1"/>
              </a:solidFill>
              <a:latin typeface="Noto Sans KR"/>
              <a:ea typeface="Noto Sans KR"/>
              <a:cs typeface="Noto Sans KR"/>
              <a:sym typeface="Noto Sans KR"/>
            </a:endParaRPr>
          </a:p>
        </p:txBody>
      </p:sp>
      <p:sp>
        <p:nvSpPr>
          <p:cNvPr id="397" name="Google Shape;397;p14"/>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03. 핵심기능</a:t>
            </a:r>
            <a:endParaRPr i="0" sz="1500" u="none" cap="none" strike="noStrike">
              <a:solidFill>
                <a:schemeClr val="dk1"/>
              </a:solidFill>
              <a:latin typeface="Asta Sans Medium"/>
              <a:ea typeface="Asta Sans Medium"/>
              <a:cs typeface="Asta Sans Medium"/>
              <a:sym typeface="Asta Sans Medium"/>
            </a:endParaRPr>
          </a:p>
        </p:txBody>
      </p:sp>
      <p:cxnSp>
        <p:nvCxnSpPr>
          <p:cNvPr id="398" name="Google Shape;398;p14"/>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3" name="Shape 403"/>
        <p:cNvGrpSpPr/>
        <p:nvPr/>
      </p:nvGrpSpPr>
      <p:grpSpPr>
        <a:xfrm>
          <a:off x="0" y="0"/>
          <a:ext cx="0" cy="0"/>
          <a:chOff x="0" y="0"/>
          <a:chExt cx="0" cy="0"/>
        </a:xfrm>
      </p:grpSpPr>
      <p:sp>
        <p:nvSpPr>
          <p:cNvPr id="404" name="Google Shape;404;p15"/>
          <p:cNvSpPr txBox="1"/>
          <p:nvPr/>
        </p:nvSpPr>
        <p:spPr>
          <a:xfrm>
            <a:off x="548625" y="676656"/>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매치 개설은 초안으로, 추천은 내 프로필로</a:t>
            </a:r>
            <a:endParaRPr b="1" sz="2800">
              <a:solidFill>
                <a:schemeClr val="dk1"/>
              </a:solidFill>
              <a:latin typeface="Asta Sans"/>
              <a:ea typeface="Asta Sans"/>
              <a:cs typeface="Asta Sans"/>
              <a:sym typeface="Asta Sans"/>
            </a:endParaRPr>
          </a:p>
        </p:txBody>
      </p:sp>
      <p:sp>
        <p:nvSpPr>
          <p:cNvPr id="405" name="Google Shape;405;p15"/>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13</a:t>
            </a:r>
            <a:endParaRPr sz="1000">
              <a:solidFill>
                <a:schemeClr val="dk1"/>
              </a:solidFill>
              <a:latin typeface="Malgun Gothic"/>
              <a:ea typeface="Malgun Gothic"/>
              <a:cs typeface="Malgun Gothic"/>
              <a:sym typeface="Malgun Gothic"/>
            </a:endParaRPr>
          </a:p>
        </p:txBody>
      </p:sp>
      <p:sp>
        <p:nvSpPr>
          <p:cNvPr id="406" name="Google Shape;406;p15"/>
          <p:cNvSpPr txBox="1"/>
          <p:nvPr/>
        </p:nvSpPr>
        <p:spPr>
          <a:xfrm>
            <a:off x="548625" y="1645920"/>
            <a:ext cx="5303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900"/>
              <a:buFont typeface="Malgun Gothic"/>
              <a:buNone/>
            </a:pPr>
            <a:r>
              <a:rPr b="1" lang="en-US" sz="2000">
                <a:solidFill>
                  <a:srgbClr val="4F46E5"/>
                </a:solidFill>
                <a:latin typeface="Asta Sans"/>
                <a:ea typeface="Asta Sans"/>
                <a:cs typeface="Asta Sans"/>
                <a:sym typeface="Asta Sans"/>
              </a:rPr>
              <a:t>AI 매치 생성 (AI-01)</a:t>
            </a:r>
            <a:endParaRPr b="1" sz="2000">
              <a:solidFill>
                <a:schemeClr val="dk1"/>
              </a:solidFill>
              <a:latin typeface="Asta Sans"/>
              <a:ea typeface="Asta Sans"/>
              <a:cs typeface="Asta Sans"/>
              <a:sym typeface="Asta Sans"/>
            </a:endParaRPr>
          </a:p>
        </p:txBody>
      </p:sp>
      <p:sp>
        <p:nvSpPr>
          <p:cNvPr id="407" name="Google Shape;407;p15"/>
          <p:cNvSpPr txBox="1"/>
          <p:nvPr/>
        </p:nvSpPr>
        <p:spPr>
          <a:xfrm>
            <a:off x="548625" y="2148840"/>
            <a:ext cx="5303400" cy="13260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문장을 분석해 생성 폼을 자동으로 채움</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저장 전 사용자가 확인하고 시설을 골라 등록</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비로그인이면 문장을 보존하고 로그인 안내</a:t>
            </a:r>
            <a:endParaRPr sz="1600">
              <a:solidFill>
                <a:schemeClr val="dk1"/>
              </a:solidFill>
              <a:latin typeface="Noto Sans KR"/>
              <a:ea typeface="Noto Sans KR"/>
              <a:cs typeface="Noto Sans KR"/>
              <a:sym typeface="Noto Sans KR"/>
            </a:endParaRPr>
          </a:p>
        </p:txBody>
      </p:sp>
      <p:sp>
        <p:nvSpPr>
          <p:cNvPr id="408" name="Google Shape;408;p15"/>
          <p:cNvSpPr/>
          <p:nvPr/>
        </p:nvSpPr>
        <p:spPr>
          <a:xfrm>
            <a:off x="548625" y="3611880"/>
            <a:ext cx="5394900" cy="2423100"/>
          </a:xfrm>
          <a:prstGeom prst="roundRect">
            <a:avLst>
              <a:gd fmla="val 5283" name="adj"/>
            </a:avLst>
          </a:prstGeom>
          <a:solidFill>
            <a:srgbClr val="F1F5F9"/>
          </a:solidFill>
          <a:ln cap="flat" cmpd="sng" w="12700">
            <a:solidFill>
              <a:srgbClr val="94A3B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409" name="Google Shape;409;p15"/>
          <p:cNvSpPr txBox="1"/>
          <p:nvPr/>
        </p:nvSpPr>
        <p:spPr>
          <a:xfrm>
            <a:off x="6217754" y="1645920"/>
            <a:ext cx="5303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900"/>
              <a:buFont typeface="Malgun Gothic"/>
              <a:buNone/>
            </a:pPr>
            <a:r>
              <a:rPr b="1" lang="en-US" sz="2000">
                <a:solidFill>
                  <a:srgbClr val="4F46E5"/>
                </a:solidFill>
                <a:latin typeface="Asta Sans"/>
                <a:ea typeface="Asta Sans"/>
                <a:cs typeface="Asta Sans"/>
                <a:sym typeface="Asta Sans"/>
              </a:rPr>
              <a:t>AI 맞춤 추천 (AI-03)</a:t>
            </a:r>
            <a:endParaRPr b="1" sz="2000">
              <a:solidFill>
                <a:schemeClr val="dk1"/>
              </a:solidFill>
              <a:latin typeface="Asta Sans"/>
              <a:ea typeface="Asta Sans"/>
              <a:cs typeface="Asta Sans"/>
              <a:sym typeface="Asta Sans"/>
            </a:endParaRPr>
          </a:p>
        </p:txBody>
      </p:sp>
      <p:sp>
        <p:nvSpPr>
          <p:cNvPr id="410" name="Google Shape;410;p15"/>
          <p:cNvSpPr txBox="1"/>
          <p:nvPr/>
        </p:nvSpPr>
        <p:spPr>
          <a:xfrm>
            <a:off x="6217754" y="2148840"/>
            <a:ext cx="5303400" cy="13260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선호 종목 · 자치구 · 성별로 후보를 서버가 선별</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AI는 후보 중 추천 순서만 결정</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추천 매치 3개를 목록 화면에 표시</a:t>
            </a:r>
            <a:endParaRPr sz="1600">
              <a:solidFill>
                <a:schemeClr val="dk1"/>
              </a:solidFill>
              <a:latin typeface="Noto Sans KR"/>
              <a:ea typeface="Noto Sans KR"/>
              <a:cs typeface="Noto Sans KR"/>
              <a:sym typeface="Noto Sans KR"/>
            </a:endParaRPr>
          </a:p>
        </p:txBody>
      </p:sp>
      <p:sp>
        <p:nvSpPr>
          <p:cNvPr id="411" name="Google Shape;411;p15"/>
          <p:cNvSpPr/>
          <p:nvPr/>
        </p:nvSpPr>
        <p:spPr>
          <a:xfrm>
            <a:off x="6217754" y="3611880"/>
            <a:ext cx="5394900" cy="2423100"/>
          </a:xfrm>
          <a:prstGeom prst="roundRect">
            <a:avLst>
              <a:gd fmla="val 5283" name="adj"/>
            </a:avLst>
          </a:prstGeom>
          <a:solidFill>
            <a:srgbClr val="F1F5F9"/>
          </a:solidFill>
          <a:ln cap="flat" cmpd="sng" w="12700">
            <a:solidFill>
              <a:srgbClr val="94A3B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descr="c12a.png" id="412" name="Google Shape;412;p15"/>
          <p:cNvPicPr preferRelativeResize="0"/>
          <p:nvPr/>
        </p:nvPicPr>
        <p:blipFill rotWithShape="1">
          <a:blip r:embed="rId3">
            <a:alphaModFix/>
          </a:blip>
          <a:srcRect b="0" l="0" r="0" t="0"/>
          <a:stretch/>
        </p:blipFill>
        <p:spPr>
          <a:xfrm>
            <a:off x="603488" y="3666744"/>
            <a:ext cx="5285092" cy="2313370"/>
          </a:xfrm>
          <a:prstGeom prst="rect">
            <a:avLst/>
          </a:prstGeom>
          <a:noFill/>
          <a:ln>
            <a:noFill/>
          </a:ln>
        </p:spPr>
      </p:pic>
      <p:pic>
        <p:nvPicPr>
          <p:cNvPr descr="c12b.png" id="413" name="Google Shape;413;p15"/>
          <p:cNvPicPr preferRelativeResize="0"/>
          <p:nvPr/>
        </p:nvPicPr>
        <p:blipFill rotWithShape="1">
          <a:blip r:embed="rId4">
            <a:alphaModFix/>
          </a:blip>
          <a:srcRect b="0" l="0" r="0" t="0"/>
          <a:stretch/>
        </p:blipFill>
        <p:spPr>
          <a:xfrm>
            <a:off x="6272617" y="3666744"/>
            <a:ext cx="5285093" cy="2313371"/>
          </a:xfrm>
          <a:prstGeom prst="rect">
            <a:avLst/>
          </a:prstGeom>
          <a:noFill/>
          <a:ln>
            <a:noFill/>
          </a:ln>
        </p:spPr>
      </p:pic>
      <p:sp>
        <p:nvSpPr>
          <p:cNvPr id="414" name="Google Shape;414;p15"/>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03. 핵심기능</a:t>
            </a:r>
            <a:endParaRPr i="0" sz="1500" u="none" cap="none" strike="noStrike">
              <a:solidFill>
                <a:schemeClr val="dk1"/>
              </a:solidFill>
              <a:latin typeface="Asta Sans Medium"/>
              <a:ea typeface="Asta Sans Medium"/>
              <a:cs typeface="Asta Sans Medium"/>
              <a:sym typeface="Asta Sans Medium"/>
            </a:endParaRPr>
          </a:p>
        </p:txBody>
      </p:sp>
      <p:cxnSp>
        <p:nvCxnSpPr>
          <p:cNvPr id="415" name="Google Shape;415;p15"/>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0" name="Shape 420"/>
        <p:cNvGrpSpPr/>
        <p:nvPr/>
      </p:nvGrpSpPr>
      <p:grpSpPr>
        <a:xfrm>
          <a:off x="0" y="0"/>
          <a:ext cx="0" cy="0"/>
          <a:chOff x="0" y="0"/>
          <a:chExt cx="0" cy="0"/>
        </a:xfrm>
      </p:grpSpPr>
      <p:sp>
        <p:nvSpPr>
          <p:cNvPr id="421" name="Google Shape;421;p16"/>
          <p:cNvSpPr txBox="1"/>
          <p:nvPr/>
        </p:nvSpPr>
        <p:spPr>
          <a:xfrm>
            <a:off x="548625" y="676656"/>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직접 고르고 싶을 땐, 일반 매칭과 시설 정보로</a:t>
            </a:r>
            <a:endParaRPr b="1" sz="2800">
              <a:solidFill>
                <a:schemeClr val="dk1"/>
              </a:solidFill>
              <a:latin typeface="Asta Sans"/>
              <a:ea typeface="Asta Sans"/>
              <a:cs typeface="Asta Sans"/>
              <a:sym typeface="Asta Sans"/>
            </a:endParaRPr>
          </a:p>
        </p:txBody>
      </p:sp>
      <p:sp>
        <p:nvSpPr>
          <p:cNvPr id="422" name="Google Shape;422;p16"/>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lang="en-US" sz="1000">
                <a:solidFill>
                  <a:srgbClr val="94A3B8"/>
                </a:solidFill>
                <a:latin typeface="Malgun Gothic"/>
                <a:ea typeface="Malgun Gothic"/>
                <a:cs typeface="Malgun Gothic"/>
                <a:sym typeface="Malgun Gothic"/>
              </a:rPr>
              <a:t>14</a:t>
            </a:r>
            <a:endParaRPr sz="1000">
              <a:solidFill>
                <a:schemeClr val="dk1"/>
              </a:solidFill>
              <a:latin typeface="Malgun Gothic"/>
              <a:ea typeface="Malgun Gothic"/>
              <a:cs typeface="Malgun Gothic"/>
              <a:sym typeface="Malgun Gothic"/>
            </a:endParaRPr>
          </a:p>
        </p:txBody>
      </p:sp>
      <p:sp>
        <p:nvSpPr>
          <p:cNvPr id="423" name="Google Shape;423;p16"/>
          <p:cNvSpPr txBox="1"/>
          <p:nvPr/>
        </p:nvSpPr>
        <p:spPr>
          <a:xfrm>
            <a:off x="548625" y="1645920"/>
            <a:ext cx="5303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900"/>
              <a:buFont typeface="Malgun Gothic"/>
              <a:buNone/>
            </a:pPr>
            <a:r>
              <a:rPr b="1" lang="en-US" sz="2000">
                <a:solidFill>
                  <a:srgbClr val="2563EB"/>
                </a:solidFill>
                <a:latin typeface="Asta Sans"/>
                <a:ea typeface="Asta Sans"/>
                <a:cs typeface="Asta Sans"/>
                <a:sym typeface="Asta Sans"/>
              </a:rPr>
              <a:t>운동 매칭 (EM-01 ~ 08)</a:t>
            </a:r>
            <a:endParaRPr b="1" sz="2000">
              <a:solidFill>
                <a:schemeClr val="dk1"/>
              </a:solidFill>
              <a:latin typeface="Asta Sans"/>
              <a:ea typeface="Asta Sans"/>
              <a:cs typeface="Asta Sans"/>
              <a:sym typeface="Asta Sans"/>
            </a:endParaRPr>
          </a:p>
        </p:txBody>
      </p:sp>
      <p:sp>
        <p:nvSpPr>
          <p:cNvPr id="424" name="Google Shape;424;p16"/>
          <p:cNvSpPr txBox="1"/>
          <p:nvPr/>
        </p:nvSpPr>
        <p:spPr>
          <a:xfrm>
            <a:off x="548625" y="2148840"/>
            <a:ext cx="5303400" cy="13260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종목 · 상태 필터로 매치 목록 조회</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매치 </a:t>
            </a:r>
            <a:r>
              <a:rPr lang="en-US" sz="1600">
                <a:solidFill>
                  <a:srgbClr val="1E293B"/>
                </a:solidFill>
                <a:latin typeface="Noto Sans KR"/>
                <a:ea typeface="Noto Sans KR"/>
                <a:cs typeface="Noto Sans KR"/>
                <a:sym typeface="Noto Sans KR"/>
              </a:rPr>
              <a:t>상세에서 참여 · 탈퇴, 개설자는 수정 · 삭제</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마이페이지에서 내 매치 </a:t>
            </a:r>
            <a:r>
              <a:rPr lang="en-US" sz="1600">
                <a:solidFill>
                  <a:srgbClr val="1E293B"/>
                </a:solidFill>
                <a:latin typeface="Noto Sans KR"/>
                <a:ea typeface="Noto Sans KR"/>
                <a:cs typeface="Noto Sans KR"/>
                <a:sym typeface="Noto Sans KR"/>
              </a:rPr>
              <a:t>목록 </a:t>
            </a:r>
            <a:r>
              <a:rPr lang="en-US" sz="1600">
                <a:solidFill>
                  <a:srgbClr val="1E293B"/>
                </a:solidFill>
                <a:latin typeface="Noto Sans KR"/>
                <a:ea typeface="Noto Sans KR"/>
                <a:cs typeface="Noto Sans KR"/>
                <a:sym typeface="Noto Sans KR"/>
              </a:rPr>
              <a:t>확인</a:t>
            </a:r>
            <a:endParaRPr sz="1600">
              <a:solidFill>
                <a:schemeClr val="dk1"/>
              </a:solidFill>
              <a:latin typeface="Noto Sans KR"/>
              <a:ea typeface="Noto Sans KR"/>
              <a:cs typeface="Noto Sans KR"/>
              <a:sym typeface="Noto Sans KR"/>
            </a:endParaRPr>
          </a:p>
        </p:txBody>
      </p:sp>
      <p:sp>
        <p:nvSpPr>
          <p:cNvPr id="425" name="Google Shape;425;p16"/>
          <p:cNvSpPr/>
          <p:nvPr/>
        </p:nvSpPr>
        <p:spPr>
          <a:xfrm>
            <a:off x="548625" y="3611880"/>
            <a:ext cx="5394900" cy="2423100"/>
          </a:xfrm>
          <a:prstGeom prst="roundRect">
            <a:avLst>
              <a:gd fmla="val 5283" name="adj"/>
            </a:avLst>
          </a:prstGeom>
          <a:solidFill>
            <a:srgbClr val="F1F5F9"/>
          </a:solidFill>
          <a:ln cap="flat" cmpd="sng" w="12700">
            <a:solidFill>
              <a:srgbClr val="94A3B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426" name="Google Shape;426;p16"/>
          <p:cNvSpPr txBox="1"/>
          <p:nvPr/>
        </p:nvSpPr>
        <p:spPr>
          <a:xfrm>
            <a:off x="6217754" y="1645920"/>
            <a:ext cx="5303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900"/>
              <a:buFont typeface="Malgun Gothic"/>
              <a:buNone/>
            </a:pPr>
            <a:r>
              <a:rPr b="1" lang="en-US" sz="2000">
                <a:solidFill>
                  <a:srgbClr val="2563EB"/>
                </a:solidFill>
                <a:latin typeface="Asta Sans"/>
                <a:ea typeface="Asta Sans"/>
                <a:cs typeface="Asta Sans"/>
                <a:sym typeface="Asta Sans"/>
              </a:rPr>
              <a:t>체육시설 (FC-01 ~ 02)</a:t>
            </a:r>
            <a:endParaRPr b="1" sz="2000">
              <a:solidFill>
                <a:schemeClr val="dk1"/>
              </a:solidFill>
              <a:latin typeface="Asta Sans"/>
              <a:ea typeface="Asta Sans"/>
              <a:cs typeface="Asta Sans"/>
              <a:sym typeface="Asta Sans"/>
            </a:endParaRPr>
          </a:p>
        </p:txBody>
      </p:sp>
      <p:sp>
        <p:nvSpPr>
          <p:cNvPr id="427" name="Google Shape;427;p16"/>
          <p:cNvSpPr txBox="1"/>
          <p:nvPr/>
        </p:nvSpPr>
        <p:spPr>
          <a:xfrm>
            <a:off x="6217754" y="2148840"/>
            <a:ext cx="5303400" cy="13260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서울시 공공서비스예약 체육시설을 매일 동기화</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자치구 · 종목 · 이름으로 시설 검색</a:t>
            </a:r>
            <a:endParaRPr sz="1600">
              <a:solidFill>
                <a:schemeClr val="dk1"/>
              </a:solidFill>
              <a:latin typeface="Noto Sans KR"/>
              <a:ea typeface="Noto Sans KR"/>
              <a:cs typeface="Noto Sans KR"/>
              <a:sym typeface="Noto Sans KR"/>
            </a:endParaRPr>
          </a:p>
          <a:p>
            <a:pPr indent="-355600" lvl="0" marL="342900" marR="0" rtl="0" algn="l">
              <a:spcBef>
                <a:spcPts val="600"/>
              </a:spcBef>
              <a:spcAft>
                <a:spcPts val="0"/>
              </a:spcAft>
              <a:buClr>
                <a:srgbClr val="1E293B"/>
              </a:buClr>
              <a:buSzPts val="1600"/>
              <a:buFont typeface="Noto Sans KR"/>
              <a:buChar char="•"/>
            </a:pPr>
            <a:r>
              <a:rPr lang="en-US" sz="1600">
                <a:solidFill>
                  <a:srgbClr val="1E293B"/>
                </a:solidFill>
                <a:latin typeface="Noto Sans KR"/>
                <a:ea typeface="Noto Sans KR"/>
                <a:cs typeface="Noto Sans KR"/>
                <a:sym typeface="Noto Sans KR"/>
              </a:rPr>
              <a:t>시설 상세에서 바로 매치 생성</a:t>
            </a:r>
            <a:endParaRPr sz="1600">
              <a:solidFill>
                <a:schemeClr val="dk1"/>
              </a:solidFill>
              <a:latin typeface="Noto Sans KR"/>
              <a:ea typeface="Noto Sans KR"/>
              <a:cs typeface="Noto Sans KR"/>
              <a:sym typeface="Noto Sans KR"/>
            </a:endParaRPr>
          </a:p>
        </p:txBody>
      </p:sp>
      <p:sp>
        <p:nvSpPr>
          <p:cNvPr id="428" name="Google Shape;428;p16"/>
          <p:cNvSpPr/>
          <p:nvPr/>
        </p:nvSpPr>
        <p:spPr>
          <a:xfrm>
            <a:off x="6217754" y="3611880"/>
            <a:ext cx="5394900" cy="2423100"/>
          </a:xfrm>
          <a:prstGeom prst="roundRect">
            <a:avLst>
              <a:gd fmla="val 5283" name="adj"/>
            </a:avLst>
          </a:prstGeom>
          <a:solidFill>
            <a:srgbClr val="F1F5F9"/>
          </a:solidFill>
          <a:ln cap="flat" cmpd="sng" w="12700">
            <a:solidFill>
              <a:srgbClr val="94A3B8"/>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descr="c13a.png" id="429" name="Google Shape;429;p16"/>
          <p:cNvPicPr preferRelativeResize="0"/>
          <p:nvPr/>
        </p:nvPicPr>
        <p:blipFill rotWithShape="1">
          <a:blip r:embed="rId3">
            <a:alphaModFix/>
          </a:blip>
          <a:srcRect b="0" l="0" r="0" t="0"/>
          <a:stretch/>
        </p:blipFill>
        <p:spPr>
          <a:xfrm>
            <a:off x="603488" y="3666744"/>
            <a:ext cx="5285088" cy="2313369"/>
          </a:xfrm>
          <a:prstGeom prst="rect">
            <a:avLst/>
          </a:prstGeom>
          <a:noFill/>
          <a:ln>
            <a:noFill/>
          </a:ln>
        </p:spPr>
      </p:pic>
      <p:pic>
        <p:nvPicPr>
          <p:cNvPr descr="c13b.png" id="430" name="Google Shape;430;p16"/>
          <p:cNvPicPr preferRelativeResize="0"/>
          <p:nvPr/>
        </p:nvPicPr>
        <p:blipFill rotWithShape="1">
          <a:blip r:embed="rId4">
            <a:alphaModFix/>
          </a:blip>
          <a:srcRect b="0" l="0" r="0" t="0"/>
          <a:stretch/>
        </p:blipFill>
        <p:spPr>
          <a:xfrm>
            <a:off x="6272617" y="3666744"/>
            <a:ext cx="5285088" cy="2313369"/>
          </a:xfrm>
          <a:prstGeom prst="rect">
            <a:avLst/>
          </a:prstGeom>
          <a:noFill/>
          <a:ln>
            <a:noFill/>
          </a:ln>
        </p:spPr>
      </p:pic>
      <p:sp>
        <p:nvSpPr>
          <p:cNvPr id="431" name="Google Shape;431;p16"/>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03. 핵심기능</a:t>
            </a:r>
            <a:endParaRPr i="0" sz="1500" u="none" cap="none" strike="noStrike">
              <a:solidFill>
                <a:schemeClr val="dk1"/>
              </a:solidFill>
              <a:latin typeface="Asta Sans Medium"/>
              <a:ea typeface="Asta Sans Medium"/>
              <a:cs typeface="Asta Sans Medium"/>
              <a:sym typeface="Asta Sans Medium"/>
            </a:endParaRPr>
          </a:p>
        </p:txBody>
      </p:sp>
      <p:cxnSp>
        <p:nvCxnSpPr>
          <p:cNvPr id="432" name="Google Shape;432;p16"/>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7" name="Shape 437"/>
        <p:cNvGrpSpPr/>
        <p:nvPr/>
      </p:nvGrpSpPr>
      <p:grpSpPr>
        <a:xfrm>
          <a:off x="0" y="0"/>
          <a:ext cx="0" cy="0"/>
          <a:chOff x="0" y="0"/>
          <a:chExt cx="0" cy="0"/>
        </a:xfrm>
      </p:grpSpPr>
      <p:sp>
        <p:nvSpPr>
          <p:cNvPr id="438" name="Google Shape;438;p17"/>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기능마다 테스트 케이스와 자동화 테스트로 검증했습니다</a:t>
            </a:r>
            <a:endParaRPr b="1" i="0" sz="2800" u="none" cap="none" strike="noStrike">
              <a:solidFill>
                <a:schemeClr val="dk1"/>
              </a:solidFill>
              <a:latin typeface="Asta Sans"/>
              <a:ea typeface="Asta Sans"/>
              <a:cs typeface="Asta Sans"/>
              <a:sym typeface="Asta Sans"/>
            </a:endParaRPr>
          </a:p>
        </p:txBody>
      </p:sp>
      <p:sp>
        <p:nvSpPr>
          <p:cNvPr id="439" name="Google Shape;439;p17"/>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15</a:t>
            </a:r>
            <a:endParaRPr b="0" i="0" sz="1000" u="none" cap="none" strike="noStrike">
              <a:solidFill>
                <a:schemeClr val="dk1"/>
              </a:solidFill>
              <a:latin typeface="Malgun Gothic"/>
              <a:ea typeface="Malgun Gothic"/>
              <a:cs typeface="Malgun Gothic"/>
              <a:sym typeface="Malgun Gothic"/>
            </a:endParaRPr>
          </a:p>
        </p:txBody>
      </p:sp>
      <p:sp>
        <p:nvSpPr>
          <p:cNvPr id="440" name="Google Shape;440;p17"/>
          <p:cNvSpPr/>
          <p:nvPr/>
        </p:nvSpPr>
        <p:spPr>
          <a:xfrm>
            <a:off x="548625" y="1737360"/>
            <a:ext cx="3520346" cy="2103120"/>
          </a:xfrm>
          <a:prstGeom prst="roundRect">
            <a:avLst>
              <a:gd fmla="val 608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txBox="1"/>
          <p:nvPr/>
        </p:nvSpPr>
        <p:spPr>
          <a:xfrm>
            <a:off x="868657" y="1920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000"/>
              <a:buFont typeface="Malgun Gothic"/>
              <a:buNone/>
            </a:pPr>
            <a:r>
              <a:rPr b="1" i="0" lang="en-US" sz="4000" u="none" cap="none" strike="noStrike">
                <a:solidFill>
                  <a:srgbClr val="2563EB"/>
                </a:solidFill>
                <a:latin typeface="Asta Sans"/>
                <a:ea typeface="Asta Sans"/>
                <a:cs typeface="Asta Sans"/>
                <a:sym typeface="Asta Sans"/>
              </a:rPr>
              <a:t>134</a:t>
            </a:r>
            <a:endParaRPr b="1" i="0" sz="4000" u="none" cap="none" strike="noStrike">
              <a:solidFill>
                <a:schemeClr val="dk1"/>
              </a:solidFill>
              <a:latin typeface="Asta Sans"/>
              <a:ea typeface="Asta Sans"/>
              <a:cs typeface="Asta Sans"/>
              <a:sym typeface="Asta Sans"/>
            </a:endParaRPr>
          </a:p>
        </p:txBody>
      </p:sp>
      <p:sp>
        <p:nvSpPr>
          <p:cNvPr id="442" name="Google Shape;442;p17"/>
          <p:cNvSpPr txBox="1"/>
          <p:nvPr/>
        </p:nvSpPr>
        <p:spPr>
          <a:xfrm>
            <a:off x="868657" y="27432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Malgun Gothic"/>
              <a:buNone/>
            </a:pPr>
            <a:r>
              <a:rPr b="1" i="0" lang="en-US" sz="1700" u="none" cap="none" strike="noStrike">
                <a:solidFill>
                  <a:srgbClr val="1E293B"/>
                </a:solidFill>
                <a:latin typeface="Asta Sans"/>
                <a:ea typeface="Asta Sans"/>
                <a:cs typeface="Asta Sans"/>
                <a:sym typeface="Asta Sans"/>
              </a:rPr>
              <a:t>백엔드 테스트 메서드</a:t>
            </a:r>
            <a:endParaRPr b="1" i="0" sz="1700" u="none" cap="none" strike="noStrike">
              <a:solidFill>
                <a:schemeClr val="dk1"/>
              </a:solidFill>
              <a:latin typeface="Asta Sans"/>
              <a:ea typeface="Asta Sans"/>
              <a:cs typeface="Asta Sans"/>
              <a:sym typeface="Asta Sans"/>
            </a:endParaRPr>
          </a:p>
        </p:txBody>
      </p:sp>
      <p:sp>
        <p:nvSpPr>
          <p:cNvPr id="443" name="Google Shape;443;p17"/>
          <p:cNvSpPr txBox="1"/>
          <p:nvPr/>
        </p:nvSpPr>
        <p:spPr>
          <a:xfrm>
            <a:off x="868657" y="315468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JUnit · MockMvc · 통합 테스트</a:t>
            </a:r>
            <a:endParaRPr i="0" sz="1300" u="none" cap="none" strike="noStrike">
              <a:solidFill>
                <a:schemeClr val="dk1"/>
              </a:solidFill>
              <a:latin typeface="Noto Sans KR"/>
              <a:ea typeface="Noto Sans KR"/>
              <a:cs typeface="Noto Sans KR"/>
              <a:sym typeface="Noto Sans KR"/>
            </a:endParaRPr>
          </a:p>
        </p:txBody>
      </p:sp>
      <p:sp>
        <p:nvSpPr>
          <p:cNvPr id="444" name="Google Shape;444;p17"/>
          <p:cNvSpPr/>
          <p:nvPr/>
        </p:nvSpPr>
        <p:spPr>
          <a:xfrm>
            <a:off x="4297565" y="1737360"/>
            <a:ext cx="3520346" cy="2103120"/>
          </a:xfrm>
          <a:prstGeom prst="roundRect">
            <a:avLst>
              <a:gd fmla="val 608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txBox="1"/>
          <p:nvPr/>
        </p:nvSpPr>
        <p:spPr>
          <a:xfrm>
            <a:off x="4617597" y="1920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000"/>
              <a:buFont typeface="Malgun Gothic"/>
              <a:buNone/>
            </a:pPr>
            <a:r>
              <a:rPr b="1" i="0" lang="en-US" sz="4000" u="none" cap="none" strike="noStrike">
                <a:solidFill>
                  <a:srgbClr val="2563EB"/>
                </a:solidFill>
                <a:latin typeface="Asta Sans"/>
                <a:ea typeface="Asta Sans"/>
                <a:cs typeface="Asta Sans"/>
                <a:sym typeface="Asta Sans"/>
              </a:rPr>
              <a:t>231</a:t>
            </a:r>
            <a:endParaRPr b="1" i="0" sz="4000" u="none" cap="none" strike="noStrike">
              <a:solidFill>
                <a:schemeClr val="dk1"/>
              </a:solidFill>
              <a:latin typeface="Asta Sans"/>
              <a:ea typeface="Asta Sans"/>
              <a:cs typeface="Asta Sans"/>
              <a:sym typeface="Asta Sans"/>
            </a:endParaRPr>
          </a:p>
        </p:txBody>
      </p:sp>
      <p:sp>
        <p:nvSpPr>
          <p:cNvPr id="446" name="Google Shape;446;p17"/>
          <p:cNvSpPr txBox="1"/>
          <p:nvPr/>
        </p:nvSpPr>
        <p:spPr>
          <a:xfrm>
            <a:off x="4617597" y="27432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Malgun Gothic"/>
              <a:buNone/>
            </a:pPr>
            <a:r>
              <a:rPr b="1" i="0" lang="en-US" sz="1700" u="none" cap="none" strike="noStrike">
                <a:solidFill>
                  <a:srgbClr val="1E293B"/>
                </a:solidFill>
                <a:latin typeface="Asta Sans"/>
                <a:ea typeface="Asta Sans"/>
                <a:cs typeface="Asta Sans"/>
                <a:sym typeface="Asta Sans"/>
              </a:rPr>
              <a:t>프</a:t>
            </a:r>
            <a:r>
              <a:rPr b="1" lang="en-US" sz="1700">
                <a:solidFill>
                  <a:srgbClr val="1E293B"/>
                </a:solidFill>
                <a:latin typeface="Asta Sans"/>
                <a:ea typeface="Asta Sans"/>
                <a:cs typeface="Asta Sans"/>
                <a:sym typeface="Asta Sans"/>
              </a:rPr>
              <a:t>론</a:t>
            </a:r>
            <a:r>
              <a:rPr b="1" i="0" lang="en-US" sz="1700" u="none" cap="none" strike="noStrike">
                <a:solidFill>
                  <a:srgbClr val="1E293B"/>
                </a:solidFill>
                <a:latin typeface="Asta Sans"/>
                <a:ea typeface="Asta Sans"/>
                <a:cs typeface="Asta Sans"/>
                <a:sym typeface="Asta Sans"/>
              </a:rPr>
              <a:t>트엔드 테스트</a:t>
            </a:r>
            <a:endParaRPr b="1" i="0" sz="1700" u="none" cap="none" strike="noStrike">
              <a:solidFill>
                <a:schemeClr val="dk1"/>
              </a:solidFill>
              <a:latin typeface="Asta Sans"/>
              <a:ea typeface="Asta Sans"/>
              <a:cs typeface="Asta Sans"/>
              <a:sym typeface="Asta Sans"/>
            </a:endParaRPr>
          </a:p>
        </p:txBody>
      </p:sp>
      <p:sp>
        <p:nvSpPr>
          <p:cNvPr id="447" name="Google Shape;447;p17"/>
          <p:cNvSpPr txBox="1"/>
          <p:nvPr/>
        </p:nvSpPr>
        <p:spPr>
          <a:xfrm>
            <a:off x="4617597" y="315468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Jest · React Testing Library</a:t>
            </a:r>
            <a:endParaRPr i="0" sz="1300" u="none" cap="none" strike="noStrike">
              <a:solidFill>
                <a:schemeClr val="dk1"/>
              </a:solidFill>
              <a:latin typeface="Noto Sans KR"/>
              <a:ea typeface="Noto Sans KR"/>
              <a:cs typeface="Noto Sans KR"/>
              <a:sym typeface="Noto Sans KR"/>
            </a:endParaRPr>
          </a:p>
        </p:txBody>
      </p:sp>
      <p:sp>
        <p:nvSpPr>
          <p:cNvPr id="448" name="Google Shape;448;p17"/>
          <p:cNvSpPr/>
          <p:nvPr/>
        </p:nvSpPr>
        <p:spPr>
          <a:xfrm>
            <a:off x="8046506" y="1737360"/>
            <a:ext cx="3520346" cy="2103120"/>
          </a:xfrm>
          <a:prstGeom prst="roundRect">
            <a:avLst>
              <a:gd fmla="val 608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txBox="1"/>
          <p:nvPr/>
        </p:nvSpPr>
        <p:spPr>
          <a:xfrm>
            <a:off x="8366537" y="1920240"/>
            <a:ext cx="292600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4000"/>
              <a:buFont typeface="Malgun Gothic"/>
              <a:buNone/>
            </a:pPr>
            <a:r>
              <a:rPr b="1" lang="en-US" sz="4000">
                <a:solidFill>
                  <a:srgbClr val="4F46E5"/>
                </a:solidFill>
                <a:latin typeface="Asta Sans"/>
                <a:ea typeface="Asta Sans"/>
                <a:cs typeface="Asta Sans"/>
                <a:sym typeface="Asta Sans"/>
              </a:rPr>
              <a:t>5</a:t>
            </a:r>
            <a:r>
              <a:rPr b="1" i="0" lang="en-US" sz="4000" u="none" cap="none" strike="noStrike">
                <a:solidFill>
                  <a:srgbClr val="4F46E5"/>
                </a:solidFill>
                <a:latin typeface="Asta Sans"/>
                <a:ea typeface="Asta Sans"/>
                <a:cs typeface="Asta Sans"/>
                <a:sym typeface="Asta Sans"/>
              </a:rPr>
              <a:t>개 영역</a:t>
            </a:r>
            <a:endParaRPr b="1" i="0" sz="4000" u="none" cap="none" strike="noStrike">
              <a:solidFill>
                <a:schemeClr val="dk1"/>
              </a:solidFill>
              <a:latin typeface="Asta Sans"/>
              <a:ea typeface="Asta Sans"/>
              <a:cs typeface="Asta Sans"/>
              <a:sym typeface="Asta Sans"/>
            </a:endParaRPr>
          </a:p>
        </p:txBody>
      </p:sp>
      <p:sp>
        <p:nvSpPr>
          <p:cNvPr id="450" name="Google Shape;450;p17"/>
          <p:cNvSpPr txBox="1"/>
          <p:nvPr/>
        </p:nvSpPr>
        <p:spPr>
          <a:xfrm>
            <a:off x="8366537" y="2743200"/>
            <a:ext cx="292600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Malgun Gothic"/>
              <a:buNone/>
            </a:pPr>
            <a:r>
              <a:rPr b="1" i="0" lang="en-US" sz="1700" u="none" cap="none" strike="noStrike">
                <a:solidFill>
                  <a:srgbClr val="1E293B"/>
                </a:solidFill>
                <a:latin typeface="Asta Sans"/>
                <a:ea typeface="Asta Sans"/>
                <a:cs typeface="Asta Sans"/>
                <a:sym typeface="Asta Sans"/>
              </a:rPr>
              <a:t>테스트 케이스 표</a:t>
            </a:r>
            <a:endParaRPr b="1" i="0" sz="1700" u="none" cap="none" strike="noStrike">
              <a:solidFill>
                <a:schemeClr val="dk1"/>
              </a:solidFill>
              <a:latin typeface="Asta Sans"/>
              <a:ea typeface="Asta Sans"/>
              <a:cs typeface="Asta Sans"/>
              <a:sym typeface="Asta Sans"/>
            </a:endParaRPr>
          </a:p>
        </p:txBody>
      </p:sp>
      <p:sp>
        <p:nvSpPr>
          <p:cNvPr id="451" name="Google Shape;451;p17"/>
          <p:cNvSpPr txBox="1"/>
          <p:nvPr/>
        </p:nvSpPr>
        <p:spPr>
          <a:xfrm>
            <a:off x="8366537" y="3154680"/>
            <a:ext cx="301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Malgun Gothic"/>
              <a:buNone/>
            </a:pPr>
            <a:r>
              <a:rPr i="0" lang="en-US" sz="1300" u="none" cap="none" strike="noStrike">
                <a:solidFill>
                  <a:srgbClr val="64748B"/>
                </a:solidFill>
                <a:latin typeface="Noto Sans KR"/>
                <a:ea typeface="Noto Sans KR"/>
                <a:cs typeface="Noto Sans KR"/>
                <a:sym typeface="Noto Sans KR"/>
              </a:rPr>
              <a:t>USR · PR · EM · FC · AI</a:t>
            </a:r>
            <a:endParaRPr i="0" sz="1300" u="none" cap="none" strike="noStrike">
              <a:solidFill>
                <a:schemeClr val="dk1"/>
              </a:solidFill>
              <a:latin typeface="Noto Sans KR"/>
              <a:ea typeface="Noto Sans KR"/>
              <a:cs typeface="Noto Sans KR"/>
              <a:sym typeface="Noto Sans KR"/>
            </a:endParaRPr>
          </a:p>
        </p:txBody>
      </p:sp>
      <p:sp>
        <p:nvSpPr>
          <p:cNvPr id="452" name="Google Shape;452;p17"/>
          <p:cNvSpPr/>
          <p:nvPr/>
        </p:nvSpPr>
        <p:spPr>
          <a:xfrm>
            <a:off x="548625" y="4160520"/>
            <a:ext cx="11063945" cy="1600200"/>
          </a:xfrm>
          <a:prstGeom prst="roundRect">
            <a:avLst>
              <a:gd fmla="val 80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txBox="1"/>
          <p:nvPr/>
        </p:nvSpPr>
        <p:spPr>
          <a:xfrm>
            <a:off x="868657" y="4343400"/>
            <a:ext cx="2743127"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Malgun Gothic"/>
              <a:buNone/>
            </a:pPr>
            <a:r>
              <a:rPr i="0" lang="en-US" sz="1700" u="none" cap="none" strike="noStrike">
                <a:solidFill>
                  <a:srgbClr val="1E293B"/>
                </a:solidFill>
                <a:latin typeface="Asta Sans SemiBold"/>
                <a:ea typeface="Asta Sans SemiBold"/>
                <a:cs typeface="Asta Sans SemiBold"/>
                <a:sym typeface="Asta Sans SemiBold"/>
              </a:rPr>
              <a:t>검증 방법</a:t>
            </a:r>
            <a:endParaRPr i="0" sz="1700" u="none" cap="none" strike="noStrike">
              <a:solidFill>
                <a:schemeClr val="dk1"/>
              </a:solidFill>
              <a:latin typeface="Asta Sans SemiBold"/>
              <a:ea typeface="Asta Sans SemiBold"/>
              <a:cs typeface="Asta Sans SemiBold"/>
              <a:sym typeface="Asta Sans SemiBold"/>
            </a:endParaRPr>
          </a:p>
        </p:txBody>
      </p:sp>
      <p:sp>
        <p:nvSpPr>
          <p:cNvPr id="454" name="Google Shape;454;p17"/>
          <p:cNvSpPr txBox="1"/>
          <p:nvPr/>
        </p:nvSpPr>
        <p:spPr>
          <a:xfrm>
            <a:off x="868657" y="4738468"/>
            <a:ext cx="10515300" cy="960000"/>
          </a:xfrm>
          <a:prstGeom prst="rect">
            <a:avLst/>
          </a:prstGeom>
          <a:noFill/>
          <a:ln>
            <a:noFill/>
          </a:ln>
        </p:spPr>
        <p:txBody>
          <a:bodyPr anchorCtr="0" anchor="t" bIns="0" lIns="0" spcFirstLastPara="1" rIns="0" wrap="square" tIns="0">
            <a:noAutofit/>
          </a:bodyPr>
          <a:lstStyle/>
          <a:p>
            <a:pPr indent="-355600" lvl="0" marL="342900" marR="0" rtl="0" algn="l">
              <a:spcBef>
                <a:spcPts val="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TC마다 기대 상태 코드와 DB 변화를 명시하고 자동화 테스트 이름에 TC ID를 붙여 추적</a:t>
            </a:r>
            <a:endParaRPr i="0" sz="1500" u="none" cap="none" strike="noStrike">
              <a:solidFill>
                <a:schemeClr val="dk1"/>
              </a:solidFill>
              <a:latin typeface="Noto Sans KR"/>
              <a:ea typeface="Noto Sans KR"/>
              <a:cs typeface="Noto Sans KR"/>
              <a:sym typeface="Noto Sans KR"/>
            </a:endParaRPr>
          </a:p>
          <a:p>
            <a:pPr indent="-355600" lvl="0" marL="342900" marR="0" rtl="0" algn="l">
              <a:spcBef>
                <a:spcPts val="40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AI 테스트는 결과가 항상 같은 서버 로직 테스트(Mock)와 실제 AI 품질 확인 테스트를 분리</a:t>
            </a:r>
            <a:endParaRPr i="0" sz="1500" u="none" cap="none" strike="noStrike">
              <a:solidFill>
                <a:schemeClr val="dk1"/>
              </a:solidFill>
              <a:latin typeface="Noto Sans KR"/>
              <a:ea typeface="Noto Sans KR"/>
              <a:cs typeface="Noto Sans KR"/>
              <a:sym typeface="Noto Sans KR"/>
            </a:endParaRPr>
          </a:p>
          <a:p>
            <a:pPr indent="-355600" lvl="0" marL="342900" marR="0" rtl="0" algn="l">
              <a:spcBef>
                <a:spcPts val="400"/>
              </a:spcBef>
              <a:spcAft>
                <a:spcPts val="0"/>
              </a:spcAft>
              <a:buClr>
                <a:srgbClr val="1E293B"/>
              </a:buClr>
              <a:buSzPts val="1500"/>
              <a:buFont typeface="Noto Sans KR"/>
              <a:buChar char="•"/>
            </a:pPr>
            <a:r>
              <a:rPr i="0" lang="en-US" sz="1500" u="none" cap="none" strike="noStrike">
                <a:solidFill>
                  <a:srgbClr val="1E293B"/>
                </a:solidFill>
                <a:latin typeface="Noto Sans KR"/>
                <a:ea typeface="Noto Sans KR"/>
                <a:cs typeface="Noto Sans KR"/>
                <a:sym typeface="Noto Sans KR"/>
              </a:rPr>
              <a:t>브라우저에서 주요 흐름을 직접 확인하고 발견한 문제는 이슈로 등록</a:t>
            </a:r>
            <a:endParaRPr i="0" sz="1500" u="none" cap="none" strike="noStrike">
              <a:solidFill>
                <a:schemeClr val="dk1"/>
              </a:solidFill>
              <a:latin typeface="Noto Sans KR"/>
              <a:ea typeface="Noto Sans KR"/>
              <a:cs typeface="Noto Sans KR"/>
              <a:sym typeface="Noto Sans KR"/>
            </a:endParaRPr>
          </a:p>
        </p:txBody>
      </p:sp>
      <p:sp>
        <p:nvSpPr>
          <p:cNvPr id="455" name="Google Shape;455;p17"/>
          <p:cNvSpPr txBox="1"/>
          <p:nvPr/>
        </p:nvSpPr>
        <p:spPr>
          <a:xfrm>
            <a:off x="548625" y="5943600"/>
            <a:ext cx="91437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Malgun Gothic"/>
              <a:buNone/>
            </a:pPr>
            <a:r>
              <a:rPr i="0" lang="en-US" sz="1100" u="none" cap="none" strike="noStrike">
                <a:solidFill>
                  <a:srgbClr val="94A3B8"/>
                </a:solidFill>
                <a:latin typeface="Noto Sans KR"/>
                <a:ea typeface="Noto Sans KR"/>
                <a:cs typeface="Noto Sans KR"/>
                <a:sym typeface="Noto Sans KR"/>
              </a:rPr>
              <a:t>백엔드는 develop, 프런트엔드는 PR #108 기준 · 2026-09-29</a:t>
            </a:r>
            <a:endParaRPr i="0" sz="1100" u="none" cap="none" strike="noStrike">
              <a:solidFill>
                <a:schemeClr val="dk1"/>
              </a:solidFill>
              <a:latin typeface="Noto Sans KR"/>
              <a:ea typeface="Noto Sans KR"/>
              <a:cs typeface="Noto Sans KR"/>
              <a:sym typeface="Noto Sans KR"/>
            </a:endParaRPr>
          </a:p>
        </p:txBody>
      </p:sp>
      <p:sp>
        <p:nvSpPr>
          <p:cNvPr id="456" name="Google Shape;456;p17"/>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04. 수행 경과 </a:t>
            </a:r>
            <a:r>
              <a:rPr b="1" lang="en-US" sz="1200">
                <a:solidFill>
                  <a:srgbClr val="2563EB"/>
                </a:solidFill>
                <a:latin typeface="Malgun Gothic"/>
                <a:ea typeface="Malgun Gothic"/>
                <a:cs typeface="Malgun Gothic"/>
                <a:sym typeface="Malgun Gothic"/>
              </a:rPr>
              <a:t>· </a:t>
            </a:r>
            <a:r>
              <a:rPr lang="en-US" sz="1500">
                <a:solidFill>
                  <a:srgbClr val="2563EB"/>
                </a:solidFill>
                <a:latin typeface="Asta Sans Medium"/>
                <a:ea typeface="Asta Sans Medium"/>
                <a:cs typeface="Asta Sans Medium"/>
                <a:sym typeface="Asta Sans Medium"/>
              </a:rPr>
              <a:t> </a:t>
            </a:r>
            <a:r>
              <a:rPr lang="en-US" sz="1500">
                <a:solidFill>
                  <a:srgbClr val="2563EB"/>
                </a:solidFill>
                <a:latin typeface="Asta Sans Medium"/>
                <a:ea typeface="Asta Sans Medium"/>
                <a:cs typeface="Asta Sans Medium"/>
                <a:sym typeface="Asta Sans Medium"/>
              </a:rPr>
              <a:t>테스트</a:t>
            </a:r>
            <a:endParaRPr i="0" sz="1500" u="none" cap="none" strike="noStrike">
              <a:solidFill>
                <a:schemeClr val="dk1"/>
              </a:solidFill>
              <a:latin typeface="Asta Sans Medium"/>
              <a:ea typeface="Asta Sans Medium"/>
              <a:cs typeface="Asta Sans Medium"/>
              <a:sym typeface="Asta Sans Medium"/>
            </a:endParaRPr>
          </a:p>
        </p:txBody>
      </p:sp>
      <p:cxnSp>
        <p:nvCxnSpPr>
          <p:cNvPr id="457" name="Google Shape;457;p17"/>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2" name="Shape 462"/>
        <p:cNvGrpSpPr/>
        <p:nvPr/>
      </p:nvGrpSpPr>
      <p:grpSpPr>
        <a:xfrm>
          <a:off x="0" y="0"/>
          <a:ext cx="0" cy="0"/>
          <a:chOff x="0" y="0"/>
          <a:chExt cx="0" cy="0"/>
        </a:xfrm>
      </p:grpSpPr>
      <p:sp>
        <p:nvSpPr>
          <p:cNvPr id="463" name="Google Shape;463;p18"/>
          <p:cNvSpPr txBox="1"/>
          <p:nvPr/>
        </p:nvSpPr>
        <p:spPr>
          <a:xfrm>
            <a:off x="548625" y="676656"/>
            <a:ext cx="1106394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개발·테스트 중 발견한 문제와 해결 과정</a:t>
            </a:r>
            <a:endParaRPr b="1" i="0" sz="2800" u="none" cap="none" strike="noStrike">
              <a:solidFill>
                <a:schemeClr val="dk1"/>
              </a:solidFill>
              <a:latin typeface="Asta Sans"/>
              <a:ea typeface="Asta Sans"/>
              <a:cs typeface="Asta Sans"/>
              <a:sym typeface="Asta Sans"/>
            </a:endParaRPr>
          </a:p>
        </p:txBody>
      </p:sp>
      <p:sp>
        <p:nvSpPr>
          <p:cNvPr id="464" name="Google Shape;464;p18"/>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16</a:t>
            </a:r>
            <a:endParaRPr b="0" i="0" sz="1000" u="none" cap="none" strike="noStrike">
              <a:solidFill>
                <a:schemeClr val="dk1"/>
              </a:solidFill>
              <a:latin typeface="Malgun Gothic"/>
              <a:ea typeface="Malgun Gothic"/>
              <a:cs typeface="Malgun Gothic"/>
              <a:sym typeface="Malgun Gothic"/>
            </a:endParaRPr>
          </a:p>
        </p:txBody>
      </p:sp>
      <p:sp>
        <p:nvSpPr>
          <p:cNvPr id="465" name="Google Shape;465;p18"/>
          <p:cNvSpPr txBox="1"/>
          <p:nvPr/>
        </p:nvSpPr>
        <p:spPr>
          <a:xfrm>
            <a:off x="685042" y="1600200"/>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800" u="none" cap="none" strike="noStrike">
                <a:solidFill>
                  <a:srgbClr val="64748B"/>
                </a:solidFill>
                <a:latin typeface="Asta Sans SemiBold"/>
                <a:ea typeface="Asta Sans SemiBold"/>
                <a:cs typeface="Asta Sans SemiBold"/>
                <a:sym typeface="Asta Sans SemiBold"/>
              </a:rPr>
              <a:t>문제</a:t>
            </a:r>
            <a:endParaRPr i="0" sz="1800" u="none" cap="none" strike="noStrike">
              <a:solidFill>
                <a:schemeClr val="dk1"/>
              </a:solidFill>
              <a:latin typeface="Asta Sans SemiBold"/>
              <a:ea typeface="Asta Sans SemiBold"/>
              <a:cs typeface="Asta Sans SemiBold"/>
              <a:sym typeface="Asta Sans SemiBold"/>
            </a:endParaRPr>
          </a:p>
        </p:txBody>
      </p:sp>
      <p:sp>
        <p:nvSpPr>
          <p:cNvPr id="466" name="Google Shape;466;p18"/>
          <p:cNvSpPr txBox="1"/>
          <p:nvPr/>
        </p:nvSpPr>
        <p:spPr>
          <a:xfrm>
            <a:off x="4388264" y="1600200"/>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800" u="none" cap="none" strike="noStrike">
                <a:solidFill>
                  <a:srgbClr val="64748B"/>
                </a:solidFill>
                <a:latin typeface="Asta Sans SemiBold"/>
                <a:ea typeface="Asta Sans SemiBold"/>
                <a:cs typeface="Asta Sans SemiBold"/>
                <a:sym typeface="Asta Sans SemiBold"/>
              </a:rPr>
              <a:t>원인</a:t>
            </a:r>
            <a:endParaRPr i="0" sz="1800" u="none" cap="none" strike="noStrike">
              <a:solidFill>
                <a:schemeClr val="dk1"/>
              </a:solidFill>
              <a:latin typeface="Asta Sans SemiBold"/>
              <a:ea typeface="Asta Sans SemiBold"/>
              <a:cs typeface="Asta Sans SemiBold"/>
              <a:sym typeface="Asta Sans SemiBold"/>
            </a:endParaRPr>
          </a:p>
        </p:txBody>
      </p:sp>
      <p:sp>
        <p:nvSpPr>
          <p:cNvPr id="467" name="Google Shape;467;p18"/>
          <p:cNvSpPr txBox="1"/>
          <p:nvPr/>
        </p:nvSpPr>
        <p:spPr>
          <a:xfrm>
            <a:off x="8091485" y="1600200"/>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800" u="none" cap="none" strike="noStrike">
                <a:solidFill>
                  <a:srgbClr val="64748B"/>
                </a:solidFill>
                <a:latin typeface="Asta Sans SemiBold"/>
                <a:ea typeface="Asta Sans SemiBold"/>
                <a:cs typeface="Asta Sans SemiBold"/>
                <a:sym typeface="Asta Sans SemiBold"/>
              </a:rPr>
              <a:t>해결</a:t>
            </a:r>
            <a:endParaRPr i="0" sz="1800" u="none" cap="none" strike="noStrike">
              <a:solidFill>
                <a:schemeClr val="dk1"/>
              </a:solidFill>
              <a:latin typeface="Asta Sans SemiBold"/>
              <a:ea typeface="Asta Sans SemiBold"/>
              <a:cs typeface="Asta Sans SemiBold"/>
              <a:sym typeface="Asta Sans SemiBold"/>
            </a:endParaRPr>
          </a:p>
        </p:txBody>
      </p:sp>
      <p:sp>
        <p:nvSpPr>
          <p:cNvPr id="468" name="Google Shape;468;p18"/>
          <p:cNvSpPr/>
          <p:nvPr/>
        </p:nvSpPr>
        <p:spPr>
          <a:xfrm>
            <a:off x="548625" y="201168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txBox="1"/>
          <p:nvPr/>
        </p:nvSpPr>
        <p:spPr>
          <a:xfrm>
            <a:off x="822938" y="201168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i="0" lang="en-US" u="none" cap="none" strike="noStrike">
                <a:solidFill>
                  <a:srgbClr val="1E293B"/>
                </a:solidFill>
                <a:latin typeface="Noto Sans KR"/>
                <a:ea typeface="Noto Sans KR"/>
                <a:cs typeface="Noto Sans KR"/>
                <a:sym typeface="Noto Sans KR"/>
              </a:rPr>
              <a:t>지원하지 않는 종목</a:t>
            </a:r>
            <a:r>
              <a:rPr lang="en-US">
                <a:solidFill>
                  <a:srgbClr val="1E293B"/>
                </a:solidFill>
                <a:latin typeface="Noto Sans KR"/>
                <a:ea typeface="Noto Sans KR"/>
                <a:cs typeface="Noto Sans KR"/>
                <a:sym typeface="Noto Sans KR"/>
              </a:rPr>
              <a:t>인 SQUASH로</a:t>
            </a:r>
            <a:r>
              <a:rPr i="0" lang="en-US" u="none" cap="none" strike="noStrike">
                <a:solidFill>
                  <a:srgbClr val="1E293B"/>
                </a:solidFill>
                <a:latin typeface="Noto Sans KR"/>
                <a:ea typeface="Noto Sans KR"/>
                <a:cs typeface="Noto Sans KR"/>
                <a:sym typeface="Noto Sans KR"/>
              </a:rPr>
              <a:t> 검색하면 401 "인증 만료"로 표시</a:t>
            </a:r>
            <a:endParaRPr i="0" u="none" cap="none" strike="noStrike">
              <a:solidFill>
                <a:schemeClr val="dk1"/>
              </a:solidFill>
              <a:latin typeface="Noto Sans KR"/>
              <a:ea typeface="Noto Sans KR"/>
              <a:cs typeface="Noto Sans KR"/>
              <a:sym typeface="Noto Sans KR"/>
            </a:endParaRPr>
          </a:p>
        </p:txBody>
      </p:sp>
      <p:cxnSp>
        <p:nvCxnSpPr>
          <p:cNvPr id="470" name="Google Shape;470;p18"/>
          <p:cNvCxnSpPr/>
          <p:nvPr/>
        </p:nvCxnSpPr>
        <p:spPr>
          <a:xfrm>
            <a:off x="4050684" y="2560320"/>
            <a:ext cx="173731" cy="0"/>
          </a:xfrm>
          <a:prstGeom prst="straightConnector1">
            <a:avLst/>
          </a:prstGeom>
          <a:noFill/>
          <a:ln cap="flat" cmpd="sng" w="19050">
            <a:solidFill>
              <a:srgbClr val="94A3B8"/>
            </a:solidFill>
            <a:prstDash val="solid"/>
            <a:round/>
            <a:headEnd len="sm" w="sm" type="none"/>
            <a:tailEnd len="med" w="med" type="triangle"/>
          </a:ln>
        </p:spPr>
      </p:cxnSp>
      <p:sp>
        <p:nvSpPr>
          <p:cNvPr id="471" name="Google Shape;471;p18"/>
          <p:cNvSpPr/>
          <p:nvPr/>
        </p:nvSpPr>
        <p:spPr>
          <a:xfrm>
            <a:off x="4251847" y="201168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txBox="1"/>
          <p:nvPr/>
        </p:nvSpPr>
        <p:spPr>
          <a:xfrm>
            <a:off x="4526159" y="201168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lang="en-US">
                <a:solidFill>
                  <a:srgbClr val="1E293B"/>
                </a:solidFill>
                <a:latin typeface="Noto Sans KR"/>
                <a:ea typeface="Noto Sans KR"/>
                <a:cs typeface="Noto Sans KR"/>
                <a:sym typeface="Noto Sans KR"/>
              </a:rPr>
              <a:t>IllegalArgumentException 예외가 처리되지 않아 /error로 다시 디스패치되는 과정에서 401 반환</a:t>
            </a:r>
            <a:endParaRPr i="0" u="none" cap="none" strike="noStrike">
              <a:solidFill>
                <a:schemeClr val="dk1"/>
              </a:solidFill>
              <a:latin typeface="Noto Sans KR"/>
              <a:ea typeface="Noto Sans KR"/>
              <a:cs typeface="Noto Sans KR"/>
              <a:sym typeface="Noto Sans KR"/>
            </a:endParaRPr>
          </a:p>
        </p:txBody>
      </p:sp>
      <p:cxnSp>
        <p:nvCxnSpPr>
          <p:cNvPr id="473" name="Google Shape;473;p18"/>
          <p:cNvCxnSpPr/>
          <p:nvPr/>
        </p:nvCxnSpPr>
        <p:spPr>
          <a:xfrm>
            <a:off x="7753905" y="2560320"/>
            <a:ext cx="173731" cy="0"/>
          </a:xfrm>
          <a:prstGeom prst="straightConnector1">
            <a:avLst/>
          </a:prstGeom>
          <a:noFill/>
          <a:ln cap="flat" cmpd="sng" w="19050">
            <a:solidFill>
              <a:srgbClr val="94A3B8"/>
            </a:solidFill>
            <a:prstDash val="solid"/>
            <a:round/>
            <a:headEnd len="sm" w="sm" type="none"/>
            <a:tailEnd len="med" w="med" type="triangle"/>
          </a:ln>
        </p:spPr>
      </p:cxnSp>
      <p:sp>
        <p:nvSpPr>
          <p:cNvPr id="474" name="Google Shape;474;p18"/>
          <p:cNvSpPr/>
          <p:nvPr/>
        </p:nvSpPr>
        <p:spPr>
          <a:xfrm>
            <a:off x="7955068" y="2011680"/>
            <a:ext cx="3474627" cy="1097280"/>
          </a:xfrm>
          <a:prstGeom prst="roundRect">
            <a:avLst>
              <a:gd fmla="val 11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txBox="1"/>
          <p:nvPr/>
        </p:nvSpPr>
        <p:spPr>
          <a:xfrm>
            <a:off x="8229381" y="201168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300"/>
              <a:buFont typeface="Malgun Gothic"/>
              <a:buNone/>
            </a:pPr>
            <a:r>
              <a:rPr lang="en-US">
                <a:solidFill>
                  <a:srgbClr val="2563EB"/>
                </a:solidFill>
                <a:latin typeface="Noto Sans KR"/>
                <a:ea typeface="Noto Sans KR"/>
                <a:cs typeface="Noto Sans KR"/>
                <a:sym typeface="Noto Sans KR"/>
              </a:rPr>
              <a:t>IllegalArgumentException 예외에 대한 Exception Handler 등록 후 </a:t>
            </a:r>
            <a:r>
              <a:rPr i="0" lang="en-US" u="none" cap="none" strike="noStrike">
                <a:solidFill>
                  <a:srgbClr val="2563EB"/>
                </a:solidFill>
                <a:latin typeface="Noto Sans KR"/>
                <a:ea typeface="Noto Sans KR"/>
                <a:cs typeface="Noto Sans KR"/>
                <a:sym typeface="Noto Sans KR"/>
              </a:rPr>
              <a:t>400 </a:t>
            </a:r>
            <a:r>
              <a:rPr lang="en-US">
                <a:solidFill>
                  <a:srgbClr val="2563EB"/>
                </a:solidFill>
                <a:latin typeface="Noto Sans KR"/>
                <a:ea typeface="Noto Sans KR"/>
                <a:cs typeface="Noto Sans KR"/>
                <a:sym typeface="Noto Sans KR"/>
              </a:rPr>
              <a:t>반환 (</a:t>
            </a:r>
            <a:r>
              <a:rPr i="0" lang="en-US" u="none" cap="none" strike="noStrike">
                <a:solidFill>
                  <a:srgbClr val="2563EB"/>
                </a:solidFill>
                <a:latin typeface="Noto Sans KR"/>
                <a:ea typeface="Noto Sans KR"/>
                <a:cs typeface="Noto Sans KR"/>
                <a:sym typeface="Noto Sans KR"/>
              </a:rPr>
              <a:t>#110)</a:t>
            </a:r>
            <a:endParaRPr i="0" u="none" cap="none" strike="noStrike">
              <a:solidFill>
                <a:schemeClr val="dk1"/>
              </a:solidFill>
              <a:latin typeface="Noto Sans KR"/>
              <a:ea typeface="Noto Sans KR"/>
              <a:cs typeface="Noto Sans KR"/>
              <a:sym typeface="Noto Sans KR"/>
            </a:endParaRPr>
          </a:p>
        </p:txBody>
      </p:sp>
      <p:sp>
        <p:nvSpPr>
          <p:cNvPr id="476" name="Google Shape;476;p18"/>
          <p:cNvSpPr/>
          <p:nvPr/>
        </p:nvSpPr>
        <p:spPr>
          <a:xfrm>
            <a:off x="548625" y="333756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txBox="1"/>
          <p:nvPr/>
        </p:nvSpPr>
        <p:spPr>
          <a:xfrm>
            <a:off x="822938" y="333756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lang="en-US">
                <a:solidFill>
                  <a:srgbClr val="1E293B"/>
                </a:solidFill>
                <a:latin typeface="Noto Sans KR"/>
                <a:ea typeface="Noto Sans KR"/>
                <a:cs typeface="Noto Sans KR"/>
                <a:sym typeface="Noto Sans KR"/>
              </a:rPr>
              <a:t>기능 테스트/통합 과정에서 비활성화된 </a:t>
            </a:r>
            <a:br>
              <a:rPr lang="en-US">
                <a:solidFill>
                  <a:srgbClr val="1E293B"/>
                </a:solidFill>
                <a:latin typeface="Noto Sans KR"/>
                <a:ea typeface="Noto Sans KR"/>
                <a:cs typeface="Noto Sans KR"/>
                <a:sym typeface="Noto Sans KR"/>
              </a:rPr>
            </a:br>
            <a:r>
              <a:rPr i="0" lang="en-US" u="none" cap="none" strike="noStrike">
                <a:solidFill>
                  <a:srgbClr val="1E293B"/>
                </a:solidFill>
                <a:latin typeface="Noto Sans KR"/>
                <a:ea typeface="Noto Sans KR"/>
                <a:cs typeface="Noto Sans KR"/>
                <a:sym typeface="Noto Sans KR"/>
              </a:rPr>
              <a:t>"조건 직접 수정" 버튼</a:t>
            </a:r>
            <a:r>
              <a:rPr lang="en-US">
                <a:solidFill>
                  <a:srgbClr val="1E293B"/>
                </a:solidFill>
                <a:latin typeface="Noto Sans KR"/>
                <a:ea typeface="Noto Sans KR"/>
                <a:cs typeface="Noto Sans KR"/>
                <a:sym typeface="Noto Sans KR"/>
              </a:rPr>
              <a:t> 발견</a:t>
            </a:r>
            <a:endParaRPr i="0" u="none" cap="none" strike="noStrike">
              <a:solidFill>
                <a:schemeClr val="dk1"/>
              </a:solidFill>
              <a:latin typeface="Noto Sans KR"/>
              <a:ea typeface="Noto Sans KR"/>
              <a:cs typeface="Noto Sans KR"/>
              <a:sym typeface="Noto Sans KR"/>
            </a:endParaRPr>
          </a:p>
        </p:txBody>
      </p:sp>
      <p:cxnSp>
        <p:nvCxnSpPr>
          <p:cNvPr id="478" name="Google Shape;478;p18"/>
          <p:cNvCxnSpPr/>
          <p:nvPr/>
        </p:nvCxnSpPr>
        <p:spPr>
          <a:xfrm>
            <a:off x="4050684" y="3886200"/>
            <a:ext cx="173731" cy="0"/>
          </a:xfrm>
          <a:prstGeom prst="straightConnector1">
            <a:avLst/>
          </a:prstGeom>
          <a:noFill/>
          <a:ln cap="flat" cmpd="sng" w="19050">
            <a:solidFill>
              <a:srgbClr val="94A3B8"/>
            </a:solidFill>
            <a:prstDash val="solid"/>
            <a:round/>
            <a:headEnd len="sm" w="sm" type="none"/>
            <a:tailEnd len="med" w="med" type="triangle"/>
          </a:ln>
        </p:spPr>
      </p:cxnSp>
      <p:sp>
        <p:nvSpPr>
          <p:cNvPr id="479" name="Google Shape;479;p18"/>
          <p:cNvSpPr/>
          <p:nvPr/>
        </p:nvSpPr>
        <p:spPr>
          <a:xfrm>
            <a:off x="4251847" y="333756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txBox="1"/>
          <p:nvPr/>
        </p:nvSpPr>
        <p:spPr>
          <a:xfrm>
            <a:off x="4526159" y="333756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i="0" lang="en-US" u="none" cap="none" strike="noStrike">
                <a:solidFill>
                  <a:srgbClr val="1E293B"/>
                </a:solidFill>
                <a:latin typeface="Noto Sans KR"/>
                <a:ea typeface="Noto Sans KR"/>
                <a:cs typeface="Noto Sans KR"/>
                <a:sym typeface="Noto Sans KR"/>
              </a:rPr>
              <a:t>조건 편집 기능이 연결되지 않은 상태</a:t>
            </a:r>
            <a:endParaRPr i="0" u="none" cap="none" strike="noStrike">
              <a:solidFill>
                <a:schemeClr val="dk1"/>
              </a:solidFill>
              <a:latin typeface="Noto Sans KR"/>
              <a:ea typeface="Noto Sans KR"/>
              <a:cs typeface="Noto Sans KR"/>
              <a:sym typeface="Noto Sans KR"/>
            </a:endParaRPr>
          </a:p>
        </p:txBody>
      </p:sp>
      <p:cxnSp>
        <p:nvCxnSpPr>
          <p:cNvPr id="481" name="Google Shape;481;p18"/>
          <p:cNvCxnSpPr/>
          <p:nvPr/>
        </p:nvCxnSpPr>
        <p:spPr>
          <a:xfrm>
            <a:off x="7753905" y="3886200"/>
            <a:ext cx="173731" cy="0"/>
          </a:xfrm>
          <a:prstGeom prst="straightConnector1">
            <a:avLst/>
          </a:prstGeom>
          <a:noFill/>
          <a:ln cap="flat" cmpd="sng" w="19050">
            <a:solidFill>
              <a:srgbClr val="94A3B8"/>
            </a:solidFill>
            <a:prstDash val="solid"/>
            <a:round/>
            <a:headEnd len="sm" w="sm" type="none"/>
            <a:tailEnd len="med" w="med" type="triangle"/>
          </a:ln>
        </p:spPr>
      </p:cxnSp>
      <p:sp>
        <p:nvSpPr>
          <p:cNvPr id="482" name="Google Shape;482;p18"/>
          <p:cNvSpPr/>
          <p:nvPr/>
        </p:nvSpPr>
        <p:spPr>
          <a:xfrm>
            <a:off x="7955068" y="3337560"/>
            <a:ext cx="3474627" cy="1097280"/>
          </a:xfrm>
          <a:prstGeom prst="roundRect">
            <a:avLst>
              <a:gd fmla="val 11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8"/>
          <p:cNvSpPr txBox="1"/>
          <p:nvPr/>
        </p:nvSpPr>
        <p:spPr>
          <a:xfrm>
            <a:off x="8229381" y="333756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300"/>
              <a:buFont typeface="Malgun Gothic"/>
              <a:buNone/>
            </a:pPr>
            <a:r>
              <a:rPr i="0" lang="en-US" u="none" cap="none" strike="noStrike">
                <a:solidFill>
                  <a:srgbClr val="2563EB"/>
                </a:solidFill>
                <a:latin typeface="Noto Sans KR"/>
                <a:ea typeface="Noto Sans KR"/>
                <a:cs typeface="Noto Sans KR"/>
                <a:sym typeface="Noto Sans KR"/>
              </a:rPr>
              <a:t>편집 폼 추가, </a:t>
            </a:r>
            <a:r>
              <a:rPr lang="en-US">
                <a:solidFill>
                  <a:srgbClr val="2563EB"/>
                </a:solidFill>
                <a:latin typeface="Noto Sans KR"/>
                <a:ea typeface="Noto Sans KR"/>
                <a:cs typeface="Noto Sans KR"/>
                <a:sym typeface="Noto Sans KR"/>
              </a:rPr>
              <a:t>운동 매치 검색 API 호출하여</a:t>
            </a:r>
            <a:r>
              <a:rPr i="0" lang="en-US" u="none" cap="none" strike="noStrike">
                <a:solidFill>
                  <a:srgbClr val="2563EB"/>
                </a:solidFill>
                <a:latin typeface="Noto Sans KR"/>
                <a:ea typeface="Noto Sans KR"/>
                <a:cs typeface="Noto Sans KR"/>
                <a:sym typeface="Noto Sans KR"/>
              </a:rPr>
              <a:t> 재검색 (#107)</a:t>
            </a:r>
            <a:endParaRPr i="0" u="none" cap="none" strike="noStrike">
              <a:solidFill>
                <a:schemeClr val="dk1"/>
              </a:solidFill>
              <a:latin typeface="Noto Sans KR"/>
              <a:ea typeface="Noto Sans KR"/>
              <a:cs typeface="Noto Sans KR"/>
              <a:sym typeface="Noto Sans KR"/>
            </a:endParaRPr>
          </a:p>
        </p:txBody>
      </p:sp>
      <p:sp>
        <p:nvSpPr>
          <p:cNvPr id="484" name="Google Shape;484;p18"/>
          <p:cNvSpPr/>
          <p:nvPr/>
        </p:nvSpPr>
        <p:spPr>
          <a:xfrm>
            <a:off x="548625" y="466344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8"/>
          <p:cNvSpPr txBox="1"/>
          <p:nvPr/>
        </p:nvSpPr>
        <p:spPr>
          <a:xfrm>
            <a:off x="822938" y="466344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lang="en-US">
                <a:solidFill>
                  <a:srgbClr val="1E293B"/>
                </a:solidFill>
                <a:latin typeface="Noto Sans KR"/>
                <a:ea typeface="Noto Sans KR"/>
                <a:cs typeface="Noto Sans KR"/>
                <a:sym typeface="Noto Sans KR"/>
              </a:rPr>
              <a:t>회원 탈퇴 시 탈퇴 시점이 저장되지 않음</a:t>
            </a:r>
            <a:endParaRPr i="0" u="none" cap="none" strike="noStrike">
              <a:solidFill>
                <a:schemeClr val="dk1"/>
              </a:solidFill>
              <a:latin typeface="Noto Sans KR"/>
              <a:ea typeface="Noto Sans KR"/>
              <a:cs typeface="Noto Sans KR"/>
              <a:sym typeface="Noto Sans KR"/>
            </a:endParaRPr>
          </a:p>
        </p:txBody>
      </p:sp>
      <p:cxnSp>
        <p:nvCxnSpPr>
          <p:cNvPr id="486" name="Google Shape;486;p18"/>
          <p:cNvCxnSpPr/>
          <p:nvPr/>
        </p:nvCxnSpPr>
        <p:spPr>
          <a:xfrm>
            <a:off x="4050684" y="5212080"/>
            <a:ext cx="173731" cy="0"/>
          </a:xfrm>
          <a:prstGeom prst="straightConnector1">
            <a:avLst/>
          </a:prstGeom>
          <a:noFill/>
          <a:ln cap="flat" cmpd="sng" w="19050">
            <a:solidFill>
              <a:srgbClr val="94A3B8"/>
            </a:solidFill>
            <a:prstDash val="solid"/>
            <a:round/>
            <a:headEnd len="sm" w="sm" type="none"/>
            <a:tailEnd len="med" w="med" type="triangle"/>
          </a:ln>
        </p:spPr>
      </p:cxnSp>
      <p:sp>
        <p:nvSpPr>
          <p:cNvPr id="487" name="Google Shape;487;p18"/>
          <p:cNvSpPr/>
          <p:nvPr/>
        </p:nvSpPr>
        <p:spPr>
          <a:xfrm>
            <a:off x="4251847" y="4663440"/>
            <a:ext cx="3474627" cy="1097280"/>
          </a:xfrm>
          <a:prstGeom prst="roundRect">
            <a:avLst>
              <a:gd fmla="val 1166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8"/>
          <p:cNvSpPr txBox="1"/>
          <p:nvPr/>
        </p:nvSpPr>
        <p:spPr>
          <a:xfrm>
            <a:off x="4526159" y="466344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Malgun Gothic"/>
              <a:buNone/>
            </a:pPr>
            <a:r>
              <a:rPr lang="en-US">
                <a:solidFill>
                  <a:srgbClr val="1E293B"/>
                </a:solidFill>
                <a:latin typeface="Noto Sans KR"/>
                <a:ea typeface="Noto Sans KR"/>
                <a:cs typeface="Noto Sans KR"/>
                <a:sym typeface="Noto Sans KR"/>
              </a:rPr>
              <a:t>회원 상태만 WITHDRAWN으로 변경하고 탈퇴 시각 갱신 누락</a:t>
            </a:r>
            <a:endParaRPr i="0" u="none" cap="none" strike="noStrike">
              <a:solidFill>
                <a:schemeClr val="dk1"/>
              </a:solidFill>
              <a:latin typeface="Noto Sans KR"/>
              <a:ea typeface="Noto Sans KR"/>
              <a:cs typeface="Noto Sans KR"/>
              <a:sym typeface="Noto Sans KR"/>
            </a:endParaRPr>
          </a:p>
        </p:txBody>
      </p:sp>
      <p:cxnSp>
        <p:nvCxnSpPr>
          <p:cNvPr id="489" name="Google Shape;489;p18"/>
          <p:cNvCxnSpPr/>
          <p:nvPr/>
        </p:nvCxnSpPr>
        <p:spPr>
          <a:xfrm>
            <a:off x="7753905" y="5212080"/>
            <a:ext cx="173731" cy="0"/>
          </a:xfrm>
          <a:prstGeom prst="straightConnector1">
            <a:avLst/>
          </a:prstGeom>
          <a:noFill/>
          <a:ln cap="flat" cmpd="sng" w="19050">
            <a:solidFill>
              <a:srgbClr val="94A3B8"/>
            </a:solidFill>
            <a:prstDash val="solid"/>
            <a:round/>
            <a:headEnd len="sm" w="sm" type="none"/>
            <a:tailEnd len="med" w="med" type="triangle"/>
          </a:ln>
        </p:spPr>
      </p:cxnSp>
      <p:sp>
        <p:nvSpPr>
          <p:cNvPr id="490" name="Google Shape;490;p18"/>
          <p:cNvSpPr/>
          <p:nvPr/>
        </p:nvSpPr>
        <p:spPr>
          <a:xfrm>
            <a:off x="7955068" y="4663440"/>
            <a:ext cx="3474627" cy="1097280"/>
          </a:xfrm>
          <a:prstGeom prst="roundRect">
            <a:avLst>
              <a:gd fmla="val 11667" name="adj"/>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
          <p:cNvSpPr txBox="1"/>
          <p:nvPr/>
        </p:nvSpPr>
        <p:spPr>
          <a:xfrm>
            <a:off x="8229381" y="4663440"/>
            <a:ext cx="2971721"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300"/>
              <a:buFont typeface="Malgun Gothic"/>
              <a:buNone/>
            </a:pPr>
            <a:r>
              <a:rPr lang="en-US">
                <a:solidFill>
                  <a:srgbClr val="2563EB"/>
                </a:solidFill>
                <a:latin typeface="Noto Sans KR"/>
                <a:ea typeface="Noto Sans KR"/>
                <a:cs typeface="Noto Sans KR"/>
                <a:sym typeface="Noto Sans KR"/>
              </a:rPr>
              <a:t>탈퇴 처리 시 withdrawn_at 함께 저장 (#111)</a:t>
            </a:r>
            <a:endParaRPr i="0" u="none" cap="none" strike="noStrike">
              <a:solidFill>
                <a:schemeClr val="dk1"/>
              </a:solidFill>
              <a:latin typeface="Noto Sans KR"/>
              <a:ea typeface="Noto Sans KR"/>
              <a:cs typeface="Noto Sans KR"/>
              <a:sym typeface="Noto Sans KR"/>
            </a:endParaRPr>
          </a:p>
        </p:txBody>
      </p:sp>
      <p:sp>
        <p:nvSpPr>
          <p:cNvPr id="492" name="Google Shape;492;p18"/>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04. 수행 경과 </a:t>
            </a:r>
            <a:r>
              <a:rPr b="1" lang="en-US" sz="1200">
                <a:solidFill>
                  <a:srgbClr val="2563EB"/>
                </a:solidFill>
                <a:latin typeface="Malgun Gothic"/>
                <a:ea typeface="Malgun Gothic"/>
                <a:cs typeface="Malgun Gothic"/>
                <a:sym typeface="Malgun Gothic"/>
              </a:rPr>
              <a:t>· </a:t>
            </a:r>
            <a:r>
              <a:rPr lang="en-US" sz="1500">
                <a:solidFill>
                  <a:srgbClr val="2563EB"/>
                </a:solidFill>
                <a:latin typeface="Asta Sans Medium"/>
                <a:ea typeface="Asta Sans Medium"/>
                <a:cs typeface="Asta Sans Medium"/>
                <a:sym typeface="Asta Sans Medium"/>
              </a:rPr>
              <a:t> </a:t>
            </a:r>
            <a:r>
              <a:rPr lang="en-US" sz="1500">
                <a:solidFill>
                  <a:srgbClr val="2563EB"/>
                </a:solidFill>
                <a:latin typeface="Asta Sans Medium"/>
                <a:ea typeface="Asta Sans Medium"/>
                <a:cs typeface="Asta Sans Medium"/>
                <a:sym typeface="Asta Sans Medium"/>
              </a:rPr>
              <a:t>개선</a:t>
            </a:r>
            <a:endParaRPr i="0" sz="1500" u="none" cap="none" strike="noStrike">
              <a:solidFill>
                <a:schemeClr val="dk1"/>
              </a:solidFill>
              <a:latin typeface="Asta Sans Medium"/>
              <a:ea typeface="Asta Sans Medium"/>
              <a:cs typeface="Asta Sans Medium"/>
              <a:sym typeface="Asta Sans Medium"/>
            </a:endParaRPr>
          </a:p>
        </p:txBody>
      </p:sp>
      <p:cxnSp>
        <p:nvCxnSpPr>
          <p:cNvPr id="493" name="Google Shape;493;p18"/>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8" name="Shape 498"/>
        <p:cNvGrpSpPr/>
        <p:nvPr/>
      </p:nvGrpSpPr>
      <p:grpSpPr>
        <a:xfrm>
          <a:off x="0" y="0"/>
          <a:ext cx="0" cy="0"/>
          <a:chOff x="0" y="0"/>
          <a:chExt cx="0" cy="0"/>
        </a:xfrm>
      </p:grpSpPr>
      <p:sp>
        <p:nvSpPr>
          <p:cNvPr id="499" name="Google Shape;499;p19"/>
          <p:cNvSpPr txBox="1"/>
          <p:nvPr/>
        </p:nvSpPr>
        <p:spPr>
          <a:xfrm>
            <a:off x="490010" y="720618"/>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i="0" lang="en-US" sz="2800" u="none" cap="none" strike="noStrike">
                <a:solidFill>
                  <a:srgbClr val="1E293B"/>
                </a:solidFill>
                <a:latin typeface="Asta Sans"/>
                <a:ea typeface="Asta Sans"/>
                <a:cs typeface="Asta Sans"/>
                <a:sym typeface="Asta Sans"/>
              </a:rPr>
              <a:t>시설 · 사람 · AI를 하나의 흐름으로 연결했습니다</a:t>
            </a:r>
            <a:endParaRPr b="1" i="0" sz="2800" u="none" cap="none" strike="noStrike">
              <a:solidFill>
                <a:schemeClr val="dk1"/>
              </a:solidFill>
              <a:latin typeface="Asta Sans"/>
              <a:ea typeface="Asta Sans"/>
              <a:cs typeface="Asta Sans"/>
              <a:sym typeface="Asta Sans"/>
            </a:endParaRPr>
          </a:p>
        </p:txBody>
      </p:sp>
      <p:sp>
        <p:nvSpPr>
          <p:cNvPr id="500" name="Google Shape;500;p19"/>
          <p:cNvSpPr txBox="1"/>
          <p:nvPr/>
        </p:nvSpPr>
        <p:spPr>
          <a:xfrm>
            <a:off x="11155383" y="6400800"/>
            <a:ext cx="548625"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17</a:t>
            </a:r>
            <a:endParaRPr b="0" i="0" sz="1000" u="none" cap="none" strike="noStrike">
              <a:solidFill>
                <a:schemeClr val="dk1"/>
              </a:solidFill>
              <a:latin typeface="Malgun Gothic"/>
              <a:ea typeface="Malgun Gothic"/>
              <a:cs typeface="Malgun Gothic"/>
              <a:sym typeface="Malgun Gothic"/>
            </a:endParaRPr>
          </a:p>
        </p:txBody>
      </p:sp>
      <p:sp>
        <p:nvSpPr>
          <p:cNvPr id="501" name="Google Shape;501;p19"/>
          <p:cNvSpPr txBox="1"/>
          <p:nvPr/>
        </p:nvSpPr>
        <p:spPr>
          <a:xfrm>
            <a:off x="548625" y="1600200"/>
            <a:ext cx="548625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600"/>
              <a:buFont typeface="Malgun Gothic"/>
              <a:buNone/>
            </a:pPr>
            <a:r>
              <a:rPr i="0" lang="en-US" sz="1700" u="none" cap="none" strike="noStrike">
                <a:solidFill>
                  <a:srgbClr val="64748B"/>
                </a:solidFill>
                <a:latin typeface="Asta Sans SemiBold"/>
                <a:ea typeface="Asta Sans SemiBold"/>
                <a:cs typeface="Asta Sans SemiBold"/>
                <a:sym typeface="Asta Sans SemiBold"/>
              </a:rPr>
              <a:t>성과</a:t>
            </a:r>
            <a:r>
              <a:rPr lang="en-US" sz="1700">
                <a:solidFill>
                  <a:srgbClr val="64748B"/>
                </a:solidFill>
                <a:latin typeface="Asta Sans SemiBold"/>
                <a:ea typeface="Asta Sans SemiBold"/>
                <a:cs typeface="Asta Sans SemiBold"/>
                <a:sym typeface="Asta Sans SemiBold"/>
              </a:rPr>
              <a:t> 및</a:t>
            </a:r>
            <a:r>
              <a:rPr i="0" lang="en-US" sz="1700" u="none" cap="none" strike="noStrike">
                <a:solidFill>
                  <a:srgbClr val="64748B"/>
                </a:solidFill>
                <a:latin typeface="Asta Sans SemiBold"/>
                <a:ea typeface="Asta Sans SemiBold"/>
                <a:cs typeface="Asta Sans SemiBold"/>
                <a:sym typeface="Asta Sans SemiBold"/>
              </a:rPr>
              <a:t> 기대효과</a:t>
            </a:r>
            <a:endParaRPr i="0" sz="1700" u="none" cap="none" strike="noStrike">
              <a:solidFill>
                <a:schemeClr val="dk1"/>
              </a:solidFill>
              <a:latin typeface="Asta Sans SemiBold"/>
              <a:ea typeface="Asta Sans SemiBold"/>
              <a:cs typeface="Asta Sans SemiBold"/>
              <a:sym typeface="Asta Sans SemiBold"/>
            </a:endParaRPr>
          </a:p>
        </p:txBody>
      </p:sp>
      <p:sp>
        <p:nvSpPr>
          <p:cNvPr id="502" name="Google Shape;502;p19"/>
          <p:cNvSpPr/>
          <p:nvPr/>
        </p:nvSpPr>
        <p:spPr>
          <a:xfrm>
            <a:off x="548625" y="2057400"/>
            <a:ext cx="603487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777219" y="2286000"/>
            <a:ext cx="685782" cy="6858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19"/>
          <p:cNvPicPr preferRelativeResize="0"/>
          <p:nvPr/>
        </p:nvPicPr>
        <p:blipFill rotWithShape="1">
          <a:blip r:embed="rId3">
            <a:alphaModFix/>
          </a:blip>
          <a:srcRect b="0" l="0" r="0" t="0"/>
          <a:stretch/>
        </p:blipFill>
        <p:spPr>
          <a:xfrm>
            <a:off x="948665" y="2457450"/>
            <a:ext cx="342891" cy="342891"/>
          </a:xfrm>
          <a:prstGeom prst="rect">
            <a:avLst/>
          </a:prstGeom>
          <a:noFill/>
          <a:ln>
            <a:noFill/>
          </a:ln>
        </p:spPr>
      </p:pic>
      <p:sp>
        <p:nvSpPr>
          <p:cNvPr id="505" name="Google Shape;505;p19"/>
          <p:cNvSpPr txBox="1"/>
          <p:nvPr/>
        </p:nvSpPr>
        <p:spPr>
          <a:xfrm>
            <a:off x="1691595" y="2221992"/>
            <a:ext cx="46633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i="0" lang="en-US" sz="1800" u="none" cap="none" strike="noStrike">
                <a:solidFill>
                  <a:srgbClr val="1E293B"/>
                </a:solidFill>
                <a:latin typeface="Asta Sans SemiBold"/>
                <a:ea typeface="Asta Sans SemiBold"/>
                <a:cs typeface="Asta Sans SemiBold"/>
                <a:sym typeface="Asta Sans SemiBold"/>
              </a:rPr>
              <a:t>핵심 기능 구현</a:t>
            </a:r>
            <a:endParaRPr i="0" sz="1800" u="none" cap="none" strike="noStrike">
              <a:solidFill>
                <a:schemeClr val="dk1"/>
              </a:solidFill>
              <a:latin typeface="Asta Sans SemiBold"/>
              <a:ea typeface="Asta Sans SemiBold"/>
              <a:cs typeface="Asta Sans SemiBold"/>
              <a:sym typeface="Asta Sans SemiBold"/>
            </a:endParaRPr>
          </a:p>
        </p:txBody>
      </p:sp>
      <p:sp>
        <p:nvSpPr>
          <p:cNvPr id="506" name="Google Shape;506;p19"/>
          <p:cNvSpPr txBox="1"/>
          <p:nvPr/>
        </p:nvSpPr>
        <p:spPr>
          <a:xfrm>
            <a:off x="1691595" y="2624328"/>
            <a:ext cx="466331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300" u="none" cap="none" strike="noStrike">
                <a:solidFill>
                  <a:srgbClr val="64748B"/>
                </a:solidFill>
                <a:latin typeface="Noto Sans KR"/>
                <a:ea typeface="Noto Sans KR"/>
                <a:cs typeface="Noto Sans KR"/>
                <a:sym typeface="Noto Sans KR"/>
              </a:rPr>
              <a:t>회원 · 운동 매칭 · 체육시설 · AI 기능을 develop에 통합</a:t>
            </a:r>
            <a:endParaRPr i="0" sz="1300" u="none" cap="none" strike="noStrike">
              <a:solidFill>
                <a:schemeClr val="dk1"/>
              </a:solidFill>
              <a:latin typeface="Noto Sans KR"/>
              <a:ea typeface="Noto Sans KR"/>
              <a:cs typeface="Noto Sans KR"/>
              <a:sym typeface="Noto Sans KR"/>
            </a:endParaRPr>
          </a:p>
        </p:txBody>
      </p:sp>
      <p:sp>
        <p:nvSpPr>
          <p:cNvPr id="507" name="Google Shape;507;p19"/>
          <p:cNvSpPr/>
          <p:nvPr/>
        </p:nvSpPr>
        <p:spPr>
          <a:xfrm>
            <a:off x="548625" y="3383280"/>
            <a:ext cx="603487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777219" y="3611880"/>
            <a:ext cx="685782" cy="6858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9" name="Google Shape;509;p19"/>
          <p:cNvPicPr preferRelativeResize="0"/>
          <p:nvPr/>
        </p:nvPicPr>
        <p:blipFill rotWithShape="1">
          <a:blip r:embed="rId4">
            <a:alphaModFix/>
          </a:blip>
          <a:srcRect b="0" l="0" r="0" t="0"/>
          <a:stretch/>
        </p:blipFill>
        <p:spPr>
          <a:xfrm>
            <a:off x="948665" y="3783330"/>
            <a:ext cx="342891" cy="342891"/>
          </a:xfrm>
          <a:prstGeom prst="rect">
            <a:avLst/>
          </a:prstGeom>
          <a:noFill/>
          <a:ln>
            <a:noFill/>
          </a:ln>
        </p:spPr>
      </p:pic>
      <p:sp>
        <p:nvSpPr>
          <p:cNvPr id="510" name="Google Shape;510;p19"/>
          <p:cNvSpPr txBox="1"/>
          <p:nvPr/>
        </p:nvSpPr>
        <p:spPr>
          <a:xfrm>
            <a:off x="1691595" y="3547872"/>
            <a:ext cx="46633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i="0" lang="en-US" sz="1800" u="none" cap="none" strike="noStrike">
                <a:solidFill>
                  <a:srgbClr val="1E293B"/>
                </a:solidFill>
                <a:latin typeface="Asta Sans SemiBold"/>
                <a:ea typeface="Asta Sans SemiBold"/>
                <a:cs typeface="Asta Sans SemiBold"/>
                <a:sym typeface="Asta Sans SemiBold"/>
              </a:rPr>
              <a:t>진입 장벽 </a:t>
            </a:r>
            <a:r>
              <a:rPr lang="en-US" sz="1800">
                <a:solidFill>
                  <a:srgbClr val="1E293B"/>
                </a:solidFill>
                <a:latin typeface="Asta Sans SemiBold"/>
                <a:ea typeface="Asta Sans SemiBold"/>
                <a:cs typeface="Asta Sans SemiBold"/>
                <a:sym typeface="Asta Sans SemiBold"/>
              </a:rPr>
              <a:t>완화</a:t>
            </a:r>
            <a:endParaRPr i="0" sz="1800" u="none" cap="none" strike="noStrike">
              <a:solidFill>
                <a:schemeClr val="dk1"/>
              </a:solidFill>
              <a:latin typeface="Asta Sans SemiBold"/>
              <a:ea typeface="Asta Sans SemiBold"/>
              <a:cs typeface="Asta Sans SemiBold"/>
              <a:sym typeface="Asta Sans SemiBold"/>
            </a:endParaRPr>
          </a:p>
        </p:txBody>
      </p:sp>
      <p:sp>
        <p:nvSpPr>
          <p:cNvPr id="511" name="Google Shape;511;p19"/>
          <p:cNvSpPr txBox="1"/>
          <p:nvPr/>
        </p:nvSpPr>
        <p:spPr>
          <a:xfrm>
            <a:off x="1691595" y="3950208"/>
            <a:ext cx="466331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lang="en-US" sz="1300">
                <a:solidFill>
                  <a:srgbClr val="64748B"/>
                </a:solidFill>
                <a:latin typeface="Noto Sans KR"/>
                <a:ea typeface="Noto Sans KR"/>
                <a:cs typeface="Noto Sans KR"/>
                <a:sym typeface="Noto Sans KR"/>
              </a:rPr>
              <a:t>수준과 지역에 맞는 다양한 생활 체육 모임에 쉽게 참여</a:t>
            </a:r>
            <a:endParaRPr i="0" sz="1300" u="none" cap="none" strike="noStrike">
              <a:solidFill>
                <a:schemeClr val="dk1"/>
              </a:solidFill>
              <a:latin typeface="Noto Sans KR"/>
              <a:ea typeface="Noto Sans KR"/>
              <a:cs typeface="Noto Sans KR"/>
              <a:sym typeface="Noto Sans KR"/>
            </a:endParaRPr>
          </a:p>
        </p:txBody>
      </p:sp>
      <p:sp>
        <p:nvSpPr>
          <p:cNvPr id="512" name="Google Shape;512;p19"/>
          <p:cNvSpPr/>
          <p:nvPr/>
        </p:nvSpPr>
        <p:spPr>
          <a:xfrm>
            <a:off x="548625" y="4709160"/>
            <a:ext cx="6034879" cy="1143000"/>
          </a:xfrm>
          <a:prstGeom prst="roundRect">
            <a:avLst>
              <a:gd fmla="val 11200"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9"/>
          <p:cNvSpPr/>
          <p:nvPr/>
        </p:nvSpPr>
        <p:spPr>
          <a:xfrm>
            <a:off x="777219" y="4937760"/>
            <a:ext cx="685782" cy="685800"/>
          </a:xfrm>
          <a:prstGeom prst="ellipse">
            <a:avLst/>
          </a:prstGeom>
          <a:solidFill>
            <a:srgbClr val="EFF6FF"/>
          </a:solidFill>
          <a:ln cap="flat" cmpd="sng" w="12700">
            <a:solidFill>
              <a:srgbClr val="EFF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4" name="Google Shape;514;p19"/>
          <p:cNvPicPr preferRelativeResize="0"/>
          <p:nvPr/>
        </p:nvPicPr>
        <p:blipFill rotWithShape="1">
          <a:blip r:embed="rId5">
            <a:alphaModFix/>
          </a:blip>
          <a:srcRect b="0" l="0" r="0" t="0"/>
          <a:stretch/>
        </p:blipFill>
        <p:spPr>
          <a:xfrm>
            <a:off x="948665" y="5109210"/>
            <a:ext cx="342891" cy="342891"/>
          </a:xfrm>
          <a:prstGeom prst="rect">
            <a:avLst/>
          </a:prstGeom>
          <a:noFill/>
          <a:ln>
            <a:noFill/>
          </a:ln>
        </p:spPr>
      </p:pic>
      <p:sp>
        <p:nvSpPr>
          <p:cNvPr id="515" name="Google Shape;515;p19"/>
          <p:cNvSpPr txBox="1"/>
          <p:nvPr/>
        </p:nvSpPr>
        <p:spPr>
          <a:xfrm>
            <a:off x="1691595" y="4873752"/>
            <a:ext cx="46633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Malgun Gothic"/>
              <a:buNone/>
            </a:pPr>
            <a:r>
              <a:rPr i="0" lang="en-US" sz="1800" u="none" cap="none" strike="noStrike">
                <a:solidFill>
                  <a:srgbClr val="1E293B"/>
                </a:solidFill>
                <a:latin typeface="Asta Sans SemiBold"/>
                <a:ea typeface="Asta Sans SemiBold"/>
                <a:cs typeface="Asta Sans SemiBold"/>
                <a:sym typeface="Asta Sans SemiBold"/>
              </a:rPr>
              <a:t>공공데이터 활용</a:t>
            </a:r>
            <a:endParaRPr i="0" sz="1800" u="none" cap="none" strike="noStrike">
              <a:solidFill>
                <a:schemeClr val="dk1"/>
              </a:solidFill>
              <a:latin typeface="Asta Sans SemiBold"/>
              <a:ea typeface="Asta Sans SemiBold"/>
              <a:cs typeface="Asta Sans SemiBold"/>
              <a:sym typeface="Asta Sans SemiBold"/>
            </a:endParaRPr>
          </a:p>
        </p:txBody>
      </p:sp>
      <p:sp>
        <p:nvSpPr>
          <p:cNvPr id="516" name="Google Shape;516;p19"/>
          <p:cNvSpPr txBox="1"/>
          <p:nvPr/>
        </p:nvSpPr>
        <p:spPr>
          <a:xfrm>
            <a:off x="1691595" y="5276088"/>
            <a:ext cx="4663316"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300"/>
              <a:buFont typeface="Malgun Gothic"/>
              <a:buNone/>
            </a:pPr>
            <a:r>
              <a:rPr i="0" lang="en-US" sz="1300" u="none" cap="none" strike="noStrike">
                <a:solidFill>
                  <a:srgbClr val="64748B"/>
                </a:solidFill>
                <a:latin typeface="Noto Sans KR"/>
                <a:ea typeface="Noto Sans KR"/>
                <a:cs typeface="Noto Sans KR"/>
                <a:sym typeface="Noto Sans KR"/>
              </a:rPr>
              <a:t>흩어진 공공체육시설 정보를 매칭과 연결</a:t>
            </a:r>
            <a:endParaRPr i="0" sz="1300" u="none" cap="none" strike="noStrike">
              <a:solidFill>
                <a:schemeClr val="dk1"/>
              </a:solidFill>
              <a:latin typeface="Noto Sans KR"/>
              <a:ea typeface="Noto Sans KR"/>
              <a:cs typeface="Noto Sans KR"/>
              <a:sym typeface="Noto Sans KR"/>
            </a:endParaRPr>
          </a:p>
        </p:txBody>
      </p:sp>
      <p:sp>
        <p:nvSpPr>
          <p:cNvPr id="517" name="Google Shape;517;p19"/>
          <p:cNvSpPr/>
          <p:nvPr/>
        </p:nvSpPr>
        <p:spPr>
          <a:xfrm>
            <a:off x="6949250" y="2057399"/>
            <a:ext cx="4663200" cy="3977700"/>
          </a:xfrm>
          <a:prstGeom prst="roundRect">
            <a:avLst>
              <a:gd fmla="val 2887"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9"/>
          <p:cNvSpPr txBox="1"/>
          <p:nvPr/>
        </p:nvSpPr>
        <p:spPr>
          <a:xfrm>
            <a:off x="7223446" y="2285990"/>
            <a:ext cx="4114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600"/>
              <a:buFont typeface="Malgun Gothic"/>
              <a:buNone/>
            </a:pPr>
            <a:r>
              <a:rPr b="1" i="0" lang="en-US" sz="1700" u="none" cap="none" strike="noStrike">
                <a:solidFill>
                  <a:srgbClr val="64748B"/>
                </a:solidFill>
                <a:latin typeface="Asta Sans"/>
                <a:ea typeface="Asta Sans"/>
                <a:cs typeface="Asta Sans"/>
                <a:sym typeface="Asta Sans"/>
              </a:rPr>
              <a:t>개발 과정에서의 개선점</a:t>
            </a:r>
            <a:endParaRPr b="1" i="0" sz="1700" u="none" cap="none" strike="noStrike">
              <a:solidFill>
                <a:schemeClr val="dk1"/>
              </a:solidFill>
              <a:latin typeface="Asta Sans"/>
              <a:ea typeface="Asta Sans"/>
              <a:cs typeface="Asta Sans"/>
              <a:sym typeface="Asta Sans"/>
            </a:endParaRPr>
          </a:p>
        </p:txBody>
      </p:sp>
      <p:sp>
        <p:nvSpPr>
          <p:cNvPr id="519" name="Google Shape;519;p19"/>
          <p:cNvSpPr txBox="1"/>
          <p:nvPr/>
        </p:nvSpPr>
        <p:spPr>
          <a:xfrm>
            <a:off x="7223446" y="2971810"/>
            <a:ext cx="4114800" cy="3474600"/>
          </a:xfrm>
          <a:prstGeom prst="rect">
            <a:avLst/>
          </a:prstGeom>
          <a:noFill/>
          <a:ln>
            <a:noFill/>
          </a:ln>
        </p:spPr>
        <p:txBody>
          <a:bodyPr anchorCtr="0" anchor="t" bIns="0" lIns="0" spcFirstLastPara="1" rIns="0" wrap="square" tIns="0">
            <a:noAutofit/>
          </a:bodyPr>
          <a:lstStyle/>
          <a:p>
            <a:pPr indent="-346075" lvl="0" marL="342900" marR="0" rtl="0" algn="l">
              <a:spcBef>
                <a:spcPts val="0"/>
              </a:spcBef>
              <a:spcAft>
                <a:spcPts val="0"/>
              </a:spcAft>
              <a:buClr>
                <a:srgbClr val="1E293B"/>
              </a:buClr>
              <a:buSzPts val="1450"/>
              <a:buFont typeface="Noto Sans KR"/>
              <a:buChar char="•"/>
            </a:pPr>
            <a:r>
              <a:rPr i="0" lang="en-US" sz="1450" u="none" cap="none" strike="noStrike">
                <a:solidFill>
                  <a:srgbClr val="1E293B"/>
                </a:solidFill>
                <a:latin typeface="Noto Sans KR"/>
                <a:ea typeface="Noto Sans KR"/>
                <a:cs typeface="Noto Sans KR"/>
                <a:sym typeface="Noto Sans KR"/>
              </a:rPr>
              <a:t>API 응답 형식을 개발 전에 합의</a:t>
            </a:r>
            <a:endParaRPr i="0" sz="1450" u="none" cap="none" strike="noStrike">
              <a:solidFill>
                <a:schemeClr val="dk1"/>
              </a:solidFill>
              <a:latin typeface="Noto Sans KR"/>
              <a:ea typeface="Noto Sans KR"/>
              <a:cs typeface="Noto Sans KR"/>
              <a:sym typeface="Noto Sans KR"/>
            </a:endParaRPr>
          </a:p>
          <a:p>
            <a:pPr indent="-346075" lvl="0" marL="342900" marR="0" rtl="0" algn="l">
              <a:spcBef>
                <a:spcPts val="1200"/>
              </a:spcBef>
              <a:spcAft>
                <a:spcPts val="0"/>
              </a:spcAft>
              <a:buClr>
                <a:srgbClr val="1E293B"/>
              </a:buClr>
              <a:buSzPts val="1450"/>
              <a:buFont typeface="Noto Sans KR"/>
              <a:buChar char="•"/>
            </a:pPr>
            <a:r>
              <a:rPr i="0" lang="en-US" sz="1450" u="none" cap="none" strike="noStrike">
                <a:solidFill>
                  <a:srgbClr val="1E293B"/>
                </a:solidFill>
                <a:latin typeface="Noto Sans KR"/>
                <a:ea typeface="Noto Sans KR"/>
                <a:cs typeface="Noto Sans KR"/>
                <a:sym typeface="Noto Sans KR"/>
              </a:rPr>
              <a:t>PR 자동 빌드 · 테스트(CI) 도입</a:t>
            </a:r>
            <a:endParaRPr i="0" sz="1450" u="none" cap="none" strike="noStrike">
              <a:solidFill>
                <a:schemeClr val="dk1"/>
              </a:solidFill>
              <a:latin typeface="Noto Sans KR"/>
              <a:ea typeface="Noto Sans KR"/>
              <a:cs typeface="Noto Sans KR"/>
              <a:sym typeface="Noto Sans KR"/>
            </a:endParaRPr>
          </a:p>
          <a:p>
            <a:pPr indent="-346075" lvl="0" marL="342900" marR="0" rtl="0" algn="l">
              <a:spcBef>
                <a:spcPts val="1200"/>
              </a:spcBef>
              <a:spcAft>
                <a:spcPts val="0"/>
              </a:spcAft>
              <a:buClr>
                <a:srgbClr val="1E293B"/>
              </a:buClr>
              <a:buSzPts val="1450"/>
              <a:buFont typeface="Noto Sans KR"/>
              <a:buChar char="•"/>
            </a:pPr>
            <a:r>
              <a:rPr i="0" lang="en-US" sz="1450" u="none" cap="none" strike="noStrike">
                <a:solidFill>
                  <a:srgbClr val="1E293B"/>
                </a:solidFill>
                <a:latin typeface="Noto Sans KR"/>
                <a:ea typeface="Noto Sans KR"/>
                <a:cs typeface="Noto Sans KR"/>
                <a:sym typeface="Noto Sans KR"/>
              </a:rPr>
              <a:t>공동 작업 화면은 범위를 이슈에 명시</a:t>
            </a:r>
            <a:endParaRPr i="0" sz="1450" u="none" cap="none" strike="noStrike">
              <a:solidFill>
                <a:schemeClr val="dk1"/>
              </a:solidFill>
              <a:latin typeface="Noto Sans KR"/>
              <a:ea typeface="Noto Sans KR"/>
              <a:cs typeface="Noto Sans KR"/>
              <a:sym typeface="Noto Sans KR"/>
            </a:endParaRPr>
          </a:p>
          <a:p>
            <a:pPr indent="-346075" lvl="0" marL="342900" marR="0" rtl="0" algn="l">
              <a:spcBef>
                <a:spcPts val="1200"/>
              </a:spcBef>
              <a:spcAft>
                <a:spcPts val="0"/>
              </a:spcAft>
              <a:buClr>
                <a:srgbClr val="1E293B"/>
              </a:buClr>
              <a:buSzPts val="1450"/>
              <a:buFont typeface="Noto Sans KR"/>
              <a:buChar char="•"/>
            </a:pPr>
            <a:r>
              <a:rPr i="0" lang="en-US" sz="1450" u="none" cap="none" strike="noStrike">
                <a:solidFill>
                  <a:srgbClr val="1E293B"/>
                </a:solidFill>
                <a:latin typeface="Noto Sans KR"/>
                <a:ea typeface="Noto Sans KR"/>
                <a:cs typeface="Noto Sans KR"/>
                <a:sym typeface="Noto Sans KR"/>
              </a:rPr>
              <a:t>공통 오류 처리 정비 (401 오표시 방지)</a:t>
            </a:r>
            <a:endParaRPr i="0" sz="1450" u="none" cap="none" strike="noStrike">
              <a:solidFill>
                <a:schemeClr val="dk1"/>
              </a:solidFill>
              <a:latin typeface="Noto Sans KR"/>
              <a:ea typeface="Noto Sans KR"/>
              <a:cs typeface="Noto Sans KR"/>
              <a:sym typeface="Noto Sans KR"/>
            </a:endParaRPr>
          </a:p>
        </p:txBody>
      </p:sp>
      <p:sp>
        <p:nvSpPr>
          <p:cNvPr id="520" name="Google Shape;520;p19"/>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05. </a:t>
            </a:r>
            <a:r>
              <a:rPr lang="en-US" sz="1500">
                <a:solidFill>
                  <a:srgbClr val="2563EB"/>
                </a:solidFill>
                <a:latin typeface="Asta Sans Medium"/>
                <a:ea typeface="Asta Sans Medium"/>
                <a:cs typeface="Asta Sans Medium"/>
                <a:sym typeface="Asta Sans Medium"/>
              </a:rPr>
              <a:t>자체 평가</a:t>
            </a:r>
            <a:endParaRPr i="0" sz="1500" u="none" cap="none" strike="noStrike">
              <a:solidFill>
                <a:schemeClr val="dk1"/>
              </a:solidFill>
              <a:latin typeface="Asta Sans Medium"/>
              <a:ea typeface="Asta Sans Medium"/>
              <a:cs typeface="Asta Sans Medium"/>
              <a:sym typeface="Asta Sans Medium"/>
            </a:endParaRPr>
          </a:p>
        </p:txBody>
      </p:sp>
      <p:cxnSp>
        <p:nvCxnSpPr>
          <p:cNvPr id="521" name="Google Shape;521;p19"/>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6" name="Shape 526"/>
        <p:cNvGrpSpPr/>
        <p:nvPr/>
      </p:nvGrpSpPr>
      <p:grpSpPr>
        <a:xfrm>
          <a:off x="0" y="0"/>
          <a:ext cx="0" cy="0"/>
          <a:chOff x="0" y="0"/>
          <a:chExt cx="0" cy="0"/>
        </a:xfrm>
      </p:grpSpPr>
      <p:sp>
        <p:nvSpPr>
          <p:cNvPr id="527" name="Google Shape;527;p20"/>
          <p:cNvSpPr txBox="1"/>
          <p:nvPr/>
        </p:nvSpPr>
        <p:spPr>
          <a:xfrm>
            <a:off x="548625" y="676656"/>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시연 시나리오</a:t>
            </a:r>
            <a:endParaRPr b="1" i="0" sz="2800" u="none" cap="none" strike="noStrike">
              <a:solidFill>
                <a:schemeClr val="dk1"/>
              </a:solidFill>
              <a:latin typeface="Asta Sans"/>
              <a:ea typeface="Asta Sans"/>
              <a:cs typeface="Asta Sans"/>
              <a:sym typeface="Asta Sans"/>
            </a:endParaRPr>
          </a:p>
        </p:txBody>
      </p:sp>
      <p:sp>
        <p:nvSpPr>
          <p:cNvPr id="528" name="Google Shape;528;p20"/>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18</a:t>
            </a:r>
            <a:endParaRPr b="0" i="0" sz="1000" u="none" cap="none" strike="noStrike">
              <a:solidFill>
                <a:schemeClr val="dk1"/>
              </a:solidFill>
              <a:latin typeface="Malgun Gothic"/>
              <a:ea typeface="Malgun Gothic"/>
              <a:cs typeface="Malgun Gothic"/>
              <a:sym typeface="Malgun Gothic"/>
            </a:endParaRPr>
          </a:p>
        </p:txBody>
      </p:sp>
      <p:sp>
        <p:nvSpPr>
          <p:cNvPr id="529" name="Google Shape;529;p20"/>
          <p:cNvSpPr/>
          <p:nvPr/>
        </p:nvSpPr>
        <p:spPr>
          <a:xfrm>
            <a:off x="749808" y="1691640"/>
            <a:ext cx="2331600" cy="2926200"/>
          </a:xfrm>
          <a:prstGeom prst="roundRect">
            <a:avLst>
              <a:gd fmla="val 3137"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904290" y="2036954"/>
            <a:ext cx="493800" cy="493800"/>
          </a:xfrm>
          <a:prstGeom prst="ellipse">
            <a:avLst/>
          </a:prstGeom>
          <a:solidFill>
            <a:srgbClr val="075BE8"/>
          </a:solidFill>
          <a:ln cap="flat" cmpd="sng" w="12700">
            <a:solidFill>
              <a:srgbClr val="075B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1054571" y="2242247"/>
            <a:ext cx="183000" cy="73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algun Gothic"/>
              <a:buNone/>
            </a:pPr>
            <a:r>
              <a:rPr b="1" i="0" lang="en-US" sz="1800" u="none" cap="none" strike="noStrike">
                <a:solidFill>
                  <a:srgbClr val="FFFFFF"/>
                </a:solidFill>
                <a:latin typeface="Malgun Gothic"/>
                <a:ea typeface="Malgun Gothic"/>
                <a:cs typeface="Malgun Gothic"/>
                <a:sym typeface="Malgun Gothic"/>
              </a:rPr>
              <a:t>1</a:t>
            </a:r>
            <a:endParaRPr b="0" i="0" sz="1800" u="none" cap="none" strike="noStrike">
              <a:solidFill>
                <a:schemeClr val="dk1"/>
              </a:solidFill>
              <a:latin typeface="Malgun Gothic"/>
              <a:ea typeface="Malgun Gothic"/>
              <a:cs typeface="Malgun Gothic"/>
              <a:sym typeface="Malgun Gothic"/>
            </a:endParaRPr>
          </a:p>
        </p:txBody>
      </p:sp>
      <p:sp>
        <p:nvSpPr>
          <p:cNvPr id="532" name="Google Shape;532;p20"/>
          <p:cNvSpPr/>
          <p:nvPr/>
        </p:nvSpPr>
        <p:spPr>
          <a:xfrm>
            <a:off x="950976" y="2706624"/>
            <a:ext cx="1874400" cy="2925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0F172A"/>
              </a:buClr>
              <a:buSzPts val="1600"/>
              <a:buFont typeface="Malgun Gothic"/>
              <a:buNone/>
            </a:pPr>
            <a:r>
              <a:rPr b="1" i="0" lang="en-US" sz="1700" u="none" cap="none" strike="noStrike">
                <a:solidFill>
                  <a:srgbClr val="0F172A"/>
                </a:solidFill>
                <a:latin typeface="Asta Sans"/>
                <a:ea typeface="Asta Sans"/>
                <a:cs typeface="Asta Sans"/>
                <a:sym typeface="Asta Sans"/>
              </a:rPr>
              <a:t>시설 검색</a:t>
            </a:r>
            <a:endParaRPr b="1" i="0" sz="1700" u="none" cap="none" strike="noStrike">
              <a:solidFill>
                <a:schemeClr val="dk1"/>
              </a:solidFill>
              <a:latin typeface="Asta Sans"/>
              <a:ea typeface="Asta Sans"/>
              <a:cs typeface="Asta Sans"/>
              <a:sym typeface="Asta Sans"/>
            </a:endParaRPr>
          </a:p>
        </p:txBody>
      </p:sp>
      <p:sp>
        <p:nvSpPr>
          <p:cNvPr id="533" name="Google Shape;533;p20"/>
          <p:cNvSpPr/>
          <p:nvPr/>
        </p:nvSpPr>
        <p:spPr>
          <a:xfrm>
            <a:off x="950976" y="3127248"/>
            <a:ext cx="1783200" cy="5304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1080"/>
              <a:buFont typeface="Malgun Gothic"/>
              <a:buNone/>
            </a:pPr>
            <a:r>
              <a:rPr i="0" lang="en-US" sz="1300" u="none" cap="none" strike="noStrike">
                <a:solidFill>
                  <a:srgbClr val="475569"/>
                </a:solidFill>
                <a:latin typeface="Noto Sans KR"/>
                <a:ea typeface="Noto Sans KR"/>
                <a:cs typeface="Noto Sans KR"/>
                <a:sym typeface="Noto Sans KR"/>
              </a:rPr>
              <a:t>테니스/풋살 등 종목으로 시설을 검색</a:t>
            </a:r>
            <a:endParaRPr i="0" sz="1300" u="none" cap="none" strike="noStrike">
              <a:solidFill>
                <a:schemeClr val="dk1"/>
              </a:solidFill>
              <a:latin typeface="Noto Sans KR"/>
              <a:ea typeface="Noto Sans KR"/>
              <a:cs typeface="Noto Sans KR"/>
              <a:sym typeface="Noto Sans KR"/>
            </a:endParaRPr>
          </a:p>
        </p:txBody>
      </p:sp>
      <p:sp>
        <p:nvSpPr>
          <p:cNvPr id="534" name="Google Shape;534;p20"/>
          <p:cNvSpPr/>
          <p:nvPr/>
        </p:nvSpPr>
        <p:spPr>
          <a:xfrm>
            <a:off x="950976" y="3986784"/>
            <a:ext cx="804600" cy="274200"/>
          </a:xfrm>
          <a:prstGeom prst="roundRect">
            <a:avLst>
              <a:gd fmla="val 16667"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996696" y="4055364"/>
            <a:ext cx="713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5BE8"/>
              </a:buClr>
              <a:buSzPts val="750"/>
              <a:buFont typeface="Malgun Gothic"/>
              <a:buNone/>
            </a:pPr>
            <a:r>
              <a:rPr b="1" i="0" lang="en-US" sz="850" u="none" cap="none" strike="noStrike">
                <a:solidFill>
                  <a:srgbClr val="075BE8"/>
                </a:solidFill>
                <a:latin typeface="Noto Sans KR"/>
                <a:ea typeface="Noto Sans KR"/>
                <a:cs typeface="Noto Sans KR"/>
                <a:sym typeface="Noto Sans KR"/>
              </a:rPr>
              <a:t>FC-01</a:t>
            </a:r>
            <a:endParaRPr i="0" sz="850" u="none" cap="none" strike="noStrike">
              <a:solidFill>
                <a:schemeClr val="dk1"/>
              </a:solidFill>
              <a:latin typeface="Noto Sans KR"/>
              <a:ea typeface="Noto Sans KR"/>
              <a:cs typeface="Noto Sans KR"/>
              <a:sym typeface="Noto Sans KR"/>
            </a:endParaRPr>
          </a:p>
        </p:txBody>
      </p:sp>
      <p:sp>
        <p:nvSpPr>
          <p:cNvPr id="536" name="Google Shape;536;p20"/>
          <p:cNvSpPr/>
          <p:nvPr/>
        </p:nvSpPr>
        <p:spPr>
          <a:xfrm>
            <a:off x="3538728" y="1691640"/>
            <a:ext cx="2331600" cy="2926200"/>
          </a:xfrm>
          <a:prstGeom prst="roundRect">
            <a:avLst>
              <a:gd fmla="val 3137"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3693210" y="2036954"/>
            <a:ext cx="493800" cy="493800"/>
          </a:xfrm>
          <a:prstGeom prst="ellipse">
            <a:avLst/>
          </a:prstGeom>
          <a:solidFill>
            <a:srgbClr val="075BE8"/>
          </a:solidFill>
          <a:ln cap="flat" cmpd="sng" w="12700">
            <a:solidFill>
              <a:srgbClr val="075B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p:nvPr/>
        </p:nvSpPr>
        <p:spPr>
          <a:xfrm>
            <a:off x="3813215" y="2132595"/>
            <a:ext cx="253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algun Gothic"/>
              <a:buNone/>
            </a:pPr>
            <a:r>
              <a:rPr b="1" i="0" lang="en-US" sz="1800" u="none" cap="none" strike="noStrike">
                <a:solidFill>
                  <a:srgbClr val="FFFFFF"/>
                </a:solidFill>
                <a:latin typeface="Malgun Gothic"/>
                <a:ea typeface="Malgun Gothic"/>
                <a:cs typeface="Malgun Gothic"/>
                <a:sym typeface="Malgun Gothic"/>
              </a:rPr>
              <a:t>2</a:t>
            </a:r>
            <a:endParaRPr b="0" i="0" sz="1800" u="none" cap="none" strike="noStrike">
              <a:solidFill>
                <a:schemeClr val="dk1"/>
              </a:solidFill>
              <a:latin typeface="Malgun Gothic"/>
              <a:ea typeface="Malgun Gothic"/>
              <a:cs typeface="Malgun Gothic"/>
              <a:sym typeface="Malgun Gothic"/>
            </a:endParaRPr>
          </a:p>
        </p:txBody>
      </p:sp>
      <p:sp>
        <p:nvSpPr>
          <p:cNvPr id="539" name="Google Shape;539;p20"/>
          <p:cNvSpPr/>
          <p:nvPr/>
        </p:nvSpPr>
        <p:spPr>
          <a:xfrm>
            <a:off x="3739896" y="2706624"/>
            <a:ext cx="1874400" cy="2925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0F172A"/>
              </a:buClr>
              <a:buSzPts val="1600"/>
              <a:buFont typeface="Malgun Gothic"/>
              <a:buNone/>
            </a:pPr>
            <a:r>
              <a:rPr b="1" i="0" lang="en-US" sz="1700" u="none" cap="none" strike="noStrike">
                <a:solidFill>
                  <a:srgbClr val="0F172A"/>
                </a:solidFill>
                <a:latin typeface="Asta Sans"/>
                <a:ea typeface="Asta Sans"/>
                <a:cs typeface="Asta Sans"/>
                <a:sym typeface="Asta Sans"/>
              </a:rPr>
              <a:t>매치 생성</a:t>
            </a:r>
            <a:endParaRPr b="1" i="0" sz="1700" u="none" cap="none" strike="noStrike">
              <a:solidFill>
                <a:schemeClr val="dk1"/>
              </a:solidFill>
              <a:latin typeface="Asta Sans"/>
              <a:ea typeface="Asta Sans"/>
              <a:cs typeface="Asta Sans"/>
              <a:sym typeface="Asta Sans"/>
            </a:endParaRPr>
          </a:p>
        </p:txBody>
      </p:sp>
      <p:sp>
        <p:nvSpPr>
          <p:cNvPr id="540" name="Google Shape;540;p20"/>
          <p:cNvSpPr/>
          <p:nvPr/>
        </p:nvSpPr>
        <p:spPr>
          <a:xfrm>
            <a:off x="3739896" y="3127248"/>
            <a:ext cx="1783200" cy="5304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1080"/>
              <a:buFont typeface="Malgun Gothic"/>
              <a:buNone/>
            </a:pPr>
            <a:r>
              <a:rPr i="0" lang="en-US" sz="1300" u="none" cap="none" strike="noStrike">
                <a:solidFill>
                  <a:srgbClr val="475569"/>
                </a:solidFill>
                <a:latin typeface="Noto Sans KR"/>
                <a:ea typeface="Noto Sans KR"/>
                <a:cs typeface="Noto Sans KR"/>
                <a:sym typeface="Noto Sans KR"/>
              </a:rPr>
              <a:t>시설 정보에서 매치 생성 화면으로 이동</a:t>
            </a:r>
            <a:endParaRPr i="0" sz="1300" u="none" cap="none" strike="noStrike">
              <a:solidFill>
                <a:schemeClr val="dk1"/>
              </a:solidFill>
              <a:latin typeface="Noto Sans KR"/>
              <a:ea typeface="Noto Sans KR"/>
              <a:cs typeface="Noto Sans KR"/>
              <a:sym typeface="Noto Sans KR"/>
            </a:endParaRPr>
          </a:p>
        </p:txBody>
      </p:sp>
      <p:sp>
        <p:nvSpPr>
          <p:cNvPr id="541" name="Google Shape;541;p20"/>
          <p:cNvSpPr/>
          <p:nvPr/>
        </p:nvSpPr>
        <p:spPr>
          <a:xfrm>
            <a:off x="3739896" y="3986784"/>
            <a:ext cx="804600" cy="274200"/>
          </a:xfrm>
          <a:prstGeom prst="roundRect">
            <a:avLst>
              <a:gd fmla="val 16667"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3785616" y="4055364"/>
            <a:ext cx="713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5BE8"/>
              </a:buClr>
              <a:buSzPts val="750"/>
              <a:buFont typeface="Malgun Gothic"/>
              <a:buNone/>
            </a:pPr>
            <a:r>
              <a:rPr b="1" i="0" lang="en-US" sz="850" u="none" cap="none" strike="noStrike">
                <a:solidFill>
                  <a:srgbClr val="075BE8"/>
                </a:solidFill>
                <a:latin typeface="Noto Sans KR"/>
                <a:ea typeface="Noto Sans KR"/>
                <a:cs typeface="Noto Sans KR"/>
                <a:sym typeface="Noto Sans KR"/>
              </a:rPr>
              <a:t>EM-01</a:t>
            </a:r>
            <a:endParaRPr i="0" sz="850" u="none" cap="none" strike="noStrike">
              <a:solidFill>
                <a:schemeClr val="dk1"/>
              </a:solidFill>
              <a:latin typeface="Noto Sans KR"/>
              <a:ea typeface="Noto Sans KR"/>
              <a:cs typeface="Noto Sans KR"/>
              <a:sym typeface="Noto Sans KR"/>
            </a:endParaRPr>
          </a:p>
        </p:txBody>
      </p:sp>
      <p:sp>
        <p:nvSpPr>
          <p:cNvPr id="543" name="Google Shape;543;p20"/>
          <p:cNvSpPr/>
          <p:nvPr/>
        </p:nvSpPr>
        <p:spPr>
          <a:xfrm>
            <a:off x="6327648" y="1691640"/>
            <a:ext cx="2331600" cy="2926200"/>
          </a:xfrm>
          <a:prstGeom prst="roundRect">
            <a:avLst>
              <a:gd fmla="val 3137"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6482130" y="2036954"/>
            <a:ext cx="493800" cy="493800"/>
          </a:xfrm>
          <a:prstGeom prst="ellipse">
            <a:avLst/>
          </a:prstGeom>
          <a:solidFill>
            <a:srgbClr val="075BE8"/>
          </a:solidFill>
          <a:ln cap="flat" cmpd="sng" w="12700">
            <a:solidFill>
              <a:srgbClr val="075B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6609130" y="2129441"/>
            <a:ext cx="253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algun Gothic"/>
              <a:buNone/>
            </a:pPr>
            <a:r>
              <a:rPr b="1" i="0" lang="en-US" sz="1800" u="none" cap="none" strike="noStrike">
                <a:solidFill>
                  <a:srgbClr val="FFFFFF"/>
                </a:solidFill>
                <a:latin typeface="Malgun Gothic"/>
                <a:ea typeface="Malgun Gothic"/>
                <a:cs typeface="Malgun Gothic"/>
                <a:sym typeface="Malgun Gothic"/>
              </a:rPr>
              <a:t>3</a:t>
            </a:r>
            <a:endParaRPr b="0" i="0" sz="1800" u="none" cap="none" strike="noStrike">
              <a:solidFill>
                <a:schemeClr val="dk1"/>
              </a:solidFill>
              <a:latin typeface="Malgun Gothic"/>
              <a:ea typeface="Malgun Gothic"/>
              <a:cs typeface="Malgun Gothic"/>
              <a:sym typeface="Malgun Gothic"/>
            </a:endParaRPr>
          </a:p>
        </p:txBody>
      </p:sp>
      <p:sp>
        <p:nvSpPr>
          <p:cNvPr id="546" name="Google Shape;546;p20"/>
          <p:cNvSpPr/>
          <p:nvPr/>
        </p:nvSpPr>
        <p:spPr>
          <a:xfrm>
            <a:off x="6528816" y="2706624"/>
            <a:ext cx="1874400" cy="2925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0F172A"/>
              </a:buClr>
              <a:buSzPts val="1600"/>
              <a:buFont typeface="Malgun Gothic"/>
              <a:buNone/>
            </a:pPr>
            <a:r>
              <a:rPr b="1" i="0" lang="en-US" sz="1700" u="none" cap="none" strike="noStrike">
                <a:solidFill>
                  <a:srgbClr val="0F172A"/>
                </a:solidFill>
                <a:latin typeface="Asta Sans"/>
                <a:ea typeface="Asta Sans"/>
                <a:cs typeface="Asta Sans"/>
                <a:sym typeface="Asta Sans"/>
              </a:rPr>
              <a:t>목록 확인</a:t>
            </a:r>
            <a:endParaRPr b="1" i="0" sz="1700" u="none" cap="none" strike="noStrike">
              <a:solidFill>
                <a:schemeClr val="dk1"/>
              </a:solidFill>
              <a:latin typeface="Asta Sans"/>
              <a:ea typeface="Asta Sans"/>
              <a:cs typeface="Asta Sans"/>
              <a:sym typeface="Asta Sans"/>
            </a:endParaRPr>
          </a:p>
        </p:txBody>
      </p:sp>
      <p:sp>
        <p:nvSpPr>
          <p:cNvPr id="547" name="Google Shape;547;p20"/>
          <p:cNvSpPr/>
          <p:nvPr/>
        </p:nvSpPr>
        <p:spPr>
          <a:xfrm>
            <a:off x="6528816" y="3127248"/>
            <a:ext cx="1783200" cy="5304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1080"/>
              <a:buFont typeface="Malgun Gothic"/>
              <a:buNone/>
            </a:pPr>
            <a:r>
              <a:rPr i="0" lang="en-US" sz="1300" u="none" cap="none" strike="noStrike">
                <a:solidFill>
                  <a:srgbClr val="475569"/>
                </a:solidFill>
                <a:latin typeface="Noto Sans KR"/>
                <a:ea typeface="Noto Sans KR"/>
                <a:cs typeface="Noto Sans KR"/>
                <a:sym typeface="Noto Sans KR"/>
              </a:rPr>
              <a:t>생성된 매치가 목록과 상세 화면에 반영</a:t>
            </a:r>
            <a:endParaRPr i="0" sz="1300" u="none" cap="none" strike="noStrike">
              <a:solidFill>
                <a:schemeClr val="dk1"/>
              </a:solidFill>
              <a:latin typeface="Noto Sans KR"/>
              <a:ea typeface="Noto Sans KR"/>
              <a:cs typeface="Noto Sans KR"/>
              <a:sym typeface="Noto Sans KR"/>
            </a:endParaRPr>
          </a:p>
        </p:txBody>
      </p:sp>
      <p:sp>
        <p:nvSpPr>
          <p:cNvPr id="548" name="Google Shape;548;p20"/>
          <p:cNvSpPr/>
          <p:nvPr/>
        </p:nvSpPr>
        <p:spPr>
          <a:xfrm>
            <a:off x="6528816" y="3986784"/>
            <a:ext cx="804600" cy="274200"/>
          </a:xfrm>
          <a:prstGeom prst="roundRect">
            <a:avLst>
              <a:gd fmla="val 16667"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6574536" y="4055364"/>
            <a:ext cx="713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75BE8"/>
              </a:buClr>
              <a:buSzPts val="750"/>
              <a:buFont typeface="Malgun Gothic"/>
              <a:buNone/>
            </a:pPr>
            <a:r>
              <a:rPr b="1" i="0" lang="en-US" sz="850" u="none" cap="none" strike="noStrike">
                <a:solidFill>
                  <a:srgbClr val="075BE8"/>
                </a:solidFill>
                <a:latin typeface="Noto Sans KR"/>
                <a:ea typeface="Noto Sans KR"/>
                <a:cs typeface="Noto Sans KR"/>
                <a:sym typeface="Noto Sans KR"/>
              </a:rPr>
              <a:t>EM-02/03</a:t>
            </a:r>
            <a:endParaRPr i="0" sz="850" u="none" cap="none" strike="noStrike">
              <a:solidFill>
                <a:schemeClr val="dk1"/>
              </a:solidFill>
              <a:latin typeface="Noto Sans KR"/>
              <a:ea typeface="Noto Sans KR"/>
              <a:cs typeface="Noto Sans KR"/>
              <a:sym typeface="Noto Sans KR"/>
            </a:endParaRPr>
          </a:p>
        </p:txBody>
      </p:sp>
      <p:sp>
        <p:nvSpPr>
          <p:cNvPr id="550" name="Google Shape;550;p20"/>
          <p:cNvSpPr/>
          <p:nvPr/>
        </p:nvSpPr>
        <p:spPr>
          <a:xfrm>
            <a:off x="9116568" y="1691640"/>
            <a:ext cx="2331600" cy="2926200"/>
          </a:xfrm>
          <a:prstGeom prst="roundRect">
            <a:avLst>
              <a:gd fmla="val 3137"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0"/>
          <p:cNvSpPr/>
          <p:nvPr/>
        </p:nvSpPr>
        <p:spPr>
          <a:xfrm>
            <a:off x="9271050" y="2036954"/>
            <a:ext cx="493800" cy="493800"/>
          </a:xfrm>
          <a:prstGeom prst="ellipse">
            <a:avLst/>
          </a:prstGeom>
          <a:solidFill>
            <a:srgbClr val="8B86EE"/>
          </a:solidFill>
          <a:ln cap="flat" cmpd="sng" w="12700">
            <a:solidFill>
              <a:srgbClr val="8B8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9391025" y="2172037"/>
            <a:ext cx="253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algun Gothic"/>
              <a:buNone/>
            </a:pPr>
            <a:r>
              <a:rPr b="1" i="0" lang="en-US" sz="1800" u="none" cap="none" strike="noStrike">
                <a:solidFill>
                  <a:srgbClr val="FFFFFF"/>
                </a:solidFill>
                <a:latin typeface="Malgun Gothic"/>
                <a:ea typeface="Malgun Gothic"/>
                <a:cs typeface="Malgun Gothic"/>
                <a:sym typeface="Malgun Gothic"/>
              </a:rPr>
              <a:t>4</a:t>
            </a:r>
            <a:endParaRPr b="0" i="0" sz="1800" u="none" cap="none" strike="noStrike">
              <a:solidFill>
                <a:schemeClr val="dk1"/>
              </a:solidFill>
              <a:latin typeface="Malgun Gothic"/>
              <a:ea typeface="Malgun Gothic"/>
              <a:cs typeface="Malgun Gothic"/>
              <a:sym typeface="Malgun Gothic"/>
            </a:endParaRPr>
          </a:p>
        </p:txBody>
      </p:sp>
      <p:sp>
        <p:nvSpPr>
          <p:cNvPr id="553" name="Google Shape;553;p20"/>
          <p:cNvSpPr/>
          <p:nvPr/>
        </p:nvSpPr>
        <p:spPr>
          <a:xfrm>
            <a:off x="9317736" y="2706624"/>
            <a:ext cx="1874400" cy="2925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0F172A"/>
              </a:buClr>
              <a:buSzPts val="1600"/>
              <a:buFont typeface="Malgun Gothic"/>
              <a:buNone/>
            </a:pPr>
            <a:r>
              <a:rPr b="1" i="0" lang="en-US" sz="1700" u="none" cap="none" strike="noStrike">
                <a:solidFill>
                  <a:srgbClr val="0F172A"/>
                </a:solidFill>
                <a:latin typeface="Asta Sans"/>
                <a:ea typeface="Asta Sans"/>
                <a:cs typeface="Asta Sans"/>
                <a:sym typeface="Asta Sans"/>
              </a:rPr>
              <a:t>AI 검색</a:t>
            </a:r>
            <a:endParaRPr b="1" i="0" sz="1700" u="none" cap="none" strike="noStrike">
              <a:solidFill>
                <a:schemeClr val="dk1"/>
              </a:solidFill>
              <a:latin typeface="Asta Sans"/>
              <a:ea typeface="Asta Sans"/>
              <a:cs typeface="Asta Sans"/>
              <a:sym typeface="Asta Sans"/>
            </a:endParaRPr>
          </a:p>
        </p:txBody>
      </p:sp>
      <p:sp>
        <p:nvSpPr>
          <p:cNvPr id="554" name="Google Shape;554;p20"/>
          <p:cNvSpPr/>
          <p:nvPr/>
        </p:nvSpPr>
        <p:spPr>
          <a:xfrm>
            <a:off x="9317736" y="3127248"/>
            <a:ext cx="1783200" cy="53040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475569"/>
              </a:buClr>
              <a:buSzPts val="1080"/>
              <a:buFont typeface="Malgun Gothic"/>
              <a:buNone/>
            </a:pPr>
            <a:r>
              <a:rPr i="0" lang="en-US" sz="1300" u="none" cap="none" strike="noStrike">
                <a:solidFill>
                  <a:srgbClr val="475569"/>
                </a:solidFill>
                <a:latin typeface="Noto Sans KR"/>
                <a:ea typeface="Noto Sans KR"/>
                <a:cs typeface="Noto Sans KR"/>
                <a:sym typeface="Noto Sans KR"/>
              </a:rPr>
              <a:t>자연어 조건으로 맞는 매치 검색</a:t>
            </a:r>
            <a:endParaRPr i="0" sz="1300" u="none" cap="none" strike="noStrike">
              <a:solidFill>
                <a:schemeClr val="dk1"/>
              </a:solidFill>
              <a:latin typeface="Noto Sans KR"/>
              <a:ea typeface="Noto Sans KR"/>
              <a:cs typeface="Noto Sans KR"/>
              <a:sym typeface="Noto Sans KR"/>
            </a:endParaRPr>
          </a:p>
        </p:txBody>
      </p:sp>
      <p:sp>
        <p:nvSpPr>
          <p:cNvPr id="555" name="Google Shape;555;p20"/>
          <p:cNvSpPr/>
          <p:nvPr/>
        </p:nvSpPr>
        <p:spPr>
          <a:xfrm>
            <a:off x="9317736" y="3986784"/>
            <a:ext cx="804600" cy="274200"/>
          </a:xfrm>
          <a:prstGeom prst="roundRect">
            <a:avLst>
              <a:gd fmla="val 16667" name="adj"/>
            </a:avLst>
          </a:prstGeom>
          <a:solidFill>
            <a:srgbClr val="EEEAFE"/>
          </a:solidFill>
          <a:ln cap="flat" cmpd="sng" w="12700">
            <a:solidFill>
              <a:srgbClr val="EEEA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9363456" y="4055364"/>
            <a:ext cx="713100" cy="10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86EE"/>
              </a:buClr>
              <a:buSzPts val="750"/>
              <a:buFont typeface="Malgun Gothic"/>
              <a:buNone/>
            </a:pPr>
            <a:r>
              <a:rPr b="1" i="0" lang="en-US" sz="850" u="none" cap="none" strike="noStrike">
                <a:solidFill>
                  <a:srgbClr val="8B86EE"/>
                </a:solidFill>
                <a:latin typeface="Noto Sans KR"/>
                <a:ea typeface="Noto Sans KR"/>
                <a:cs typeface="Noto Sans KR"/>
                <a:sym typeface="Noto Sans KR"/>
              </a:rPr>
              <a:t>AI-02</a:t>
            </a:r>
            <a:endParaRPr i="0" sz="850" u="none" cap="none" strike="noStrike">
              <a:solidFill>
                <a:schemeClr val="dk1"/>
              </a:solidFill>
              <a:latin typeface="Noto Sans KR"/>
              <a:ea typeface="Noto Sans KR"/>
              <a:cs typeface="Noto Sans KR"/>
              <a:sym typeface="Noto Sans KR"/>
            </a:endParaRPr>
          </a:p>
        </p:txBody>
      </p:sp>
      <p:sp>
        <p:nvSpPr>
          <p:cNvPr id="557" name="Google Shape;557;p20"/>
          <p:cNvSpPr/>
          <p:nvPr/>
        </p:nvSpPr>
        <p:spPr>
          <a:xfrm>
            <a:off x="2107537" y="5102540"/>
            <a:ext cx="2825400" cy="813900"/>
          </a:xfrm>
          <a:prstGeom prst="roundRect">
            <a:avLst>
              <a:gd fmla="val 8989"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crop_demo_facility.png" id="558" name="Google Shape;558;p20"/>
          <p:cNvPicPr preferRelativeResize="0"/>
          <p:nvPr/>
        </p:nvPicPr>
        <p:blipFill rotWithShape="1">
          <a:blip r:embed="rId3">
            <a:alphaModFix/>
          </a:blip>
          <a:srcRect b="0" l="0" r="0" t="0"/>
          <a:stretch/>
        </p:blipFill>
        <p:spPr>
          <a:xfrm>
            <a:off x="1089498" y="4992662"/>
            <a:ext cx="3248793" cy="905401"/>
          </a:xfrm>
          <a:prstGeom prst="rect">
            <a:avLst/>
          </a:prstGeom>
          <a:noFill/>
          <a:ln>
            <a:noFill/>
          </a:ln>
        </p:spPr>
      </p:pic>
      <p:sp>
        <p:nvSpPr>
          <p:cNvPr id="559" name="Google Shape;559;p20"/>
          <p:cNvSpPr/>
          <p:nvPr/>
        </p:nvSpPr>
        <p:spPr>
          <a:xfrm>
            <a:off x="5015329" y="5102540"/>
            <a:ext cx="2825400" cy="813900"/>
          </a:xfrm>
          <a:prstGeom prst="roundRect">
            <a:avLst>
              <a:gd fmla="val 8989"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crop_demo_home.png" id="560" name="Google Shape;560;p20"/>
          <p:cNvPicPr preferRelativeResize="0"/>
          <p:nvPr/>
        </p:nvPicPr>
        <p:blipFill rotWithShape="1">
          <a:blip r:embed="rId4">
            <a:alphaModFix/>
          </a:blip>
          <a:srcRect b="0" l="0" r="0" t="0"/>
          <a:stretch/>
        </p:blipFill>
        <p:spPr>
          <a:xfrm>
            <a:off x="4476765" y="4992662"/>
            <a:ext cx="3248794" cy="905402"/>
          </a:xfrm>
          <a:prstGeom prst="rect">
            <a:avLst/>
          </a:prstGeom>
          <a:noFill/>
          <a:ln>
            <a:noFill/>
          </a:ln>
        </p:spPr>
      </p:pic>
      <p:sp>
        <p:nvSpPr>
          <p:cNvPr id="561" name="Google Shape;561;p20"/>
          <p:cNvSpPr/>
          <p:nvPr/>
        </p:nvSpPr>
        <p:spPr>
          <a:xfrm>
            <a:off x="7913977" y="5102540"/>
            <a:ext cx="2825400" cy="813900"/>
          </a:xfrm>
          <a:prstGeom prst="roundRect">
            <a:avLst>
              <a:gd fmla="val 8989" name="adj"/>
            </a:avLst>
          </a:prstGeom>
          <a:solidFill>
            <a:srgbClr val="FFFFFF"/>
          </a:solidFill>
          <a:ln cap="flat" cmpd="sng" w="12700">
            <a:solidFill>
              <a:srgbClr val="D9E3F7"/>
            </a:solidFill>
            <a:prstDash val="solid"/>
            <a:round/>
            <a:headEnd len="sm" w="sm" type="none"/>
            <a:tailEnd len="sm" w="sm" type="none"/>
          </a:ln>
          <a:effectLst>
            <a:outerShdw blurRad="12700" rotWithShape="0" algn="bl" dir="2700000" dist="50800">
              <a:srgbClr val="D7E2F4">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crop_demo_ai.png" id="562" name="Google Shape;562;p20"/>
          <p:cNvPicPr preferRelativeResize="0"/>
          <p:nvPr/>
        </p:nvPicPr>
        <p:blipFill rotWithShape="1">
          <a:blip r:embed="rId5">
            <a:alphaModFix/>
          </a:blip>
          <a:srcRect b="0" l="0" r="0" t="0"/>
          <a:stretch/>
        </p:blipFill>
        <p:spPr>
          <a:xfrm>
            <a:off x="7853380" y="4992662"/>
            <a:ext cx="3248793" cy="905401"/>
          </a:xfrm>
          <a:prstGeom prst="rect">
            <a:avLst/>
          </a:prstGeom>
          <a:noFill/>
          <a:ln>
            <a:noFill/>
          </a:ln>
        </p:spPr>
      </p:pic>
      <p:sp>
        <p:nvSpPr>
          <p:cNvPr id="563" name="Google Shape;563;p20"/>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05. </a:t>
            </a:r>
            <a:r>
              <a:rPr lang="en-US" sz="1500">
                <a:solidFill>
                  <a:srgbClr val="2563EB"/>
                </a:solidFill>
                <a:latin typeface="Asta Sans Medium"/>
                <a:ea typeface="Asta Sans Medium"/>
                <a:cs typeface="Asta Sans Medium"/>
                <a:sym typeface="Asta Sans Medium"/>
              </a:rPr>
              <a:t>시연 영상</a:t>
            </a:r>
            <a:endParaRPr i="0" sz="1500" u="none" cap="none" strike="noStrike">
              <a:solidFill>
                <a:schemeClr val="dk1"/>
              </a:solidFill>
              <a:latin typeface="Asta Sans Medium"/>
              <a:ea typeface="Asta Sans Medium"/>
              <a:cs typeface="Asta Sans Medium"/>
              <a:sym typeface="Asta Sans Medium"/>
            </a:endParaRPr>
          </a:p>
        </p:txBody>
      </p:sp>
      <p:cxnSp>
        <p:nvCxnSpPr>
          <p:cNvPr id="564" name="Google Shape;564;p20"/>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69" name="Shape 569"/>
        <p:cNvGrpSpPr/>
        <p:nvPr/>
      </p:nvGrpSpPr>
      <p:grpSpPr>
        <a:xfrm>
          <a:off x="0" y="0"/>
          <a:ext cx="0" cy="0"/>
          <a:chOff x="0" y="0"/>
          <a:chExt cx="0" cy="0"/>
        </a:xfrm>
      </p:grpSpPr>
      <p:sp>
        <p:nvSpPr>
          <p:cNvPr id="570" name="Google Shape;570;p21"/>
          <p:cNvSpPr txBox="1"/>
          <p:nvPr/>
        </p:nvSpPr>
        <p:spPr>
          <a:xfrm>
            <a:off x="548625" y="676656"/>
            <a:ext cx="11064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Malgun Gothic"/>
              <a:buNone/>
            </a:pPr>
            <a:r>
              <a:rPr b="1" lang="en-US" sz="2800">
                <a:solidFill>
                  <a:srgbClr val="1E293B"/>
                </a:solidFill>
                <a:latin typeface="Asta Sans"/>
                <a:ea typeface="Asta Sans"/>
                <a:cs typeface="Asta Sans"/>
                <a:sym typeface="Asta Sans"/>
              </a:rPr>
              <a:t>시연 영상</a:t>
            </a:r>
            <a:endParaRPr b="1" i="0" sz="2800" u="none" cap="none" strike="noStrike">
              <a:solidFill>
                <a:schemeClr val="dk1"/>
              </a:solidFill>
              <a:latin typeface="Asta Sans"/>
              <a:ea typeface="Asta Sans"/>
              <a:cs typeface="Asta Sans"/>
              <a:sym typeface="Asta Sans"/>
            </a:endParaRPr>
          </a:p>
        </p:txBody>
      </p:sp>
      <p:sp>
        <p:nvSpPr>
          <p:cNvPr id="571" name="Google Shape;571;p21"/>
          <p:cNvSpPr txBox="1"/>
          <p:nvPr/>
        </p:nvSpPr>
        <p:spPr>
          <a:xfrm>
            <a:off x="11155383" y="6400800"/>
            <a:ext cx="5487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00"/>
              <a:buFont typeface="Malgun Gothic"/>
              <a:buNone/>
            </a:pPr>
            <a:r>
              <a:rPr b="0" i="0" lang="en-US" sz="1000" u="none" cap="none" strike="noStrike">
                <a:solidFill>
                  <a:srgbClr val="94A3B8"/>
                </a:solidFill>
                <a:latin typeface="Malgun Gothic"/>
                <a:ea typeface="Malgun Gothic"/>
                <a:cs typeface="Malgun Gothic"/>
                <a:sym typeface="Malgun Gothic"/>
              </a:rPr>
              <a:t>1</a:t>
            </a:r>
            <a:r>
              <a:rPr lang="en-US" sz="1000">
                <a:solidFill>
                  <a:srgbClr val="94A3B8"/>
                </a:solidFill>
                <a:latin typeface="Malgun Gothic"/>
                <a:ea typeface="Malgun Gothic"/>
                <a:cs typeface="Malgun Gothic"/>
                <a:sym typeface="Malgun Gothic"/>
              </a:rPr>
              <a:t>9</a:t>
            </a:r>
            <a:endParaRPr b="0" i="0" sz="1000" u="none" cap="none" strike="noStrike">
              <a:solidFill>
                <a:schemeClr val="dk1"/>
              </a:solidFill>
              <a:latin typeface="Malgun Gothic"/>
              <a:ea typeface="Malgun Gothic"/>
              <a:cs typeface="Malgun Gothic"/>
              <a:sym typeface="Malgun Gothic"/>
            </a:endParaRPr>
          </a:p>
        </p:txBody>
      </p:sp>
      <p:sp>
        <p:nvSpPr>
          <p:cNvPr id="572" name="Google Shape;572;p21"/>
          <p:cNvSpPr txBox="1"/>
          <p:nvPr/>
        </p:nvSpPr>
        <p:spPr>
          <a:xfrm>
            <a:off x="411475" y="365773"/>
            <a:ext cx="7314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Malgun Gothic"/>
              <a:buNone/>
            </a:pPr>
            <a:r>
              <a:rPr lang="en-US" sz="1500">
                <a:solidFill>
                  <a:srgbClr val="2563EB"/>
                </a:solidFill>
                <a:latin typeface="Asta Sans Medium"/>
                <a:ea typeface="Asta Sans Medium"/>
                <a:cs typeface="Asta Sans Medium"/>
                <a:sym typeface="Asta Sans Medium"/>
              </a:rPr>
              <a:t>05. 시연 영상</a:t>
            </a:r>
            <a:endParaRPr i="0" sz="1500" u="none" cap="none" strike="noStrike">
              <a:solidFill>
                <a:schemeClr val="dk1"/>
              </a:solidFill>
              <a:latin typeface="Asta Sans Medium"/>
              <a:ea typeface="Asta Sans Medium"/>
              <a:cs typeface="Asta Sans Medium"/>
              <a:sym typeface="Asta Sans Medium"/>
            </a:endParaRPr>
          </a:p>
        </p:txBody>
      </p:sp>
      <p:cxnSp>
        <p:nvCxnSpPr>
          <p:cNvPr id="573" name="Google Shape;573;p21"/>
          <p:cNvCxnSpPr/>
          <p:nvPr/>
        </p:nvCxnSpPr>
        <p:spPr>
          <a:xfrm>
            <a:off x="411480" y="658368"/>
            <a:ext cx="11366100" cy="0"/>
          </a:xfrm>
          <a:prstGeom prst="straightConnector1">
            <a:avLst/>
          </a:prstGeom>
          <a:noFill/>
          <a:ln cap="flat" cmpd="sng" w="12700">
            <a:solidFill>
              <a:srgbClr val="E6ECF8"/>
            </a:solidFill>
            <a:prstDash val="solid"/>
            <a:round/>
            <a:headEnd len="sm" w="sm" type="none"/>
            <a:tailEnd len="sm" w="sm" type="none"/>
          </a:ln>
        </p:spPr>
      </p:cxnSp>
      <p:pic>
        <p:nvPicPr>
          <p:cNvPr id="574" name="Google Shape;574;p21" title="Sporty_시연.mp4">
            <a:hlinkClick r:id="rId3"/>
          </p:cNvPr>
          <p:cNvPicPr preferRelativeResize="0"/>
          <p:nvPr/>
        </p:nvPicPr>
        <p:blipFill>
          <a:blip r:embed="rId4">
            <a:alphaModFix/>
          </a:blip>
          <a:stretch>
            <a:fillRect/>
          </a:stretch>
        </p:blipFill>
        <p:spPr>
          <a:xfrm>
            <a:off x="548625" y="1335125"/>
            <a:ext cx="9005650" cy="506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79" name="Shape 579"/>
        <p:cNvGrpSpPr/>
        <p:nvPr/>
      </p:nvGrpSpPr>
      <p:grpSpPr>
        <a:xfrm>
          <a:off x="0" y="0"/>
          <a:ext cx="0" cy="0"/>
          <a:chOff x="0" y="0"/>
          <a:chExt cx="0" cy="0"/>
        </a:xfrm>
      </p:grpSpPr>
      <p:sp>
        <p:nvSpPr>
          <p:cNvPr id="580" name="Google Shape;580;p22"/>
          <p:cNvSpPr txBox="1"/>
          <p:nvPr/>
        </p:nvSpPr>
        <p:spPr>
          <a:xfrm>
            <a:off x="731500" y="2103120"/>
            <a:ext cx="10698195"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Malgun Gothic"/>
              <a:buNone/>
            </a:pPr>
            <a:r>
              <a:rPr b="1" i="0" lang="en-US" sz="5400" u="none" cap="none" strike="noStrike">
                <a:solidFill>
                  <a:srgbClr val="FFFFFF"/>
                </a:solidFill>
                <a:latin typeface="Malgun Gothic"/>
                <a:ea typeface="Malgun Gothic"/>
                <a:cs typeface="Malgun Gothic"/>
                <a:sym typeface="Malgun Gothic"/>
              </a:rPr>
              <a:t>감사합니다</a:t>
            </a:r>
            <a:endParaRPr b="0" i="0" sz="5400" u="none" cap="none" strike="noStrike">
              <a:solidFill>
                <a:schemeClr val="dk1"/>
              </a:solidFill>
              <a:latin typeface="Malgun Gothic"/>
              <a:ea typeface="Malgun Gothic"/>
              <a:cs typeface="Malgun Gothic"/>
              <a:sym typeface="Malgun Gothic"/>
            </a:endParaRPr>
          </a:p>
        </p:txBody>
      </p:sp>
      <p:sp>
        <p:nvSpPr>
          <p:cNvPr id="581" name="Google Shape;581;p22"/>
          <p:cNvSpPr txBox="1"/>
          <p:nvPr/>
        </p:nvSpPr>
        <p:spPr>
          <a:xfrm>
            <a:off x="731500" y="3291840"/>
            <a:ext cx="10698195"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FDBFE"/>
              </a:buClr>
              <a:buSzPts val="2000"/>
              <a:buFont typeface="Malgun Gothic"/>
              <a:buNone/>
            </a:pPr>
            <a:r>
              <a:rPr i="0" lang="en-US" sz="2000" u="none" cap="none" strike="noStrike">
                <a:solidFill>
                  <a:srgbClr val="BFDBFE"/>
                </a:solidFill>
                <a:latin typeface="Asta Sans SemiBold"/>
                <a:ea typeface="Asta Sans SemiBold"/>
                <a:cs typeface="Asta Sans SemiBold"/>
                <a:sym typeface="Asta Sans SemiBold"/>
              </a:rPr>
              <a:t>Sporty · AI 기반 생활체육 매칭 플랫폼</a:t>
            </a:r>
            <a:endParaRPr i="0" sz="2000" u="none" cap="none" strike="noStrike">
              <a:solidFill>
                <a:schemeClr val="dk1"/>
              </a:solidFill>
              <a:latin typeface="Asta Sans SemiBold"/>
              <a:ea typeface="Asta Sans SemiBold"/>
              <a:cs typeface="Asta Sans SemiBold"/>
              <a:sym typeface="Asta Sans SemiBold"/>
            </a:endParaRPr>
          </a:p>
        </p:txBody>
      </p:sp>
      <p:sp>
        <p:nvSpPr>
          <p:cNvPr id="582" name="Google Shape;582;p22"/>
          <p:cNvSpPr/>
          <p:nvPr/>
        </p:nvSpPr>
        <p:spPr>
          <a:xfrm>
            <a:off x="5184510" y="4160520"/>
            <a:ext cx="1828751" cy="50292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2"/>
          <p:cNvSpPr txBox="1"/>
          <p:nvPr/>
        </p:nvSpPr>
        <p:spPr>
          <a:xfrm>
            <a:off x="5184510" y="4160520"/>
            <a:ext cx="1828751"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Malgun Gothic"/>
              <a:buNone/>
            </a:pPr>
            <a:r>
              <a:rPr b="1" i="0" lang="en-US" sz="1800" u="none" cap="none" strike="noStrike">
                <a:solidFill>
                  <a:srgbClr val="FFFFFF"/>
                </a:solidFill>
                <a:latin typeface="Asta Sans"/>
                <a:ea typeface="Asta Sans"/>
                <a:cs typeface="Asta Sans"/>
                <a:sym typeface="Asta Sans"/>
              </a:rPr>
              <a:t>Q &amp; A</a:t>
            </a:r>
            <a:endParaRPr b="1" i="0" sz="1800" u="none" cap="none" strike="noStrike">
              <a:solidFill>
                <a:schemeClr val="dk1"/>
              </a:solidFill>
              <a:latin typeface="Asta Sans"/>
              <a:ea typeface="Asta Sans"/>
              <a:cs typeface="Asta Sans"/>
              <a:sym typeface="Ast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